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ags/tag2.xml" ContentType="application/vnd.openxmlformats-officedocument.presentationml.tags+xml"/>
  <Override PartName="/ppt/slideLayouts/slideLayout4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70" r:id="rId2"/>
    <p:sldMasterId id="2147483772" r:id="rId3"/>
  </p:sldMasterIdLst>
  <p:notesMasterIdLst>
    <p:notesMasterId r:id="rId28"/>
  </p:notesMasterIdLst>
  <p:handoutMasterIdLst>
    <p:handoutMasterId r:id="rId29"/>
  </p:handoutMasterIdLst>
  <p:sldIdLst>
    <p:sldId id="341" r:id="rId4"/>
    <p:sldId id="468" r:id="rId5"/>
    <p:sldId id="472" r:id="rId6"/>
    <p:sldId id="485" r:id="rId7"/>
    <p:sldId id="498" r:id="rId8"/>
    <p:sldId id="474" r:id="rId9"/>
    <p:sldId id="478" r:id="rId10"/>
    <p:sldId id="473" r:id="rId11"/>
    <p:sldId id="505" r:id="rId12"/>
    <p:sldId id="490" r:id="rId13"/>
    <p:sldId id="466" r:id="rId14"/>
    <p:sldId id="491" r:id="rId15"/>
    <p:sldId id="497" r:id="rId16"/>
    <p:sldId id="507" r:id="rId17"/>
    <p:sldId id="495" r:id="rId18"/>
    <p:sldId id="470" r:id="rId19"/>
    <p:sldId id="499" r:id="rId20"/>
    <p:sldId id="500" r:id="rId21"/>
    <p:sldId id="501" r:id="rId22"/>
    <p:sldId id="502" r:id="rId23"/>
    <p:sldId id="503" r:id="rId24"/>
    <p:sldId id="492" r:id="rId25"/>
    <p:sldId id="493" r:id="rId26"/>
    <p:sldId id="506" r:id="rId27"/>
  </p:sldIdLst>
  <p:sldSz cx="12192000" cy="6858000"/>
  <p:notesSz cx="7315200" cy="9601200"/>
  <p:custDataLst>
    <p:tags r:id="rId30"/>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pos="3240" userDrawn="1">
          <p15:clr>
            <a:srgbClr val="A4A3A4"/>
          </p15:clr>
        </p15:guide>
        <p15:guide id="11" orient="horz" pos="3864" userDrawn="1">
          <p15:clr>
            <a:srgbClr val="A4A3A4"/>
          </p15:clr>
        </p15:guide>
        <p15:guide id="12" orient="horz" userDrawn="1">
          <p15:clr>
            <a:srgbClr val="A4A3A4"/>
          </p15:clr>
        </p15:guide>
        <p15:guide id="14" orient="horz" pos="3720" userDrawn="1">
          <p15:clr>
            <a:srgbClr val="A4A3A4"/>
          </p15:clr>
        </p15:guide>
        <p15:guide id="16" pos="619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der Kuur, Cindy K" initials="CV" lastIdx="7" clrIdx="0">
    <p:extLst>
      <p:ext uri="{19B8F6BF-5375-455C-9EA6-DF929625EA0E}">
        <p15:presenceInfo xmlns:p15="http://schemas.microsoft.com/office/powerpoint/2012/main" userId="Vander Kuur, Cindy 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BC25"/>
    <a:srgbClr val="75787B"/>
    <a:srgbClr val="046A38"/>
    <a:srgbClr val="62B5E5"/>
    <a:srgbClr val="012169"/>
    <a:srgbClr val="00A1DE"/>
    <a:srgbClr val="0097A9"/>
    <a:srgbClr val="BFBFBF"/>
    <a:srgbClr val="B4B4B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55" autoAdjust="0"/>
    <p:restoredTop sz="82557" autoAdjust="0"/>
  </p:normalViewPr>
  <p:slideViewPr>
    <p:cSldViewPr snapToGrid="0" showGuides="1">
      <p:cViewPr varScale="1">
        <p:scale>
          <a:sx n="62" d="100"/>
          <a:sy n="62" d="100"/>
        </p:scale>
        <p:origin x="885" y="30"/>
      </p:cViewPr>
      <p:guideLst>
        <p:guide pos="3240"/>
        <p:guide orient="horz" pos="3864"/>
        <p:guide orient="horz"/>
        <p:guide orient="horz" pos="3720"/>
        <p:guide pos="6192"/>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38" d="100"/>
        <a:sy n="38"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tags" Target="tags/tag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3"/>
              </a:solidFill>
              <a:ln>
                <a:noFill/>
              </a:ln>
            </c:spPr>
            <c:extLst>
              <c:ext xmlns:c16="http://schemas.microsoft.com/office/drawing/2014/chart" uri="{C3380CC4-5D6E-409C-BE32-E72D297353CC}">
                <c16:uniqueId val="{00000001-3103-460B-BA3D-35BDE7909D0C}"/>
              </c:ext>
            </c:extLst>
          </c:dPt>
          <c:dPt>
            <c:idx val="1"/>
            <c:bubble3D val="0"/>
            <c:spPr>
              <a:solidFill>
                <a:schemeClr val="accent5"/>
              </a:solidFill>
              <a:ln>
                <a:noFill/>
              </a:ln>
            </c:spPr>
            <c:extLst>
              <c:ext xmlns:c16="http://schemas.microsoft.com/office/drawing/2014/chart" uri="{C3380CC4-5D6E-409C-BE32-E72D297353CC}">
                <c16:uniqueId val="{00000003-3103-460B-BA3D-35BDE7909D0C}"/>
              </c:ext>
            </c:extLst>
          </c:dPt>
          <c:dPt>
            <c:idx val="2"/>
            <c:bubble3D val="0"/>
            <c:spPr>
              <a:solidFill>
                <a:schemeClr val="accent6"/>
              </a:solidFill>
              <a:ln>
                <a:noFill/>
              </a:ln>
            </c:spPr>
            <c:extLst>
              <c:ext xmlns:c16="http://schemas.microsoft.com/office/drawing/2014/chart" uri="{C3380CC4-5D6E-409C-BE32-E72D297353CC}">
                <c16:uniqueId val="{00000005-3103-460B-BA3D-35BDE7909D0C}"/>
              </c:ext>
            </c:extLst>
          </c:dPt>
          <c:dPt>
            <c:idx val="3"/>
            <c:bubble3D val="0"/>
            <c:spPr>
              <a:solidFill>
                <a:schemeClr val="bg1">
                  <a:lumMod val="75000"/>
                </a:schemeClr>
              </a:solidFill>
              <a:ln>
                <a:noFill/>
              </a:ln>
            </c:spPr>
            <c:extLst>
              <c:ext xmlns:c16="http://schemas.microsoft.com/office/drawing/2014/chart" uri="{C3380CC4-5D6E-409C-BE32-E72D297353CC}">
                <c16:uniqueId val="{00000007-3103-460B-BA3D-35BDE7909D0C}"/>
              </c:ext>
            </c:extLst>
          </c:dPt>
          <c:cat>
            <c:strRef>
              <c:f>Sheet1!$A$2:$A$4</c:f>
              <c:strCache>
                <c:ptCount val="3"/>
                <c:pt idx="0">
                  <c:v>1st Qtr</c:v>
                </c:pt>
                <c:pt idx="1">
                  <c:v>2nd Qtr</c:v>
                </c:pt>
                <c:pt idx="2">
                  <c:v>3rd Qtr</c:v>
                </c:pt>
              </c:strCache>
            </c:strRef>
          </c:cat>
          <c:val>
            <c:numRef>
              <c:f>Sheet1!$B$2:$B$4</c:f>
              <c:numCache>
                <c:formatCode>0%</c:formatCode>
                <c:ptCount val="3"/>
                <c:pt idx="0">
                  <c:v>0.3</c:v>
                </c:pt>
                <c:pt idx="1">
                  <c:v>0.3</c:v>
                </c:pt>
                <c:pt idx="2">
                  <c:v>0.3</c:v>
                </c:pt>
              </c:numCache>
            </c:numRef>
          </c:val>
          <c:extLst>
            <c:ext xmlns:c16="http://schemas.microsoft.com/office/drawing/2014/chart" uri="{C3380CC4-5D6E-409C-BE32-E72D297353CC}">
              <c16:uniqueId val="{00000008-3103-460B-BA3D-35BDE7909D0C}"/>
            </c:ext>
          </c:extLst>
        </c:ser>
        <c:dLbls>
          <c:showLegendKey val="0"/>
          <c:showVal val="0"/>
          <c:showCatName val="0"/>
          <c:showSerName val="0"/>
          <c:showPercent val="0"/>
          <c:showBubbleSize val="0"/>
          <c:showLeaderLines val="1"/>
        </c:dLbls>
        <c:firstSliceAng val="0"/>
        <c:holeSize val="65"/>
      </c:doughnut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3921708377978468E-2"/>
          <c:y val="0.23595208193013473"/>
          <c:w val="0.97215658324404308"/>
          <c:h val="0.66217937217093092"/>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square"/>
            <c:size val="5"/>
            <c:spPr>
              <a:solidFill>
                <a:schemeClr val="tx2"/>
              </a:solidFill>
              <a:ln w="9525">
                <a:solidFill>
                  <a:schemeClr val="accent1"/>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c:v>
                </c:pt>
                <c:pt idx="1">
                  <c:v>4</c:v>
                </c:pt>
                <c:pt idx="2">
                  <c:v>1</c:v>
                </c:pt>
                <c:pt idx="3">
                  <c:v>1</c:v>
                </c:pt>
                <c:pt idx="4">
                  <c:v>4</c:v>
                </c:pt>
                <c:pt idx="5">
                  <c:v>1</c:v>
                </c:pt>
                <c:pt idx="6">
                  <c:v>1</c:v>
                </c:pt>
                <c:pt idx="7">
                  <c:v>4</c:v>
                </c:pt>
                <c:pt idx="8">
                  <c:v>1</c:v>
                </c:pt>
                <c:pt idx="9">
                  <c:v>1</c:v>
                </c:pt>
                <c:pt idx="10">
                  <c:v>4</c:v>
                </c:pt>
                <c:pt idx="11">
                  <c:v>1</c:v>
                </c:pt>
              </c:numCache>
            </c:numRef>
          </c:val>
          <c:smooth val="0"/>
          <c:extLst>
            <c:ext xmlns:c16="http://schemas.microsoft.com/office/drawing/2014/chart" uri="{C3380CC4-5D6E-409C-BE32-E72D297353CC}">
              <c16:uniqueId val="{00000000-CC51-4380-A458-BDE70FE6516F}"/>
            </c:ext>
          </c:extLst>
        </c:ser>
        <c:dLbls>
          <c:showLegendKey val="0"/>
          <c:showVal val="0"/>
          <c:showCatName val="0"/>
          <c:showSerName val="0"/>
          <c:showPercent val="0"/>
          <c:showBubbleSize val="0"/>
        </c:dLbls>
        <c:marker val="1"/>
        <c:smooth val="0"/>
        <c:axId val="611525768"/>
        <c:axId val="611534784"/>
      </c:lineChart>
      <c:catAx>
        <c:axId val="611525768"/>
        <c:scaling>
          <c:orientation val="minMax"/>
        </c:scaling>
        <c:delete val="1"/>
        <c:axPos val="b"/>
        <c:numFmt formatCode="General" sourceLinked="1"/>
        <c:majorTickMark val="none"/>
        <c:minorTickMark val="none"/>
        <c:tickLblPos val="nextTo"/>
        <c:crossAx val="611534784"/>
        <c:crosses val="autoZero"/>
        <c:auto val="1"/>
        <c:lblAlgn val="ctr"/>
        <c:lblOffset val="100"/>
        <c:noMultiLvlLbl val="0"/>
      </c:catAx>
      <c:valAx>
        <c:axId val="611534784"/>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6115257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872500794882827E-5"/>
          <c:y val="1.6281022311256294E-2"/>
          <c:w val="0.99994912749920517"/>
          <c:h val="0.9726827281709185"/>
        </c:manualLayout>
      </c:layout>
      <c:doughnutChart>
        <c:varyColors val="1"/>
        <c:ser>
          <c:idx val="0"/>
          <c:order val="0"/>
          <c:tx>
            <c:strRef>
              <c:f>Sheet1!$B$1</c:f>
              <c:strCache>
                <c:ptCount val="1"/>
                <c:pt idx="0">
                  <c:v>Column1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89DE-4DB3-ADA8-49817EB7A498}"/>
              </c:ext>
            </c:extLst>
          </c:dPt>
          <c:dPt>
            <c:idx val="1"/>
            <c:bubble3D val="0"/>
            <c:spPr>
              <a:solidFill>
                <a:schemeClr val="bg2"/>
              </a:solidFill>
              <a:ln w="19050">
                <a:noFill/>
              </a:ln>
              <a:effectLst/>
            </c:spPr>
            <c:extLst>
              <c:ext xmlns:c16="http://schemas.microsoft.com/office/drawing/2014/chart" uri="{C3380CC4-5D6E-409C-BE32-E72D297353CC}">
                <c16:uniqueId val="{00000003-89DE-4DB3-ADA8-49817EB7A498}"/>
              </c:ext>
            </c:extLst>
          </c:dPt>
          <c:dPt>
            <c:idx val="2"/>
            <c:bubble3D val="0"/>
            <c:spPr>
              <a:solidFill>
                <a:schemeClr val="bg1">
                  <a:lumMod val="65000"/>
                </a:schemeClr>
              </a:solidFill>
              <a:ln w="19050">
                <a:noFill/>
              </a:ln>
              <a:effectLst/>
            </c:spPr>
            <c:extLst>
              <c:ext xmlns:c16="http://schemas.microsoft.com/office/drawing/2014/chart" uri="{C3380CC4-5D6E-409C-BE32-E72D297353CC}">
                <c16:uniqueId val="{00000005-89DE-4DB3-ADA8-49817EB7A498}"/>
              </c:ext>
            </c:extLst>
          </c:dPt>
          <c:dPt>
            <c:idx val="3"/>
            <c:bubble3D val="0"/>
            <c:spPr>
              <a:solidFill>
                <a:schemeClr val="bg1">
                  <a:lumMod val="50000"/>
                </a:schemeClr>
              </a:solidFill>
              <a:ln w="19050">
                <a:noFill/>
              </a:ln>
              <a:effectLst/>
            </c:spPr>
            <c:extLst>
              <c:ext xmlns:c16="http://schemas.microsoft.com/office/drawing/2014/chart" uri="{C3380CC4-5D6E-409C-BE32-E72D297353CC}">
                <c16:uniqueId val="{00000007-89DE-4DB3-ADA8-49817EB7A498}"/>
              </c:ext>
            </c:extLst>
          </c:dPt>
          <c:dPt>
            <c:idx val="4"/>
            <c:bubble3D val="0"/>
            <c:spPr>
              <a:solidFill>
                <a:schemeClr val="accent6">
                  <a:lumMod val="75000"/>
                </a:schemeClr>
              </a:solidFill>
              <a:ln w="19050">
                <a:noFill/>
              </a:ln>
              <a:effectLst/>
            </c:spPr>
            <c:extLst>
              <c:ext xmlns:c16="http://schemas.microsoft.com/office/drawing/2014/chart" uri="{C3380CC4-5D6E-409C-BE32-E72D297353CC}">
                <c16:uniqueId val="{00000009-89DE-4DB3-ADA8-49817EB7A498}"/>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B-89DE-4DB3-ADA8-49817EB7A498}"/>
              </c:ext>
            </c:extLst>
          </c:dPt>
          <c:cat>
            <c:strRef>
              <c:f>Sheet1!$A$2:$A$7</c:f>
              <c:strCache>
                <c:ptCount val="6"/>
                <c:pt idx="0">
                  <c:v>Label 1</c:v>
                </c:pt>
                <c:pt idx="1">
                  <c:v>Label 2</c:v>
                </c:pt>
                <c:pt idx="2">
                  <c:v>Label 3</c:v>
                </c:pt>
                <c:pt idx="3">
                  <c:v>Label 4</c:v>
                </c:pt>
                <c:pt idx="4">
                  <c:v>Label 5</c:v>
                </c:pt>
                <c:pt idx="5">
                  <c:v>Label 6</c:v>
                </c:pt>
              </c:strCache>
            </c:strRef>
          </c:cat>
          <c:val>
            <c:numRef>
              <c:f>Sheet1!$B$2:$B$7</c:f>
              <c:numCache>
                <c:formatCode>General</c:formatCode>
                <c:ptCount val="6"/>
                <c:pt idx="0">
                  <c:v>25</c:v>
                </c:pt>
                <c:pt idx="1">
                  <c:v>100</c:v>
                </c:pt>
              </c:numCache>
            </c:numRef>
          </c:val>
          <c:extLst>
            <c:ext xmlns:c16="http://schemas.microsoft.com/office/drawing/2014/chart" uri="{C3380CC4-5D6E-409C-BE32-E72D297353CC}">
              <c16:uniqueId val="{0000000C-89DE-4DB3-ADA8-49817EB7A498}"/>
            </c:ext>
          </c:extLst>
        </c:ser>
        <c:dLbls>
          <c:showLegendKey val="0"/>
          <c:showVal val="0"/>
          <c:showCatName val="0"/>
          <c:showSerName val="0"/>
          <c:showPercent val="0"/>
          <c:showBubbleSize val="0"/>
          <c:showLeaderLines val="0"/>
        </c:dLbls>
        <c:firstSliceAng val="55"/>
        <c:holeSize val="5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10/3/2018</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10/3/2018</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9470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latin typeface="Arial" panose="020B0604020202020204" pitchFamily="34" charset="0"/>
                <a:ea typeface="+mn-ea"/>
                <a:cs typeface="+mn-cs"/>
              </a:rPr>
              <a:t>Oracle provides periodic updates/patches for cloud environments to address reported issues or for introducing new features / functionality. This causes disruption to regular business and IT operations and requires business to spend time, money &amp; effort to support cloud updates or upgrades. Bulk of this effort in release management is spent in testing activities. There is an increased need for testing automation for release management.</a:t>
            </a:r>
          </a:p>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3494597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3</a:t>
            </a:fld>
            <a:endParaRPr lang="en-US" dirty="0"/>
          </a:p>
        </p:txBody>
      </p:sp>
    </p:spTree>
    <p:extLst>
      <p:ext uri="{BB962C8B-B14F-4D97-AF65-F5344CB8AC3E}">
        <p14:creationId xmlns:p14="http://schemas.microsoft.com/office/powerpoint/2010/main" val="1467724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0" indent="0">
              <a:buFont typeface="Wingdings" panose="05000000000000000000" pitchFamily="2" charset="2"/>
              <a:buNone/>
            </a:pPr>
            <a:endParaRPr lang="en-US" b="1" baseline="0"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5</a:t>
            </a:fld>
            <a:endParaRPr lang="en-US" dirty="0"/>
          </a:p>
        </p:txBody>
      </p:sp>
    </p:spTree>
    <p:extLst>
      <p:ext uri="{BB962C8B-B14F-4D97-AF65-F5344CB8AC3E}">
        <p14:creationId xmlns:p14="http://schemas.microsoft.com/office/powerpoint/2010/main" val="2406394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Next section after “Oracle’s Patch and Environment Strategy” slide</a:t>
            </a:r>
          </a:p>
          <a:p>
            <a:pPr marL="285750" indent="-285750">
              <a:buFont typeface="Arial" panose="020B0604020202020204" pitchFamily="34" charset="0"/>
              <a:buChar char="•"/>
            </a:pPr>
            <a:r>
              <a:rPr lang="en-US" dirty="0"/>
              <a:t>Need a good subtitle for it</a:t>
            </a:r>
          </a:p>
        </p:txBody>
      </p:sp>
      <p:sp>
        <p:nvSpPr>
          <p:cNvPr id="4" name="Slide Number Placeholder 3"/>
          <p:cNvSpPr>
            <a:spLocks noGrp="1"/>
          </p:cNvSpPr>
          <p:nvPr>
            <p:ph type="sldNum" sz="quarter" idx="10"/>
          </p:nvPr>
        </p:nvSpPr>
        <p:spPr/>
        <p:txBody>
          <a:bodyPr/>
          <a:lstStyle/>
          <a:p>
            <a:fld id="{C0F4A2C8-6C88-4E71-83EE-698B9D4FE22F}" type="slidenum">
              <a:rPr lang="en-US" smtClean="0"/>
              <a:pPr/>
              <a:t>6</a:t>
            </a:fld>
            <a:endParaRPr lang="en-US" dirty="0"/>
          </a:p>
        </p:txBody>
      </p:sp>
    </p:spTree>
    <p:extLst>
      <p:ext uri="{BB962C8B-B14F-4D97-AF65-F5344CB8AC3E}">
        <p14:creationId xmlns:p14="http://schemas.microsoft.com/office/powerpoint/2010/main" val="2412524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Next section after “</a:t>
            </a:r>
            <a:r>
              <a:rPr lang="en-US" b="1" dirty="0"/>
              <a:t>Oracle’s Patch and Environment Strategy</a:t>
            </a:r>
            <a:r>
              <a:rPr lang="en-US" dirty="0"/>
              <a:t>” slide</a:t>
            </a:r>
          </a:p>
          <a:p>
            <a:pPr marL="285750" indent="-285750">
              <a:buFont typeface="Arial" panose="020B0604020202020204" pitchFamily="34" charset="0"/>
              <a:buChar char="•"/>
            </a:pPr>
            <a:r>
              <a:rPr lang="en-US" dirty="0"/>
              <a:t>Need a good subtitle for it</a:t>
            </a:r>
          </a:p>
          <a:p>
            <a:pPr marL="285750" indent="-285750">
              <a:buFont typeface="Arial" panose="020B0604020202020204" pitchFamily="34" charset="0"/>
              <a:buChar char="•"/>
            </a:pPr>
            <a:endParaRPr lang="en-US" dirty="0"/>
          </a:p>
          <a:p>
            <a:pPr marL="0" indent="0">
              <a:buFont typeface="Arial" panose="020B0604020202020204" pitchFamily="34" charset="0"/>
              <a:buNone/>
            </a:pPr>
            <a:r>
              <a:rPr lang="en-US" dirty="0"/>
              <a:t>Keep only L1’s.</a:t>
            </a:r>
          </a:p>
          <a:p>
            <a:pPr marL="0" indent="0">
              <a:buFont typeface="Arial" panose="020B0604020202020204" pitchFamily="34" charset="0"/>
              <a:buNone/>
            </a:pPr>
            <a:r>
              <a:rPr lang="en-US" dirty="0"/>
              <a:t>Have definition</a:t>
            </a:r>
            <a:r>
              <a:rPr lang="en-US" baseline="0" dirty="0"/>
              <a:t> of the process, and then # of scripts available for each process</a:t>
            </a:r>
          </a:p>
          <a:p>
            <a:pPr marL="0" indent="0">
              <a:buFont typeface="Arial" panose="020B0604020202020204" pitchFamily="34" charset="0"/>
              <a:buNone/>
            </a:pPr>
            <a:r>
              <a:rPr lang="en-US" baseline="0" dirty="0" err="1"/>
              <a:t>Eg</a:t>
            </a:r>
            <a:r>
              <a:rPr lang="en-US" baseline="0" dirty="0"/>
              <a:t>: PTM – 30 scripts</a:t>
            </a:r>
          </a:p>
          <a:p>
            <a:pPr marL="0" indent="0">
              <a:buFont typeface="Arial" panose="020B0604020202020204" pitchFamily="34" charset="0"/>
              <a:buNone/>
            </a:pPr>
            <a:r>
              <a:rPr lang="en-US" baseline="0" dirty="0"/>
              <a:t>PTP – 20</a:t>
            </a:r>
          </a:p>
          <a:p>
            <a:pPr marL="0" indent="0">
              <a:buFont typeface="Arial" panose="020B0604020202020204" pitchFamily="34" charset="0"/>
              <a:buNone/>
            </a:pPr>
            <a:r>
              <a:rPr lang="en-US" baseline="0" dirty="0" err="1"/>
              <a:t>Etc</a:t>
            </a:r>
            <a:endParaRPr lang="en-US" baseline="0" dirty="0"/>
          </a:p>
          <a:p>
            <a:pPr marL="0" indent="0">
              <a:buFont typeface="Arial" panose="020B0604020202020204" pitchFamily="34" charset="0"/>
              <a:buNone/>
            </a:pPr>
            <a:r>
              <a:rPr lang="en-US" b="1" baseline="0" dirty="0"/>
              <a:t>L2 processes removed and put a brief description of the process flows along with the number of available scripts : Nishant – 12/4</a:t>
            </a:r>
            <a:endParaRPr lang="en-US" b="1"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7</a:t>
            </a:fld>
            <a:endParaRPr lang="en-US" dirty="0"/>
          </a:p>
        </p:txBody>
      </p:sp>
    </p:spTree>
    <p:extLst>
      <p:ext uri="{BB962C8B-B14F-4D97-AF65-F5344CB8AC3E}">
        <p14:creationId xmlns:p14="http://schemas.microsoft.com/office/powerpoint/2010/main" val="3437897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8</a:t>
            </a:fld>
            <a:endParaRPr lang="en-US" dirty="0"/>
          </a:p>
        </p:txBody>
      </p:sp>
    </p:spTree>
    <p:extLst>
      <p:ext uri="{BB962C8B-B14F-4D97-AF65-F5344CB8AC3E}">
        <p14:creationId xmlns:p14="http://schemas.microsoft.com/office/powerpoint/2010/main" val="21097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scripts that are part of automation will have estimation based</a:t>
            </a:r>
            <a:r>
              <a:rPr lang="en-US" baseline="0" dirty="0"/>
              <a:t> on FTE</a:t>
            </a:r>
          </a:p>
          <a:p>
            <a:pPr marL="895335" lvl="1" indent="-285750">
              <a:buFont typeface="Arial" panose="020B0604020202020204" pitchFamily="34" charset="0"/>
              <a:buChar char="•"/>
            </a:pPr>
            <a:r>
              <a:rPr lang="en-US" baseline="0" dirty="0"/>
              <a:t>How many FTE (Tech as well as Func) we will need to manage and execute the scripts based on timeline we proposed</a:t>
            </a:r>
          </a:p>
          <a:p>
            <a:pPr marL="895335" lvl="1" indent="-285750">
              <a:buFont typeface="Arial" panose="020B0604020202020204" pitchFamily="34" charset="0"/>
              <a:buChar char="•"/>
            </a:pPr>
            <a:r>
              <a:rPr lang="en-US" baseline="0" dirty="0"/>
              <a:t>What phase will it cover</a:t>
            </a:r>
          </a:p>
          <a:p>
            <a:pPr marL="285750" lvl="0" indent="-285750">
              <a:buFont typeface="Arial" panose="020B0604020202020204" pitchFamily="34" charset="0"/>
              <a:buChar char="•"/>
            </a:pPr>
            <a:r>
              <a:rPr lang="en-US" baseline="0" dirty="0"/>
              <a:t>Custom scripts details</a:t>
            </a:r>
          </a:p>
          <a:p>
            <a:pPr marL="895335" lvl="1" indent="-285750">
              <a:buFont typeface="Arial" panose="020B0604020202020204" pitchFamily="34" charset="0"/>
              <a:buChar char="•"/>
            </a:pPr>
            <a:r>
              <a:rPr lang="en-US" baseline="0" dirty="0"/>
              <a:t>What will be manual vs. automated</a:t>
            </a:r>
          </a:p>
          <a:p>
            <a:pPr marL="895335" lvl="1" indent="-285750">
              <a:buFont typeface="Arial" panose="020B0604020202020204" pitchFamily="34" charset="0"/>
              <a:buChar char="•"/>
            </a:pPr>
            <a:r>
              <a:rPr lang="en-US" baseline="0" dirty="0"/>
              <a:t>Estimation model for automating it based on complexity</a:t>
            </a:r>
          </a:p>
          <a:p>
            <a:pPr marL="895335" lvl="1" indent="-285750">
              <a:buFont typeface="Arial" panose="020B0604020202020204" pitchFamily="34" charset="0"/>
              <a:buChar char="•"/>
            </a:pPr>
            <a:r>
              <a:rPr lang="en-US" baseline="0" dirty="0"/>
              <a:t>Resource requirement</a:t>
            </a: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10</a:t>
            </a:fld>
            <a:endParaRPr lang="en-US" dirty="0"/>
          </a:p>
        </p:txBody>
      </p:sp>
    </p:spTree>
    <p:extLst>
      <p:ext uri="{BB962C8B-B14F-4D97-AF65-F5344CB8AC3E}">
        <p14:creationId xmlns:p14="http://schemas.microsoft.com/office/powerpoint/2010/main" val="2945931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scenario based on process area or</a:t>
            </a:r>
            <a:r>
              <a:rPr lang="en-US" baseline="0" dirty="0"/>
              <a:t> a hypothetical client to deduce the timeline</a:t>
            </a: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11</a:t>
            </a:fld>
            <a:endParaRPr lang="en-US" dirty="0"/>
          </a:p>
        </p:txBody>
      </p:sp>
    </p:spTree>
    <p:extLst>
      <p:ext uri="{BB962C8B-B14F-4D97-AF65-F5344CB8AC3E}">
        <p14:creationId xmlns:p14="http://schemas.microsoft.com/office/powerpoint/2010/main" val="3995722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scripts that are part of automation will have estimation based</a:t>
            </a:r>
            <a:r>
              <a:rPr lang="en-US" baseline="0" dirty="0"/>
              <a:t> on FTE</a:t>
            </a:r>
          </a:p>
          <a:p>
            <a:pPr marL="895335" lvl="1" indent="-285750">
              <a:buFont typeface="Arial" panose="020B0604020202020204" pitchFamily="34" charset="0"/>
              <a:buChar char="•"/>
            </a:pPr>
            <a:r>
              <a:rPr lang="en-US" baseline="0" dirty="0"/>
              <a:t>How many FTE (Tech as well as Func) we will need to manage and execute the scripts based on timeline we proposed</a:t>
            </a:r>
          </a:p>
          <a:p>
            <a:pPr marL="895335" lvl="1" indent="-285750">
              <a:buFont typeface="Arial" panose="020B0604020202020204" pitchFamily="34" charset="0"/>
              <a:buChar char="•"/>
            </a:pPr>
            <a:r>
              <a:rPr lang="en-US" baseline="0" dirty="0"/>
              <a:t>What phase will it cover</a:t>
            </a:r>
          </a:p>
          <a:p>
            <a:pPr marL="285750" lvl="0" indent="-285750">
              <a:buFont typeface="Arial" panose="020B0604020202020204" pitchFamily="34" charset="0"/>
              <a:buChar char="•"/>
            </a:pPr>
            <a:r>
              <a:rPr lang="en-US" baseline="0" dirty="0"/>
              <a:t>Custom scripts details</a:t>
            </a:r>
          </a:p>
          <a:p>
            <a:pPr marL="895335" lvl="1" indent="-285750">
              <a:buFont typeface="Arial" panose="020B0604020202020204" pitchFamily="34" charset="0"/>
              <a:buChar char="•"/>
            </a:pPr>
            <a:r>
              <a:rPr lang="en-US" baseline="0" dirty="0"/>
              <a:t>What will be manual vs. automated</a:t>
            </a:r>
          </a:p>
          <a:p>
            <a:pPr marL="895335" lvl="1" indent="-285750">
              <a:buFont typeface="Arial" panose="020B0604020202020204" pitchFamily="34" charset="0"/>
              <a:buChar char="•"/>
            </a:pPr>
            <a:r>
              <a:rPr lang="en-US" baseline="0" dirty="0"/>
              <a:t>Estimation model for automating it based on complexity</a:t>
            </a:r>
          </a:p>
          <a:p>
            <a:pPr marL="895335" lvl="1" indent="-285750">
              <a:buFont typeface="Arial" panose="020B0604020202020204" pitchFamily="34" charset="0"/>
              <a:buChar char="•"/>
            </a:pPr>
            <a:r>
              <a:rPr lang="en-US" baseline="0" dirty="0"/>
              <a:t>Resource requirement</a:t>
            </a: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12</a:t>
            </a:fld>
            <a:endParaRPr lang="en-US" dirty="0"/>
          </a:p>
        </p:txBody>
      </p:sp>
    </p:spTree>
    <p:extLst>
      <p:ext uri="{BB962C8B-B14F-4D97-AF65-F5344CB8AC3E}">
        <p14:creationId xmlns:p14="http://schemas.microsoft.com/office/powerpoint/2010/main" val="425355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Advisory</a:t>
            </a:r>
            <a:r>
              <a:rPr lang="en-US" baseline="0" dirty="0"/>
              <a:t> Phase – 2 month periods between each patching phase; 66% of the year, where the team will perform additional activities apart from regular support activities. These will include:</a:t>
            </a:r>
          </a:p>
          <a:p>
            <a:pPr marL="114300" lvl="1" indent="-114300">
              <a:spcBef>
                <a:spcPts val="600"/>
              </a:spcBef>
              <a:buSzPct val="100000"/>
              <a:buFont typeface="Arial" panose="020B0604020202020204" pitchFamily="34" charset="0"/>
              <a:buChar char="•"/>
            </a:pPr>
            <a:r>
              <a:rPr lang="en-US" sz="1000" kern="1200" dirty="0">
                <a:solidFill>
                  <a:schemeClr val="tx1"/>
                </a:solidFill>
                <a:latin typeface="Arial" panose="020B0604020202020204" pitchFamily="34" charset="0"/>
                <a:ea typeface="+mn-ea"/>
                <a:cs typeface="+mn-cs"/>
              </a:rPr>
              <a:t>Design and Development of Enhancements and Change Requests for modified scope and functionality.</a:t>
            </a:r>
            <a:r>
              <a:rPr lang="en-US" sz="1000" kern="1200" baseline="0" dirty="0">
                <a:solidFill>
                  <a:schemeClr val="tx1"/>
                </a:solidFill>
                <a:latin typeface="Arial" panose="020B0604020202020204" pitchFamily="34" charset="0"/>
                <a:ea typeface="+mn-ea"/>
                <a:cs typeface="+mn-cs"/>
              </a:rPr>
              <a:t> Each patch will bring forth some new functionality and can lead to change requests for enhancements and changes to existing scope</a:t>
            </a:r>
            <a:endParaRPr lang="en-US" sz="1000" kern="1200" dirty="0">
              <a:solidFill>
                <a:schemeClr val="tx1"/>
              </a:solidFill>
              <a:latin typeface="Arial" panose="020B0604020202020204" pitchFamily="34" charset="0"/>
              <a:ea typeface="+mn-ea"/>
              <a:cs typeface="+mn-cs"/>
            </a:endParaRPr>
          </a:p>
          <a:p>
            <a:pPr marL="114300" lvl="1" indent="-114300">
              <a:spcBef>
                <a:spcPts val="600"/>
              </a:spcBef>
              <a:buSzPct val="100000"/>
              <a:buFont typeface="Arial" panose="020B0604020202020204" pitchFamily="34" charset="0"/>
              <a:buChar char="•"/>
            </a:pPr>
            <a:r>
              <a:rPr lang="en-US" sz="1000" kern="1200" dirty="0">
                <a:solidFill>
                  <a:schemeClr val="tx1"/>
                </a:solidFill>
                <a:latin typeface="Arial" panose="020B0604020202020204" pitchFamily="34" charset="0"/>
                <a:ea typeface="+mn-ea"/>
                <a:cs typeface="+mn-cs"/>
              </a:rPr>
              <a:t>Perform Proof-of-Concept and Demonstrations of new functionality available through new releases.</a:t>
            </a:r>
            <a:r>
              <a:rPr lang="en-US" sz="1000" kern="1200" baseline="0" dirty="0">
                <a:solidFill>
                  <a:schemeClr val="tx1"/>
                </a:solidFill>
                <a:latin typeface="Arial" panose="020B0604020202020204" pitchFamily="34" charset="0"/>
                <a:ea typeface="+mn-ea"/>
                <a:cs typeface="+mn-cs"/>
              </a:rPr>
              <a:t> POC’s will lay foundation for new enhancements by helping the clients visualize additional features they can avail</a:t>
            </a:r>
          </a:p>
          <a:p>
            <a:pPr marL="114300" lvl="1" indent="-114300">
              <a:spcBef>
                <a:spcPts val="600"/>
              </a:spcBef>
              <a:buSzPct val="100000"/>
              <a:buFont typeface="Arial" panose="020B0604020202020204" pitchFamily="34" charset="0"/>
              <a:buChar char="•"/>
            </a:pPr>
            <a:r>
              <a:rPr lang="en-US" sz="1000" kern="1200" dirty="0">
                <a:solidFill>
                  <a:schemeClr val="tx1"/>
                </a:solidFill>
                <a:latin typeface="Arial" panose="020B0604020202020204" pitchFamily="34" charset="0"/>
                <a:ea typeface="+mn-ea"/>
                <a:cs typeface="+mn-cs"/>
              </a:rPr>
              <a:t>Design and implement new modules or functionality</a:t>
            </a:r>
          </a:p>
          <a:p>
            <a:pPr marL="114300" lvl="1" indent="-114300">
              <a:spcBef>
                <a:spcPts val="600"/>
              </a:spcBef>
              <a:buSzPct val="100000"/>
              <a:buFont typeface="Arial" panose="020B0604020202020204" pitchFamily="34" charset="0"/>
              <a:buChar char="•"/>
            </a:pPr>
            <a:r>
              <a:rPr lang="en-US" sz="1000" kern="1200" dirty="0">
                <a:solidFill>
                  <a:schemeClr val="tx1"/>
                </a:solidFill>
                <a:latin typeface="Arial" panose="020B0604020202020204" pitchFamily="34" charset="0"/>
                <a:ea typeface="+mn-ea"/>
                <a:cs typeface="+mn-cs"/>
              </a:rPr>
              <a:t>Prepare training documentation and conduct knowledge transfer sessions around new functionality through new and upcoming releases. </a:t>
            </a:r>
          </a:p>
          <a:p>
            <a:pPr marL="114300" lvl="1" indent="-114300">
              <a:spcBef>
                <a:spcPts val="600"/>
              </a:spcBef>
              <a:buSzPct val="100000"/>
              <a:buFont typeface="Arial" panose="020B0604020202020204" pitchFamily="34" charset="0"/>
              <a:buChar char="•"/>
            </a:pPr>
            <a:r>
              <a:rPr lang="en-US" sz="1000" kern="1200" dirty="0">
                <a:solidFill>
                  <a:schemeClr val="tx1"/>
                </a:solidFill>
                <a:latin typeface="Arial" panose="020B0604020202020204" pitchFamily="34" charset="0"/>
                <a:ea typeface="+mn-ea"/>
                <a:cs typeface="+mn-cs"/>
              </a:rPr>
              <a:t>Assess and design for solutions where standard functionality through new releases can replace previously built custom solutions. </a:t>
            </a:r>
          </a:p>
          <a:p>
            <a:pPr marL="285750" indent="-285750">
              <a:buFont typeface="Arial" panose="020B0604020202020204" pitchFamily="34" charset="0"/>
              <a:buChar char="•"/>
            </a:pPr>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3365070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16</a:t>
            </a:fld>
            <a:endParaRPr lang="en-US" dirty="0"/>
          </a:p>
        </p:txBody>
      </p:sp>
    </p:spTree>
    <p:extLst>
      <p:ext uri="{BB962C8B-B14F-4D97-AF65-F5344CB8AC3E}">
        <p14:creationId xmlns:p14="http://schemas.microsoft.com/office/powerpoint/2010/main" val="245311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17</a:t>
            </a:fld>
            <a:endParaRPr lang="en-US" dirty="0"/>
          </a:p>
        </p:txBody>
      </p:sp>
    </p:spTree>
    <p:extLst>
      <p:ext uri="{BB962C8B-B14F-4D97-AF65-F5344CB8AC3E}">
        <p14:creationId xmlns:p14="http://schemas.microsoft.com/office/powerpoint/2010/main" val="840133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3507090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19</a:t>
            </a:fld>
            <a:endParaRPr lang="en-US" dirty="0"/>
          </a:p>
        </p:txBody>
      </p:sp>
    </p:spTree>
    <p:extLst>
      <p:ext uri="{BB962C8B-B14F-4D97-AF65-F5344CB8AC3E}">
        <p14:creationId xmlns:p14="http://schemas.microsoft.com/office/powerpoint/2010/main" val="22864059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20</a:t>
            </a:fld>
            <a:endParaRPr lang="en-US" dirty="0"/>
          </a:p>
        </p:txBody>
      </p:sp>
    </p:spTree>
    <p:extLst>
      <p:ext uri="{BB962C8B-B14F-4D97-AF65-F5344CB8AC3E}">
        <p14:creationId xmlns:p14="http://schemas.microsoft.com/office/powerpoint/2010/main" val="780747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21</a:t>
            </a:fld>
            <a:endParaRPr lang="en-US" dirty="0"/>
          </a:p>
        </p:txBody>
      </p:sp>
    </p:spTree>
    <p:extLst>
      <p:ext uri="{BB962C8B-B14F-4D97-AF65-F5344CB8AC3E}">
        <p14:creationId xmlns:p14="http://schemas.microsoft.com/office/powerpoint/2010/main" val="15408187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783079461"/>
      </p:ext>
    </p:extLst>
  </p:cSld>
  <p:clrMapOvr>
    <a:masterClrMapping/>
  </p:clrMapOvr>
  <p:transition>
    <p:fade/>
  </p:transition>
  <p:extLst mod="1">
    <p:ext uri="{DCECCB84-F9BA-43D5-87BE-67443E8EF086}">
      <p15:sldGuideLst xmlns:p15="http://schemas.microsoft.com/office/powerpoint/2012/main">
        <p15:guide id="1" orient="horz" pos="40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212220219"/>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527611538"/>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endParaRPr lang="en-US"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1981927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5572859"/>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812982607"/>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Tree>
    <p:extLst>
      <p:ext uri="{BB962C8B-B14F-4D97-AF65-F5344CB8AC3E}">
        <p14:creationId xmlns:p14="http://schemas.microsoft.com/office/powerpoint/2010/main" val="1997222711"/>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prstClr val="white"/>
                </a:solidFill>
              </a:endParaRPr>
            </a:p>
          </p:txBody>
        </p:sp>
      </p:grpSp>
    </p:spTree>
    <p:extLst>
      <p:ext uri="{BB962C8B-B14F-4D97-AF65-F5344CB8AC3E}">
        <p14:creationId xmlns:p14="http://schemas.microsoft.com/office/powerpoint/2010/main" val="3918228422"/>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3892789957"/>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dirty="0">
                <a:solidFill>
                  <a:prstClr val="white"/>
                </a:solidFill>
              </a:rPr>
              <a:t>Presentation title</a:t>
            </a:r>
            <a:br>
              <a:rPr lang="en-US" sz="650" dirty="0">
                <a:solidFill>
                  <a:prstClr val="white"/>
                </a:solidFill>
              </a:rPr>
            </a:br>
            <a:r>
              <a:rPr lang="en-US" sz="650" dirty="0">
                <a:solidFill>
                  <a:prstClr val="white"/>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1454829627"/>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2966560572"/>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dirty="0">
                <a:solidFill>
                  <a:prstClr val="white"/>
                </a:solidFill>
              </a:rPr>
              <a:t>Presentation title</a:t>
            </a:r>
            <a:br>
              <a:rPr lang="en-US" sz="650" dirty="0">
                <a:solidFill>
                  <a:prstClr val="white"/>
                </a:solidFill>
              </a:rPr>
            </a:br>
            <a:r>
              <a:rPr lang="en-US" sz="650" dirty="0">
                <a:solidFill>
                  <a:prstClr val="white"/>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1761513594"/>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dirty="0">
                <a:solidFill>
                  <a:prstClr val="white"/>
                </a:solidFill>
              </a:rPr>
              <a:t>Presentation title</a:t>
            </a:r>
            <a:br>
              <a:rPr lang="en-US" sz="650" dirty="0">
                <a:solidFill>
                  <a:prstClr val="white"/>
                </a:solidFill>
              </a:rPr>
            </a:br>
            <a:r>
              <a:rPr lang="en-US" sz="650" dirty="0">
                <a:solidFill>
                  <a:prstClr val="white"/>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167178070"/>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721298336"/>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dirty="0">
                <a:solidFill>
                  <a:prstClr val="white"/>
                </a:solidFill>
              </a:rPr>
              <a:t>Presentation title</a:t>
            </a:r>
            <a:br>
              <a:rPr lang="en-US" sz="650" dirty="0">
                <a:solidFill>
                  <a:prstClr val="white"/>
                </a:solidFill>
              </a:rPr>
            </a:br>
            <a:r>
              <a:rPr lang="en-US" sz="650" dirty="0">
                <a:solidFill>
                  <a:prstClr val="white"/>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201685180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dirty="0">
                <a:solidFill>
                  <a:prstClr val="white"/>
                </a:solidFill>
              </a:rPr>
              <a:t>Presentation title</a:t>
            </a:r>
            <a:br>
              <a:rPr lang="en-US" sz="650" dirty="0">
                <a:solidFill>
                  <a:prstClr val="white"/>
                </a:solidFill>
              </a:rPr>
            </a:br>
            <a:r>
              <a:rPr lang="en-US" sz="650" dirty="0">
                <a:solidFill>
                  <a:prstClr val="white"/>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2630959280"/>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203154869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dirty="0">
                <a:solidFill>
                  <a:prstClr val="white"/>
                </a:solidFill>
              </a:rPr>
              <a:t>Presentation title</a:t>
            </a:r>
            <a:br>
              <a:rPr lang="en-US" sz="650" dirty="0">
                <a:solidFill>
                  <a:prstClr val="white"/>
                </a:solidFill>
              </a:rPr>
            </a:br>
            <a:r>
              <a:rPr lang="en-US" sz="650" dirty="0">
                <a:solidFill>
                  <a:prstClr val="white"/>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Tree>
    <p:extLst>
      <p:ext uri="{BB962C8B-B14F-4D97-AF65-F5344CB8AC3E}">
        <p14:creationId xmlns:p14="http://schemas.microsoft.com/office/powerpoint/2010/main" val="1096836039"/>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31478317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0835628"/>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1443201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743685371"/>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2929719"/>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64222764"/>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63428792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936332741"/>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78146946"/>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3572460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96881964"/>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998365723"/>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endParaRPr lang="en-US"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60289354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989640185"/>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79100888"/>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547755371"/>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6355797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586499568"/>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dirty="0">
              <a:solidFill>
                <a:prstClr val="white"/>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dirty="0">
              <a:solidFill>
                <a:prstClr val="white"/>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1920219307"/>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dirty="0">
              <a:solidFill>
                <a:prstClr val="white"/>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dirty="0">
              <a:solidFill>
                <a:prstClr val="white"/>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dirty="0">
              <a:solidFill>
                <a:prstClr val="white"/>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dirty="0">
              <a:solidFill>
                <a:prstClr val="white"/>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547955217"/>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dirty="0">
              <a:solidFill>
                <a:prstClr val="white"/>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147072805"/>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87534682"/>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algn="r">
              <a:buSzPct val="100000"/>
              <a:buFont typeface="Arial"/>
              <a:buNone/>
            </a:pPr>
            <a:r>
              <a:rPr lang="en-US" sz="650" dirty="0">
                <a:solidFill>
                  <a:prstClr val="white"/>
                </a:solidFill>
              </a:rPr>
              <a:t>Presentation title</a:t>
            </a:r>
            <a:br>
              <a:rPr lang="en-US" sz="650" dirty="0">
                <a:solidFill>
                  <a:prstClr val="white"/>
                </a:solidFill>
              </a:rPr>
            </a:br>
            <a:r>
              <a:rPr lang="en-US" sz="650" dirty="0">
                <a:solidFill>
                  <a:prstClr val="white"/>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a:spcBef>
                <a:spcPts val="800"/>
              </a:spcBef>
              <a:buSzPct val="100000"/>
              <a:buFont typeface="Arial"/>
              <a:buNone/>
            </a:pPr>
            <a:r>
              <a:rPr lang="en-US" sz="650" dirty="0">
                <a:solidFill>
                  <a:prstClr val="white"/>
                </a:solidFill>
              </a:rPr>
              <a:t>Copyright © 2017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white"/>
                </a:solidFill>
              </a:rPr>
              <a:pPr algn="r">
                <a:spcBef>
                  <a:spcPts val="800"/>
                </a:spcBef>
                <a:buSzPct val="100000"/>
                <a:buFont typeface="Arial"/>
                <a:buNone/>
              </a:pPr>
              <a:t>‹#›</a:t>
            </a:fld>
            <a:endParaRPr lang="en-US" sz="650" dirty="0">
              <a:solidFill>
                <a:prstClr val="white"/>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495806030"/>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25937283"/>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31397603"/>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18920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vmlDrawing" Target="../drawings/vmlDrawing1.v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vmlDrawing" Target="../drawings/vmlDrawing2.vml"/><Relationship Id="rId2" Type="http://schemas.openxmlformats.org/officeDocument/2006/relationships/theme" Target="../theme/theme2.xml"/><Relationship Id="rId1" Type="http://schemas.openxmlformats.org/officeDocument/2006/relationships/slideLayout" Target="../slideLayouts/slideLayout41.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vmlDrawing" Target="../drawings/vmlDrawing3.v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theme" Target="../theme/theme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45" Type="http://schemas.openxmlformats.org/officeDocument/2006/relationships/image" Target="../media/image1.emf"/><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oleObject" Target="../embeddings/oleObject3.bin"/><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ext uri="{D42A27DB-BD31-4B8C-83A1-F6EECF244321}">
                <p14:modId xmlns:p14="http://schemas.microsoft.com/office/powerpoint/2010/main" val="1616855049"/>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7572" name="think-cell Slide" r:id="rId44" imgW="270" imgH="270" progId="TCLayout.ActiveDocument.1">
                  <p:embed/>
                </p:oleObj>
              </mc:Choice>
              <mc:Fallback>
                <p:oleObj name="think-cell Slide" r:id="rId44" imgW="270" imgH="270" progId="TCLayout.ActiveDocument.1">
                  <p:embed/>
                  <p:pic>
                    <p:nvPicPr>
                      <p:cNvPr id="0" name=""/>
                      <p:cNvPicPr/>
                      <p:nvPr/>
                    </p:nvPicPr>
                    <p:blipFill>
                      <a:blip r:embed="rId45"/>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Copyright"/>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dirty="0">
                <a:solidFill>
                  <a:schemeClr val="tx1"/>
                </a:solidFill>
                <a:latin typeface="+mn-lt"/>
              </a:rPr>
              <a:t>Copyright © 2017 Deloitte Development LLC. All rights reserved.</a:t>
            </a:r>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5" r:id="rId3"/>
    <p:sldLayoutId id="2147483756" r:id="rId4"/>
    <p:sldLayoutId id="2147483703" r:id="rId5"/>
    <p:sldLayoutId id="2147483704" r:id="rId6"/>
    <p:sldLayoutId id="2147483705" r:id="rId7"/>
    <p:sldLayoutId id="2147483706" r:id="rId8"/>
    <p:sldLayoutId id="2147483707" r:id="rId9"/>
    <p:sldLayoutId id="2147483713" r:id="rId10"/>
    <p:sldLayoutId id="2147483708" r:id="rId11"/>
    <p:sldLayoutId id="2147483710" r:id="rId12"/>
    <p:sldLayoutId id="2147483754" r:id="rId13"/>
    <p:sldLayoutId id="2147483711" r:id="rId14"/>
    <p:sldLayoutId id="2147483753" r:id="rId15"/>
    <p:sldLayoutId id="2147483679" r:id="rId16"/>
    <p:sldLayoutId id="2147483712" r:id="rId17"/>
    <p:sldLayoutId id="2147483678" r:id="rId18"/>
    <p:sldLayoutId id="2147483681" r:id="rId19"/>
    <p:sldLayoutId id="2147483735" r:id="rId20"/>
    <p:sldLayoutId id="2147483699" r:id="rId21"/>
    <p:sldLayoutId id="2147483714" r:id="rId22"/>
    <p:sldLayoutId id="2147483697" r:id="rId23"/>
    <p:sldLayoutId id="2147483718" r:id="rId24"/>
    <p:sldLayoutId id="2147483715" r:id="rId25"/>
    <p:sldLayoutId id="2147483716" r:id="rId26"/>
    <p:sldLayoutId id="2147483717" r:id="rId27"/>
    <p:sldLayoutId id="2147483728" r:id="rId28"/>
    <p:sldLayoutId id="2147483720" r:id="rId29"/>
    <p:sldLayoutId id="2147483721" r:id="rId30"/>
    <p:sldLayoutId id="2147483722" r:id="rId31"/>
    <p:sldLayoutId id="2147483695" r:id="rId32"/>
    <p:sldLayoutId id="2147483751" r:id="rId33"/>
    <p:sldLayoutId id="2147483724" r:id="rId34"/>
    <p:sldLayoutId id="2147483725" r:id="rId35"/>
    <p:sldLayoutId id="2147483726" r:id="rId36"/>
    <p:sldLayoutId id="2147483727" r:id="rId37"/>
    <p:sldLayoutId id="2147483698" r:id="rId38"/>
    <p:sldLayoutId id="2147483752" r:id="rId39"/>
    <p:sldLayoutId id="2147483696" r:id="rId40"/>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
            </p:custDataLs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936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black"/>
                </a:solidFill>
              </a:rPr>
              <a:pPr algn="r">
                <a:spcBef>
                  <a:spcPts val="800"/>
                </a:spcBef>
                <a:buSzPct val="100000"/>
                <a:buFont typeface="Arial"/>
                <a:buNone/>
              </a:pPr>
              <a:t>‹#›</a:t>
            </a:fld>
            <a:endParaRPr lang="en-US" sz="650" dirty="0">
              <a:solidFill>
                <a:prstClr val="black"/>
              </a:solidFill>
            </a:endParaRPr>
          </a:p>
        </p:txBody>
      </p:sp>
    </p:spTree>
    <p:extLst>
      <p:ext uri="{BB962C8B-B14F-4D97-AF65-F5344CB8AC3E}">
        <p14:creationId xmlns:p14="http://schemas.microsoft.com/office/powerpoint/2010/main" val="3416109137"/>
      </p:ext>
    </p:extLst>
  </p:cSld>
  <p:clrMap bg1="lt1" tx1="dk1" bg2="lt2" tx2="dk2" accent1="accent1" accent2="accent2" accent3="accent3" accent4="accent4" accent5="accent5" accent6="accent6" hlink="hlink" folHlink="folHlink"/>
  <p:sldLayoutIdLst>
    <p:sldLayoutId id="2147483771" r:id="rId1"/>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9" pos="4986">
          <p15:clr>
            <a:srgbClr val="F26B43"/>
          </p15:clr>
        </p15:guide>
        <p15:guide id="10" pos="1382">
          <p15:clr>
            <a:srgbClr val="F26B43"/>
          </p15:clr>
        </p15:guide>
        <p15:guide id="11" pos="1496">
          <p15:clr>
            <a:srgbClr val="F26B43"/>
          </p15:clr>
        </p15:guide>
        <p15:guide id="12" pos="2581">
          <p15:clr>
            <a:srgbClr val="F26B43"/>
          </p15:clr>
        </p15:guide>
        <p15:guide id="13" pos="2695">
          <p15:clr>
            <a:srgbClr val="F26B43"/>
          </p15:clr>
        </p15:guide>
        <p15:guide id="14" pos="6185">
          <p15:clr>
            <a:srgbClr val="F26B43"/>
          </p15:clr>
        </p15:guide>
        <p15:guide id="15" pos="3783">
          <p15:clr>
            <a:srgbClr val="F26B43"/>
          </p15:clr>
        </p15:guide>
        <p15:guide id="16" pos="3896">
          <p15:clr>
            <a:srgbClr val="F26B43"/>
          </p15:clr>
        </p15:guide>
        <p15:guide id="17" pos="3840">
          <p15:clr>
            <a:srgbClr val="F26B43"/>
          </p15:clr>
        </p15:guide>
        <p15:guide id="18" pos="6299">
          <p15:clr>
            <a:srgbClr val="F26B43"/>
          </p15:clr>
        </p15:guide>
        <p15:guide id="19" orient="horz" pos="1049">
          <p15:clr>
            <a:srgbClr val="F26B43"/>
          </p15:clr>
        </p15:guide>
        <p15:guide id="20" orient="horz" pos="641">
          <p15:clr>
            <a:srgbClr val="F26B43"/>
          </p15:clr>
        </p15:guide>
        <p15:guide id="21" orient="horz"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10250" name="think-cell Slide" r:id="rId44" imgW="270" imgH="270" progId="TCLayout.ActiveDocument.1">
                  <p:embed/>
                </p:oleObj>
              </mc:Choice>
              <mc:Fallback>
                <p:oleObj name="think-cell Slide" r:id="rId44" imgW="270" imgH="270" progId="TCLayout.ActiveDocument.1">
                  <p:embed/>
                  <p:pic>
                    <p:nvPicPr>
                      <p:cNvPr id="0" name=""/>
                      <p:cNvPicPr/>
                      <p:nvPr/>
                    </p:nvPicPr>
                    <p:blipFill>
                      <a:blip r:embed="rId45"/>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Copyright"/>
          <p:cNvSpPr txBox="1"/>
          <p:nvPr userDrawn="1"/>
        </p:nvSpPr>
        <p:spPr>
          <a:xfrm>
            <a:off x="469900" y="6477000"/>
            <a:ext cx="5355167" cy="100027"/>
          </a:xfrm>
          <a:prstGeom prst="rect">
            <a:avLst/>
          </a:prstGeom>
          <a:noFill/>
        </p:spPr>
        <p:txBody>
          <a:bodyPr vert="horz" wrap="square" lIns="0" tIns="0" rIns="0" bIns="0" rtlCol="0" anchor="t">
            <a:noAutofit/>
          </a:bodyPr>
          <a:lstStyle/>
          <a:p>
            <a:pPr>
              <a:spcBef>
                <a:spcPts val="800"/>
              </a:spcBef>
              <a:buSzPct val="100000"/>
              <a:buFont typeface="Arial"/>
              <a:buNone/>
            </a:pPr>
            <a:r>
              <a:rPr lang="en-US" sz="650" dirty="0">
                <a:solidFill>
                  <a:prstClr val="black"/>
                </a:solidFill>
              </a:rPr>
              <a:t>Copyright © 2017 Deloitte Development LLC. All rights reserved.</a:t>
            </a:r>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smtClean="0">
                <a:solidFill>
                  <a:prstClr val="black"/>
                </a:solidFill>
              </a:rPr>
              <a:pPr algn="r">
                <a:spcBef>
                  <a:spcPts val="800"/>
                </a:spcBef>
                <a:buSzPct val="100000"/>
                <a:buFont typeface="Arial"/>
                <a:buNone/>
              </a:pPr>
              <a:t>‹#›</a:t>
            </a:fld>
            <a:endParaRPr lang="en-US" sz="650" dirty="0">
              <a:solidFill>
                <a:prstClr val="black"/>
              </a:solidFill>
            </a:endParaRPr>
          </a:p>
        </p:txBody>
      </p:sp>
    </p:spTree>
    <p:extLst>
      <p:ext uri="{BB962C8B-B14F-4D97-AF65-F5344CB8AC3E}">
        <p14:creationId xmlns:p14="http://schemas.microsoft.com/office/powerpoint/2010/main" val="813121795"/>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 id="2147483810" r:id="rId38"/>
    <p:sldLayoutId id="2147483811" r:id="rId39"/>
    <p:sldLayoutId id="2147483812" r:id="rId40"/>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9" pos="4986">
          <p15:clr>
            <a:srgbClr val="F26B43"/>
          </p15:clr>
        </p15:guide>
        <p15:guide id="10" pos="1382">
          <p15:clr>
            <a:srgbClr val="F26B43"/>
          </p15:clr>
        </p15:guide>
        <p15:guide id="11" pos="1496">
          <p15:clr>
            <a:srgbClr val="F26B43"/>
          </p15:clr>
        </p15:guide>
        <p15:guide id="12" pos="2581">
          <p15:clr>
            <a:srgbClr val="F26B43"/>
          </p15:clr>
        </p15:guide>
        <p15:guide id="13" pos="2695">
          <p15:clr>
            <a:srgbClr val="F26B43"/>
          </p15:clr>
        </p15:guide>
        <p15:guide id="14" pos="6185">
          <p15:clr>
            <a:srgbClr val="F26B43"/>
          </p15:clr>
        </p15:guide>
        <p15:guide id="15" pos="3783">
          <p15:clr>
            <a:srgbClr val="F26B43"/>
          </p15:clr>
        </p15:guide>
        <p15:guide id="16" pos="3896">
          <p15:clr>
            <a:srgbClr val="F26B43"/>
          </p15:clr>
        </p15:guide>
        <p15:guide id="17" pos="3840">
          <p15:clr>
            <a:srgbClr val="F26B43"/>
          </p15:clr>
        </p15:guide>
        <p15:guide id="18" pos="6299">
          <p15:clr>
            <a:srgbClr val="F26B43"/>
          </p15:clr>
        </p15:guide>
        <p15:guide id="19" orient="horz" pos="1049">
          <p15:clr>
            <a:srgbClr val="F26B43"/>
          </p15:clr>
        </p15:guide>
        <p15:guide id="20" orient="horz" pos="641">
          <p15:clr>
            <a:srgbClr val="F26B43"/>
          </p15:clr>
        </p15:guide>
        <p15:guide id="21"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57.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hyperlink" Target="https://support.oracle.com/epmos/faces/DocumentDisplay?id=1603154.1" TargetMode="External"/><Relationship Id="rId2" Type="http://schemas.openxmlformats.org/officeDocument/2006/relationships/hyperlink" Target="https://cloud.oracle.com/en_US/readiness" TargetMode="External"/><Relationship Id="rId1" Type="http://schemas.openxmlformats.org/officeDocument/2006/relationships/slideLayout" Target="../slideLayouts/slideLayout16.xml"/><Relationship Id="rId4" Type="http://schemas.openxmlformats.org/officeDocument/2006/relationships/hyperlink" Target="https://support.oracle.com/epmos/faces/DocumentDisplay?id=1573674.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15" r="15"/>
          <a:stretch>
            <a:fillRect/>
          </a:stretch>
        </p:blipFill>
        <p:spPr/>
      </p:pic>
      <p:sp>
        <p:nvSpPr>
          <p:cNvPr id="4" name="Subtitle 3"/>
          <p:cNvSpPr>
            <a:spLocks noGrp="1"/>
          </p:cNvSpPr>
          <p:nvPr>
            <p:ph type="subTitle" idx="1"/>
          </p:nvPr>
        </p:nvSpPr>
        <p:spPr>
          <a:xfrm>
            <a:off x="475325" y="5399666"/>
            <a:ext cx="7781982" cy="817772"/>
          </a:xfrm>
        </p:spPr>
        <p:txBody>
          <a:bodyPr/>
          <a:lstStyle/>
          <a:p>
            <a:r>
              <a:rPr lang="en-US" dirty="0"/>
              <a:t>Cloud Release Management: Including Testing Automation </a:t>
            </a:r>
          </a:p>
          <a:p>
            <a:pPr lvl="1"/>
            <a:r>
              <a:rPr lang="en-US" sz="1800" b="1" dirty="0">
                <a:solidFill>
                  <a:schemeClr val="accent1"/>
                </a:solidFill>
              </a:rPr>
              <a:t>Deloitte’s Approach and Value Drivers</a:t>
            </a:r>
          </a:p>
        </p:txBody>
      </p:sp>
      <p:sp>
        <p:nvSpPr>
          <p:cNvPr id="5" name="Text Placeholder 4"/>
          <p:cNvSpPr>
            <a:spLocks noGrp="1"/>
          </p:cNvSpPr>
          <p:nvPr>
            <p:ph type="body" sz="quarter" idx="10"/>
          </p:nvPr>
        </p:nvSpPr>
        <p:spPr>
          <a:xfrm>
            <a:off x="475325" y="6307281"/>
            <a:ext cx="5594349" cy="298451"/>
          </a:xfrm>
        </p:spPr>
        <p:txBody>
          <a:bodyPr/>
          <a:lstStyle/>
          <a:p>
            <a:r>
              <a:rPr lang="en-US" dirty="0"/>
              <a:t>January 2018</a:t>
            </a:r>
            <a:endParaRPr lang="it-IT" dirty="0"/>
          </a:p>
        </p:txBody>
      </p:sp>
    </p:spTree>
    <p:extLst>
      <p:ext uri="{BB962C8B-B14F-4D97-AF65-F5344CB8AC3E}">
        <p14:creationId xmlns:p14="http://schemas.microsoft.com/office/powerpoint/2010/main" val="8619572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US" dirty="0"/>
              <a:t>To stay updated with the latest patch set provided by Oracle in ERP cloud environment, agility in deployments, continuity to the business operations and limiting constraints</a:t>
            </a:r>
          </a:p>
        </p:txBody>
      </p:sp>
      <p:sp>
        <p:nvSpPr>
          <p:cNvPr id="4" name="Title 3"/>
          <p:cNvSpPr>
            <a:spLocks noGrp="1"/>
          </p:cNvSpPr>
          <p:nvPr>
            <p:ph type="title"/>
          </p:nvPr>
        </p:nvSpPr>
        <p:spPr/>
        <p:txBody>
          <a:bodyPr/>
          <a:lstStyle/>
          <a:p>
            <a:r>
              <a:rPr lang="en-US"/>
              <a:t>Problem Statement</a:t>
            </a:r>
            <a:endParaRPr lang="en-US" dirty="0"/>
          </a:p>
        </p:txBody>
      </p:sp>
      <p:grpSp>
        <p:nvGrpSpPr>
          <p:cNvPr id="5" name="Group 4"/>
          <p:cNvGrpSpPr/>
          <p:nvPr/>
        </p:nvGrpSpPr>
        <p:grpSpPr>
          <a:xfrm>
            <a:off x="1163806" y="1930585"/>
            <a:ext cx="9864388" cy="3929198"/>
            <a:chOff x="753190" y="1858946"/>
            <a:chExt cx="10281958" cy="4148434"/>
          </a:xfrm>
        </p:grpSpPr>
        <p:grpSp>
          <p:nvGrpSpPr>
            <p:cNvPr id="2" name="Group 1"/>
            <p:cNvGrpSpPr/>
            <p:nvPr/>
          </p:nvGrpSpPr>
          <p:grpSpPr>
            <a:xfrm>
              <a:off x="753190" y="1858946"/>
              <a:ext cx="10281958" cy="4148434"/>
              <a:chOff x="67389" y="2280116"/>
              <a:chExt cx="10281958" cy="3862157"/>
            </a:xfrm>
          </p:grpSpPr>
          <p:graphicFrame>
            <p:nvGraphicFramePr>
              <p:cNvPr id="62" name="Chart 61"/>
              <p:cNvGraphicFramePr/>
              <p:nvPr>
                <p:extLst>
                  <p:ext uri="{D42A27DB-BD31-4B8C-83A1-F6EECF244321}">
                    <p14:modId xmlns:p14="http://schemas.microsoft.com/office/powerpoint/2010/main" val="704293925"/>
                  </p:ext>
                </p:extLst>
              </p:nvPr>
            </p:nvGraphicFramePr>
            <p:xfrm>
              <a:off x="3684714" y="3803389"/>
              <a:ext cx="2917858" cy="1952368"/>
            </p:xfrm>
            <a:graphic>
              <a:graphicData uri="http://schemas.openxmlformats.org/drawingml/2006/chart">
                <c:chart xmlns:c="http://schemas.openxmlformats.org/drawingml/2006/chart" xmlns:r="http://schemas.openxmlformats.org/officeDocument/2006/relationships" r:id="rId3"/>
              </a:graphicData>
            </a:graphic>
          </p:graphicFrame>
          <p:grpSp>
            <p:nvGrpSpPr>
              <p:cNvPr id="63" name="Group 62"/>
              <p:cNvGrpSpPr>
                <a:grpSpLocks noChangeAspect="1"/>
              </p:cNvGrpSpPr>
              <p:nvPr/>
            </p:nvGrpSpPr>
            <p:grpSpPr>
              <a:xfrm rot="18900000">
                <a:off x="4720792" y="3567236"/>
                <a:ext cx="822960" cy="822960"/>
                <a:chOff x="7606853" y="246063"/>
                <a:chExt cx="896937" cy="896937"/>
              </a:xfrm>
              <a:solidFill>
                <a:srgbClr val="DCDCDC"/>
              </a:solidFill>
            </p:grpSpPr>
            <p:sp>
              <p:nvSpPr>
                <p:cNvPr id="64" name="Teardrop 63"/>
                <p:cNvSpPr/>
                <p:nvPr/>
              </p:nvSpPr>
              <p:spPr>
                <a:xfrm>
                  <a:off x="7606853" y="246063"/>
                  <a:ext cx="896937" cy="896937"/>
                </a:xfrm>
                <a:prstGeom prst="teardrop">
                  <a:avLst/>
                </a:prstGeom>
                <a:solidFill>
                  <a:schemeClr val="accent6">
                    <a:lumMod val="60000"/>
                    <a:lumOff val="40000"/>
                  </a:scheme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Arial"/>
                    <a:ea typeface="+mn-ea"/>
                    <a:cs typeface="+mn-cs"/>
                  </a:endParaRPr>
                </a:p>
              </p:txBody>
            </p:sp>
            <p:sp>
              <p:nvSpPr>
                <p:cNvPr id="65" name="Oval 64"/>
                <p:cNvSpPr/>
                <p:nvPr/>
              </p:nvSpPr>
              <p:spPr>
                <a:xfrm>
                  <a:off x="7647296" y="280457"/>
                  <a:ext cx="822602" cy="822602"/>
                </a:xfrm>
                <a:prstGeom prst="ellipse">
                  <a:avLst/>
                </a:prstGeom>
                <a:solidFill>
                  <a:schemeClr val="accent6"/>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Arial"/>
                    <a:ea typeface="+mn-ea"/>
                    <a:cs typeface="+mn-cs"/>
                  </a:endParaRPr>
                </a:p>
              </p:txBody>
            </p:sp>
          </p:grpSp>
          <p:sp>
            <p:nvSpPr>
              <p:cNvPr id="66" name="Teardrop 65"/>
              <p:cNvSpPr/>
              <p:nvPr/>
            </p:nvSpPr>
            <p:spPr>
              <a:xfrm rot="11700000">
                <a:off x="3943366" y="4673170"/>
                <a:ext cx="822960" cy="822960"/>
              </a:xfrm>
              <a:prstGeom prst="teardrop">
                <a:avLst/>
              </a:prstGeom>
              <a:solidFill>
                <a:schemeClr val="accent5">
                  <a:lumMod val="60000"/>
                  <a:lumOff val="40000"/>
                </a:scheme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Arial"/>
                  <a:ea typeface="+mn-ea"/>
                  <a:cs typeface="+mn-cs"/>
                </a:endParaRPr>
              </a:p>
            </p:txBody>
          </p:sp>
          <p:sp>
            <p:nvSpPr>
              <p:cNvPr id="67" name="Oval 66"/>
              <p:cNvSpPr/>
              <p:nvPr/>
            </p:nvSpPr>
            <p:spPr>
              <a:xfrm rot="11700000">
                <a:off x="3966983" y="4708952"/>
                <a:ext cx="754756" cy="754756"/>
              </a:xfrm>
              <a:prstGeom prst="ellipse">
                <a:avLst/>
              </a:prstGeom>
              <a:solidFill>
                <a:schemeClr val="accent5"/>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Arial"/>
                  <a:ea typeface="+mn-ea"/>
                  <a:cs typeface="+mn-cs"/>
                </a:endParaRPr>
              </a:p>
            </p:txBody>
          </p:sp>
          <p:grpSp>
            <p:nvGrpSpPr>
              <p:cNvPr id="68" name="Group 67"/>
              <p:cNvGrpSpPr>
                <a:grpSpLocks noChangeAspect="1"/>
              </p:cNvGrpSpPr>
              <p:nvPr/>
            </p:nvGrpSpPr>
            <p:grpSpPr>
              <a:xfrm rot="4776862">
                <a:off x="5417942" y="4709005"/>
                <a:ext cx="822960" cy="822960"/>
                <a:chOff x="7606853" y="246063"/>
                <a:chExt cx="896937" cy="896937"/>
              </a:xfrm>
              <a:solidFill>
                <a:srgbClr val="72C7E7"/>
              </a:solidFill>
            </p:grpSpPr>
            <p:sp>
              <p:nvSpPr>
                <p:cNvPr id="69" name="Teardrop 68"/>
                <p:cNvSpPr/>
                <p:nvPr/>
              </p:nvSpPr>
              <p:spPr>
                <a:xfrm>
                  <a:off x="7606853" y="246063"/>
                  <a:ext cx="896937" cy="896937"/>
                </a:xfrm>
                <a:prstGeom prst="teardrop">
                  <a:avLst/>
                </a:prstGeom>
                <a:solidFill>
                  <a:schemeClr val="accent3">
                    <a:lumMod val="40000"/>
                    <a:lumOff val="60000"/>
                  </a:scheme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Arial"/>
                    <a:ea typeface="+mn-ea"/>
                    <a:cs typeface="+mn-cs"/>
                  </a:endParaRPr>
                </a:p>
              </p:txBody>
            </p:sp>
            <p:sp>
              <p:nvSpPr>
                <p:cNvPr id="70" name="Oval 69"/>
                <p:cNvSpPr/>
                <p:nvPr/>
              </p:nvSpPr>
              <p:spPr>
                <a:xfrm>
                  <a:off x="7647293" y="280458"/>
                  <a:ext cx="822602" cy="822602"/>
                </a:xfrm>
                <a:prstGeom prst="ellipse">
                  <a:avLst/>
                </a:prstGeom>
                <a:solidFill>
                  <a:schemeClr val="accent3"/>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Arial"/>
                    <a:ea typeface="+mn-ea"/>
                    <a:cs typeface="+mn-cs"/>
                  </a:endParaRPr>
                </a:p>
              </p:txBody>
            </p:sp>
          </p:grpSp>
          <p:sp>
            <p:nvSpPr>
              <p:cNvPr id="71" name="Rounded Rectangle 70"/>
              <p:cNvSpPr/>
              <p:nvPr/>
            </p:nvSpPr>
            <p:spPr>
              <a:xfrm>
                <a:off x="2808243" y="2280116"/>
                <a:ext cx="4648057" cy="1097280"/>
              </a:xfrm>
              <a:prstGeom prst="roundRect">
                <a:avLst>
                  <a:gd name="adj" fmla="val 10178"/>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oAutofit/>
              </a:bodyPr>
              <a:lstStyle/>
              <a:p>
                <a:r>
                  <a:rPr lang="en-US" sz="1100" b="1" dirty="0">
                    <a:solidFill>
                      <a:schemeClr val="bg1"/>
                    </a:solidFill>
                  </a:rPr>
                  <a:t>Agile Deployments</a:t>
                </a:r>
              </a:p>
              <a:p>
                <a:r>
                  <a:rPr lang="en-US" altLang="en-US" sz="1100" dirty="0">
                    <a:solidFill>
                      <a:schemeClr val="bg1"/>
                    </a:solidFill>
                  </a:rPr>
                  <a:t>Oracle Cloud ERP deployments require project teams to frequently deliver product releases of potentially deployable components and features often resulting in more frequent testing.</a:t>
                </a:r>
              </a:p>
              <a:p>
                <a:endParaRPr lang="en-US" sz="1100" b="1" dirty="0">
                  <a:solidFill>
                    <a:schemeClr val="bg1"/>
                  </a:solidFill>
                </a:endParaRPr>
              </a:p>
            </p:txBody>
          </p:sp>
          <p:sp>
            <p:nvSpPr>
              <p:cNvPr id="72" name="Rounded Rectangle 71"/>
              <p:cNvSpPr/>
              <p:nvPr/>
            </p:nvSpPr>
            <p:spPr>
              <a:xfrm>
                <a:off x="67389" y="4998460"/>
                <a:ext cx="3762194" cy="1143813"/>
              </a:xfrm>
              <a:prstGeom prst="roundRect">
                <a:avLst>
                  <a:gd name="adj" fmla="val 10178"/>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oAutofit/>
              </a:bodyPr>
              <a:lstStyle/>
              <a:p>
                <a:r>
                  <a:rPr lang="en-US" sz="1100" b="1" dirty="0">
                    <a:solidFill>
                      <a:schemeClr val="bg1"/>
                    </a:solidFill>
                  </a:rPr>
                  <a:t>Frequent Patching &amp; Business Continuity</a:t>
                </a:r>
              </a:p>
              <a:p>
                <a:r>
                  <a:rPr lang="en-US" sz="1100" dirty="0">
                    <a:solidFill>
                      <a:schemeClr val="bg1"/>
                    </a:solidFill>
                  </a:rPr>
                  <a:t>Oracle performs frequent patching and updates to keep capabilities up to date resulting in </a:t>
                </a:r>
                <a:r>
                  <a:rPr lang="en-US" altLang="en-US" sz="1100" dirty="0">
                    <a:solidFill>
                      <a:schemeClr val="bg1"/>
                    </a:solidFill>
                  </a:rPr>
                  <a:t>frequent testing of impact areas in the current solution and minimal disruption – both to business operations and resources</a:t>
                </a:r>
              </a:p>
            </p:txBody>
          </p:sp>
          <p:sp>
            <p:nvSpPr>
              <p:cNvPr id="73" name="Rounded Rectangle 72"/>
              <p:cNvSpPr/>
              <p:nvPr/>
            </p:nvSpPr>
            <p:spPr>
              <a:xfrm>
                <a:off x="6305573" y="4998460"/>
                <a:ext cx="4043774" cy="1143813"/>
              </a:xfrm>
              <a:prstGeom prst="roundRect">
                <a:avLst>
                  <a:gd name="adj" fmla="val 10178"/>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oAutofit/>
              </a:bodyPr>
              <a:lstStyle/>
              <a:p>
                <a:r>
                  <a:rPr lang="en-US" sz="1100" b="1" dirty="0">
                    <a:solidFill>
                      <a:schemeClr val="bg1"/>
                    </a:solidFill>
                  </a:rPr>
                  <a:t>Resource / Budget  Constraints</a:t>
                </a:r>
              </a:p>
              <a:p>
                <a:r>
                  <a:rPr lang="en-US" sz="1100" dirty="0">
                    <a:solidFill>
                      <a:schemeClr val="bg1"/>
                    </a:solidFill>
                  </a:rPr>
                  <a:t>Optimization and managing IT spend are key drivers in automation of repetitive tasks. It has become imperative companies cannot dedicated resources and budget on recurring activities like testing all the time.</a:t>
                </a:r>
              </a:p>
            </p:txBody>
          </p:sp>
        </p:grpSp>
        <p:grpSp>
          <p:nvGrpSpPr>
            <p:cNvPr id="18" name="Group 777"/>
            <p:cNvGrpSpPr>
              <a:grpSpLocks noChangeAspect="1"/>
            </p:cNvGrpSpPr>
            <p:nvPr/>
          </p:nvGrpSpPr>
          <p:grpSpPr bwMode="auto">
            <a:xfrm>
              <a:off x="5587461" y="3450744"/>
              <a:ext cx="457200" cy="457200"/>
              <a:chOff x="1121" y="2719"/>
              <a:chExt cx="340" cy="340"/>
            </a:xfrm>
            <a:solidFill>
              <a:schemeClr val="bg1"/>
            </a:solidFill>
          </p:grpSpPr>
          <p:sp>
            <p:nvSpPr>
              <p:cNvPr id="19" name="Freeform 778"/>
              <p:cNvSpPr>
                <a:spLocks noEditPoints="1"/>
              </p:cNvSpPr>
              <p:nvPr/>
            </p:nvSpPr>
            <p:spPr bwMode="auto">
              <a:xfrm>
                <a:off x="1121" y="271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bg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0" name="Freeform 779"/>
              <p:cNvSpPr>
                <a:spLocks noEditPoints="1"/>
              </p:cNvSpPr>
              <p:nvPr/>
            </p:nvSpPr>
            <p:spPr bwMode="auto">
              <a:xfrm>
                <a:off x="1185" y="2804"/>
                <a:ext cx="212" cy="170"/>
              </a:xfrm>
              <a:custGeom>
                <a:avLst/>
                <a:gdLst>
                  <a:gd name="T0" fmla="*/ 199 w 320"/>
                  <a:gd name="T1" fmla="*/ 135 h 256"/>
                  <a:gd name="T2" fmla="*/ 192 w 320"/>
                  <a:gd name="T3" fmla="*/ 138 h 256"/>
                  <a:gd name="T4" fmla="*/ 184 w 320"/>
                  <a:gd name="T5" fmla="*/ 135 h 256"/>
                  <a:gd name="T6" fmla="*/ 170 w 320"/>
                  <a:gd name="T7" fmla="*/ 121 h 256"/>
                  <a:gd name="T8" fmla="*/ 170 w 320"/>
                  <a:gd name="T9" fmla="*/ 245 h 256"/>
                  <a:gd name="T10" fmla="*/ 160 w 320"/>
                  <a:gd name="T11" fmla="*/ 256 h 256"/>
                  <a:gd name="T12" fmla="*/ 149 w 320"/>
                  <a:gd name="T13" fmla="*/ 245 h 256"/>
                  <a:gd name="T14" fmla="*/ 149 w 320"/>
                  <a:gd name="T15" fmla="*/ 121 h 256"/>
                  <a:gd name="T16" fmla="*/ 135 w 320"/>
                  <a:gd name="T17" fmla="*/ 135 h 256"/>
                  <a:gd name="T18" fmla="*/ 120 w 320"/>
                  <a:gd name="T19" fmla="*/ 135 h 256"/>
                  <a:gd name="T20" fmla="*/ 120 w 320"/>
                  <a:gd name="T21" fmla="*/ 120 h 256"/>
                  <a:gd name="T22" fmla="*/ 152 w 320"/>
                  <a:gd name="T23" fmla="*/ 88 h 256"/>
                  <a:gd name="T24" fmla="*/ 156 w 320"/>
                  <a:gd name="T25" fmla="*/ 86 h 256"/>
                  <a:gd name="T26" fmla="*/ 164 w 320"/>
                  <a:gd name="T27" fmla="*/ 86 h 256"/>
                  <a:gd name="T28" fmla="*/ 167 w 320"/>
                  <a:gd name="T29" fmla="*/ 88 h 256"/>
                  <a:gd name="T30" fmla="*/ 199 w 320"/>
                  <a:gd name="T31" fmla="*/ 120 h 256"/>
                  <a:gd name="T32" fmla="*/ 199 w 320"/>
                  <a:gd name="T33" fmla="*/ 135 h 256"/>
                  <a:gd name="T34" fmla="*/ 266 w 320"/>
                  <a:gd name="T35" fmla="*/ 85 h 256"/>
                  <a:gd name="T36" fmla="*/ 262 w 320"/>
                  <a:gd name="T37" fmla="*/ 85 h 256"/>
                  <a:gd name="T38" fmla="*/ 176 w 320"/>
                  <a:gd name="T39" fmla="*/ 0 h 256"/>
                  <a:gd name="T40" fmla="*/ 94 w 320"/>
                  <a:gd name="T41" fmla="*/ 55 h 256"/>
                  <a:gd name="T42" fmla="*/ 71 w 320"/>
                  <a:gd name="T43" fmla="*/ 50 h 256"/>
                  <a:gd name="T44" fmla="*/ 0 w 320"/>
                  <a:gd name="T45" fmla="*/ 121 h 256"/>
                  <a:gd name="T46" fmla="*/ 71 w 320"/>
                  <a:gd name="T47" fmla="*/ 192 h 256"/>
                  <a:gd name="T48" fmla="*/ 106 w 320"/>
                  <a:gd name="T49" fmla="*/ 192 h 256"/>
                  <a:gd name="T50" fmla="*/ 117 w 320"/>
                  <a:gd name="T51" fmla="*/ 181 h 256"/>
                  <a:gd name="T52" fmla="*/ 106 w 320"/>
                  <a:gd name="T53" fmla="*/ 170 h 256"/>
                  <a:gd name="T54" fmla="*/ 71 w 320"/>
                  <a:gd name="T55" fmla="*/ 170 h 256"/>
                  <a:gd name="T56" fmla="*/ 21 w 320"/>
                  <a:gd name="T57" fmla="*/ 121 h 256"/>
                  <a:gd name="T58" fmla="*/ 71 w 320"/>
                  <a:gd name="T59" fmla="*/ 71 h 256"/>
                  <a:gd name="T60" fmla="*/ 95 w 320"/>
                  <a:gd name="T61" fmla="*/ 79 h 256"/>
                  <a:gd name="T62" fmla="*/ 105 w 320"/>
                  <a:gd name="T63" fmla="*/ 80 h 256"/>
                  <a:gd name="T64" fmla="*/ 111 w 320"/>
                  <a:gd name="T65" fmla="*/ 73 h 256"/>
                  <a:gd name="T66" fmla="*/ 176 w 320"/>
                  <a:gd name="T67" fmla="*/ 21 h 256"/>
                  <a:gd name="T68" fmla="*/ 241 w 320"/>
                  <a:gd name="T69" fmla="*/ 86 h 256"/>
                  <a:gd name="T70" fmla="*/ 240 w 320"/>
                  <a:gd name="T71" fmla="*/ 94 h 256"/>
                  <a:gd name="T72" fmla="*/ 239 w 320"/>
                  <a:gd name="T73" fmla="*/ 99 h 256"/>
                  <a:gd name="T74" fmla="*/ 243 w 320"/>
                  <a:gd name="T75" fmla="*/ 109 h 256"/>
                  <a:gd name="T76" fmla="*/ 255 w 320"/>
                  <a:gd name="T77" fmla="*/ 110 h 256"/>
                  <a:gd name="T78" fmla="*/ 266 w 320"/>
                  <a:gd name="T79" fmla="*/ 106 h 256"/>
                  <a:gd name="T80" fmla="*/ 298 w 320"/>
                  <a:gd name="T81" fmla="*/ 138 h 256"/>
                  <a:gd name="T82" fmla="*/ 266 w 320"/>
                  <a:gd name="T83" fmla="*/ 170 h 256"/>
                  <a:gd name="T84" fmla="*/ 213 w 320"/>
                  <a:gd name="T85" fmla="*/ 170 h 256"/>
                  <a:gd name="T86" fmla="*/ 202 w 320"/>
                  <a:gd name="T87" fmla="*/ 181 h 256"/>
                  <a:gd name="T88" fmla="*/ 213 w 320"/>
                  <a:gd name="T89" fmla="*/ 192 h 256"/>
                  <a:gd name="T90" fmla="*/ 266 w 320"/>
                  <a:gd name="T91" fmla="*/ 192 h 256"/>
                  <a:gd name="T92" fmla="*/ 320 w 320"/>
                  <a:gd name="T93" fmla="*/ 138 h 256"/>
                  <a:gd name="T94" fmla="*/ 266 w 320"/>
                  <a:gd name="T95" fmla="*/ 8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0" h="256">
                    <a:moveTo>
                      <a:pt x="199" y="135"/>
                    </a:moveTo>
                    <a:cubicBezTo>
                      <a:pt x="197" y="137"/>
                      <a:pt x="194" y="138"/>
                      <a:pt x="192" y="138"/>
                    </a:cubicBezTo>
                    <a:cubicBezTo>
                      <a:pt x="189" y="138"/>
                      <a:pt x="186" y="137"/>
                      <a:pt x="184" y="135"/>
                    </a:cubicBezTo>
                    <a:cubicBezTo>
                      <a:pt x="170" y="121"/>
                      <a:pt x="170" y="121"/>
                      <a:pt x="170" y="121"/>
                    </a:cubicBezTo>
                    <a:cubicBezTo>
                      <a:pt x="170" y="245"/>
                      <a:pt x="170" y="245"/>
                      <a:pt x="170" y="245"/>
                    </a:cubicBezTo>
                    <a:cubicBezTo>
                      <a:pt x="170" y="251"/>
                      <a:pt x="166" y="256"/>
                      <a:pt x="160" y="256"/>
                    </a:cubicBezTo>
                    <a:cubicBezTo>
                      <a:pt x="154" y="256"/>
                      <a:pt x="149" y="251"/>
                      <a:pt x="149" y="245"/>
                    </a:cubicBezTo>
                    <a:cubicBezTo>
                      <a:pt x="149" y="121"/>
                      <a:pt x="149" y="121"/>
                      <a:pt x="149" y="121"/>
                    </a:cubicBezTo>
                    <a:cubicBezTo>
                      <a:pt x="135" y="135"/>
                      <a:pt x="135" y="135"/>
                      <a:pt x="135" y="135"/>
                    </a:cubicBezTo>
                    <a:cubicBezTo>
                      <a:pt x="131" y="139"/>
                      <a:pt x="124" y="139"/>
                      <a:pt x="120" y="135"/>
                    </a:cubicBezTo>
                    <a:cubicBezTo>
                      <a:pt x="116" y="131"/>
                      <a:pt x="116" y="124"/>
                      <a:pt x="120" y="120"/>
                    </a:cubicBezTo>
                    <a:cubicBezTo>
                      <a:pt x="152" y="88"/>
                      <a:pt x="152" y="88"/>
                      <a:pt x="152" y="88"/>
                    </a:cubicBezTo>
                    <a:cubicBezTo>
                      <a:pt x="153" y="87"/>
                      <a:pt x="154" y="86"/>
                      <a:pt x="156" y="86"/>
                    </a:cubicBezTo>
                    <a:cubicBezTo>
                      <a:pt x="158" y="85"/>
                      <a:pt x="161" y="85"/>
                      <a:pt x="164" y="86"/>
                    </a:cubicBezTo>
                    <a:cubicBezTo>
                      <a:pt x="165" y="86"/>
                      <a:pt x="166" y="87"/>
                      <a:pt x="167" y="88"/>
                    </a:cubicBezTo>
                    <a:cubicBezTo>
                      <a:pt x="199" y="120"/>
                      <a:pt x="199" y="120"/>
                      <a:pt x="199" y="120"/>
                    </a:cubicBezTo>
                    <a:cubicBezTo>
                      <a:pt x="203" y="124"/>
                      <a:pt x="203" y="131"/>
                      <a:pt x="199" y="135"/>
                    </a:cubicBezTo>
                    <a:close/>
                    <a:moveTo>
                      <a:pt x="266" y="85"/>
                    </a:moveTo>
                    <a:cubicBezTo>
                      <a:pt x="265" y="85"/>
                      <a:pt x="264" y="85"/>
                      <a:pt x="262" y="85"/>
                    </a:cubicBezTo>
                    <a:cubicBezTo>
                      <a:pt x="262" y="38"/>
                      <a:pt x="223" y="0"/>
                      <a:pt x="176" y="0"/>
                    </a:cubicBezTo>
                    <a:cubicBezTo>
                      <a:pt x="139" y="0"/>
                      <a:pt x="107" y="22"/>
                      <a:pt x="94" y="55"/>
                    </a:cubicBezTo>
                    <a:cubicBezTo>
                      <a:pt x="87" y="52"/>
                      <a:pt x="80" y="50"/>
                      <a:pt x="71" y="50"/>
                    </a:cubicBezTo>
                    <a:cubicBezTo>
                      <a:pt x="31" y="50"/>
                      <a:pt x="0" y="82"/>
                      <a:pt x="0" y="121"/>
                    </a:cubicBezTo>
                    <a:cubicBezTo>
                      <a:pt x="0" y="160"/>
                      <a:pt x="31" y="192"/>
                      <a:pt x="71" y="192"/>
                    </a:cubicBezTo>
                    <a:cubicBezTo>
                      <a:pt x="106" y="192"/>
                      <a:pt x="106" y="192"/>
                      <a:pt x="106" y="192"/>
                    </a:cubicBezTo>
                    <a:cubicBezTo>
                      <a:pt x="112" y="192"/>
                      <a:pt x="117" y="187"/>
                      <a:pt x="117" y="181"/>
                    </a:cubicBezTo>
                    <a:cubicBezTo>
                      <a:pt x="117" y="175"/>
                      <a:pt x="112" y="170"/>
                      <a:pt x="106" y="170"/>
                    </a:cubicBezTo>
                    <a:cubicBezTo>
                      <a:pt x="71" y="170"/>
                      <a:pt x="71" y="170"/>
                      <a:pt x="71" y="170"/>
                    </a:cubicBezTo>
                    <a:cubicBezTo>
                      <a:pt x="43" y="170"/>
                      <a:pt x="21" y="148"/>
                      <a:pt x="21" y="121"/>
                    </a:cubicBezTo>
                    <a:cubicBezTo>
                      <a:pt x="21" y="93"/>
                      <a:pt x="43" y="71"/>
                      <a:pt x="71" y="71"/>
                    </a:cubicBezTo>
                    <a:cubicBezTo>
                      <a:pt x="80" y="71"/>
                      <a:pt x="87" y="74"/>
                      <a:pt x="95" y="79"/>
                    </a:cubicBezTo>
                    <a:cubicBezTo>
                      <a:pt x="98" y="81"/>
                      <a:pt x="101" y="82"/>
                      <a:pt x="105" y="80"/>
                    </a:cubicBezTo>
                    <a:cubicBezTo>
                      <a:pt x="108" y="79"/>
                      <a:pt x="110" y="76"/>
                      <a:pt x="111" y="73"/>
                    </a:cubicBezTo>
                    <a:cubicBezTo>
                      <a:pt x="117" y="43"/>
                      <a:pt x="145" y="21"/>
                      <a:pt x="176" y="21"/>
                    </a:cubicBezTo>
                    <a:cubicBezTo>
                      <a:pt x="212" y="21"/>
                      <a:pt x="241" y="50"/>
                      <a:pt x="241" y="86"/>
                    </a:cubicBezTo>
                    <a:cubicBezTo>
                      <a:pt x="241" y="89"/>
                      <a:pt x="240" y="91"/>
                      <a:pt x="240" y="94"/>
                    </a:cubicBezTo>
                    <a:cubicBezTo>
                      <a:pt x="240" y="96"/>
                      <a:pt x="240" y="97"/>
                      <a:pt x="239" y="99"/>
                    </a:cubicBezTo>
                    <a:cubicBezTo>
                      <a:pt x="238" y="103"/>
                      <a:pt x="240" y="107"/>
                      <a:pt x="243" y="109"/>
                    </a:cubicBezTo>
                    <a:cubicBezTo>
                      <a:pt x="247" y="112"/>
                      <a:pt x="251" y="112"/>
                      <a:pt x="255" y="110"/>
                    </a:cubicBezTo>
                    <a:cubicBezTo>
                      <a:pt x="261" y="107"/>
                      <a:pt x="265" y="106"/>
                      <a:pt x="266" y="106"/>
                    </a:cubicBezTo>
                    <a:cubicBezTo>
                      <a:pt x="284" y="106"/>
                      <a:pt x="298" y="121"/>
                      <a:pt x="298" y="138"/>
                    </a:cubicBezTo>
                    <a:cubicBezTo>
                      <a:pt x="298" y="156"/>
                      <a:pt x="284" y="170"/>
                      <a:pt x="266" y="170"/>
                    </a:cubicBezTo>
                    <a:cubicBezTo>
                      <a:pt x="213" y="170"/>
                      <a:pt x="213" y="170"/>
                      <a:pt x="213" y="170"/>
                    </a:cubicBezTo>
                    <a:cubicBezTo>
                      <a:pt x="207" y="170"/>
                      <a:pt x="202" y="175"/>
                      <a:pt x="202" y="181"/>
                    </a:cubicBezTo>
                    <a:cubicBezTo>
                      <a:pt x="202" y="187"/>
                      <a:pt x="207" y="192"/>
                      <a:pt x="213" y="192"/>
                    </a:cubicBezTo>
                    <a:cubicBezTo>
                      <a:pt x="266" y="192"/>
                      <a:pt x="266" y="192"/>
                      <a:pt x="266" y="192"/>
                    </a:cubicBezTo>
                    <a:cubicBezTo>
                      <a:pt x="296" y="192"/>
                      <a:pt x="320" y="168"/>
                      <a:pt x="320" y="138"/>
                    </a:cubicBezTo>
                    <a:cubicBezTo>
                      <a:pt x="320" y="109"/>
                      <a:pt x="296" y="85"/>
                      <a:pt x="266" y="85"/>
                    </a:cubicBezTo>
                    <a:close/>
                  </a:path>
                </a:pathLst>
              </a:custGeom>
              <a:grpFill/>
              <a:ln>
                <a:solidFill>
                  <a:schemeClr val="bg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2" name="Group 285"/>
            <p:cNvGrpSpPr>
              <a:grpSpLocks noChangeAspect="1"/>
            </p:cNvGrpSpPr>
            <p:nvPr/>
          </p:nvGrpSpPr>
          <p:grpSpPr bwMode="auto">
            <a:xfrm>
              <a:off x="4822343" y="4626174"/>
              <a:ext cx="457200" cy="455860"/>
              <a:chOff x="388" y="758"/>
              <a:chExt cx="341" cy="340"/>
            </a:xfrm>
            <a:solidFill>
              <a:schemeClr val="bg1"/>
            </a:solidFill>
          </p:grpSpPr>
          <p:sp>
            <p:nvSpPr>
              <p:cNvPr id="23" name="Freeform 286"/>
              <p:cNvSpPr>
                <a:spLocks noEditPoints="1"/>
              </p:cNvSpPr>
              <p:nvPr/>
            </p:nvSpPr>
            <p:spPr bwMode="auto">
              <a:xfrm>
                <a:off x="462" y="834"/>
                <a:ext cx="192" cy="192"/>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4" name="Freeform 287"/>
              <p:cNvSpPr>
                <a:spLocks noEditPoints="1"/>
              </p:cNvSpPr>
              <p:nvPr/>
            </p:nvSpPr>
            <p:spPr bwMode="auto">
              <a:xfrm>
                <a:off x="388" y="75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5" name="Group 345"/>
            <p:cNvGrpSpPr>
              <a:grpSpLocks noChangeAspect="1"/>
            </p:cNvGrpSpPr>
            <p:nvPr/>
          </p:nvGrpSpPr>
          <p:grpSpPr bwMode="auto">
            <a:xfrm>
              <a:off x="6305029" y="4664671"/>
              <a:ext cx="457200" cy="457200"/>
              <a:chOff x="3451" y="1171"/>
              <a:chExt cx="340" cy="340"/>
            </a:xfrm>
            <a:solidFill>
              <a:schemeClr val="bg1"/>
            </a:solidFill>
          </p:grpSpPr>
          <p:sp>
            <p:nvSpPr>
              <p:cNvPr id="26" name="Freeform 346"/>
              <p:cNvSpPr>
                <a:spLocks noEditPoints="1"/>
              </p:cNvSpPr>
              <p:nvPr/>
            </p:nvSpPr>
            <p:spPr bwMode="auto">
              <a:xfrm>
                <a:off x="3515" y="1241"/>
                <a:ext cx="212" cy="192"/>
              </a:xfrm>
              <a:custGeom>
                <a:avLst/>
                <a:gdLst>
                  <a:gd name="T0" fmla="*/ 224 w 320"/>
                  <a:gd name="T1" fmla="*/ 288 h 288"/>
                  <a:gd name="T2" fmla="*/ 170 w 320"/>
                  <a:gd name="T3" fmla="*/ 288 h 288"/>
                  <a:gd name="T4" fmla="*/ 160 w 320"/>
                  <a:gd name="T5" fmla="*/ 278 h 288"/>
                  <a:gd name="T6" fmla="*/ 160 w 320"/>
                  <a:gd name="T7" fmla="*/ 267 h 288"/>
                  <a:gd name="T8" fmla="*/ 138 w 320"/>
                  <a:gd name="T9" fmla="*/ 267 h 288"/>
                  <a:gd name="T10" fmla="*/ 138 w 320"/>
                  <a:gd name="T11" fmla="*/ 278 h 288"/>
                  <a:gd name="T12" fmla="*/ 128 w 320"/>
                  <a:gd name="T13" fmla="*/ 288 h 288"/>
                  <a:gd name="T14" fmla="*/ 74 w 320"/>
                  <a:gd name="T15" fmla="*/ 288 h 288"/>
                  <a:gd name="T16" fmla="*/ 64 w 320"/>
                  <a:gd name="T17" fmla="*/ 278 h 288"/>
                  <a:gd name="T18" fmla="*/ 27 w 320"/>
                  <a:gd name="T19" fmla="*/ 235 h 288"/>
                  <a:gd name="T20" fmla="*/ 18 w 320"/>
                  <a:gd name="T21" fmla="*/ 230 h 288"/>
                  <a:gd name="T22" fmla="*/ 0 w 320"/>
                  <a:gd name="T23" fmla="*/ 160 h 288"/>
                  <a:gd name="T24" fmla="*/ 138 w 320"/>
                  <a:gd name="T25" fmla="*/ 22 h 288"/>
                  <a:gd name="T26" fmla="*/ 198 w 320"/>
                  <a:gd name="T27" fmla="*/ 30 h 288"/>
                  <a:gd name="T28" fmla="*/ 255 w 320"/>
                  <a:gd name="T29" fmla="*/ 0 h 288"/>
                  <a:gd name="T30" fmla="*/ 264 w 320"/>
                  <a:gd name="T31" fmla="*/ 4 h 288"/>
                  <a:gd name="T32" fmla="*/ 266 w 320"/>
                  <a:gd name="T33" fmla="*/ 14 h 288"/>
                  <a:gd name="T34" fmla="*/ 257 w 320"/>
                  <a:gd name="T35" fmla="*/ 49 h 288"/>
                  <a:gd name="T36" fmla="*/ 294 w 320"/>
                  <a:gd name="T37" fmla="*/ 96 h 288"/>
                  <a:gd name="T38" fmla="*/ 309 w 320"/>
                  <a:gd name="T39" fmla="*/ 96 h 288"/>
                  <a:gd name="T40" fmla="*/ 320 w 320"/>
                  <a:gd name="T41" fmla="*/ 107 h 288"/>
                  <a:gd name="T42" fmla="*/ 320 w 320"/>
                  <a:gd name="T43" fmla="*/ 171 h 288"/>
                  <a:gd name="T44" fmla="*/ 309 w 320"/>
                  <a:gd name="T45" fmla="*/ 182 h 288"/>
                  <a:gd name="T46" fmla="*/ 275 w 320"/>
                  <a:gd name="T47" fmla="*/ 182 h 288"/>
                  <a:gd name="T48" fmla="*/ 234 w 320"/>
                  <a:gd name="T49" fmla="*/ 259 h 288"/>
                  <a:gd name="T50" fmla="*/ 234 w 320"/>
                  <a:gd name="T51" fmla="*/ 278 h 288"/>
                  <a:gd name="T52" fmla="*/ 224 w 320"/>
                  <a:gd name="T53" fmla="*/ 288 h 288"/>
                  <a:gd name="T54" fmla="*/ 181 w 320"/>
                  <a:gd name="T55" fmla="*/ 267 h 288"/>
                  <a:gd name="T56" fmla="*/ 213 w 320"/>
                  <a:gd name="T57" fmla="*/ 267 h 288"/>
                  <a:gd name="T58" fmla="*/ 213 w 320"/>
                  <a:gd name="T59" fmla="*/ 255 h 288"/>
                  <a:gd name="T60" fmla="*/ 216 w 320"/>
                  <a:gd name="T61" fmla="*/ 248 h 288"/>
                  <a:gd name="T62" fmla="*/ 255 w 320"/>
                  <a:gd name="T63" fmla="*/ 170 h 288"/>
                  <a:gd name="T64" fmla="*/ 266 w 320"/>
                  <a:gd name="T65" fmla="*/ 160 h 288"/>
                  <a:gd name="T66" fmla="*/ 298 w 320"/>
                  <a:gd name="T67" fmla="*/ 160 h 288"/>
                  <a:gd name="T68" fmla="*/ 298 w 320"/>
                  <a:gd name="T69" fmla="*/ 118 h 288"/>
                  <a:gd name="T70" fmla="*/ 288 w 320"/>
                  <a:gd name="T71" fmla="*/ 118 h 288"/>
                  <a:gd name="T72" fmla="*/ 278 w 320"/>
                  <a:gd name="T73" fmla="*/ 112 h 288"/>
                  <a:gd name="T74" fmla="*/ 240 w 320"/>
                  <a:gd name="T75" fmla="*/ 63 h 288"/>
                  <a:gd name="T76" fmla="*/ 235 w 320"/>
                  <a:gd name="T77" fmla="*/ 51 h 288"/>
                  <a:gd name="T78" fmla="*/ 241 w 320"/>
                  <a:gd name="T79" fmla="*/ 25 h 288"/>
                  <a:gd name="T80" fmla="*/ 212 w 320"/>
                  <a:gd name="T81" fmla="*/ 48 h 288"/>
                  <a:gd name="T82" fmla="*/ 199 w 320"/>
                  <a:gd name="T83" fmla="*/ 53 h 288"/>
                  <a:gd name="T84" fmla="*/ 138 w 320"/>
                  <a:gd name="T85" fmla="*/ 43 h 288"/>
                  <a:gd name="T86" fmla="*/ 21 w 320"/>
                  <a:gd name="T87" fmla="*/ 160 h 288"/>
                  <a:gd name="T88" fmla="*/ 34 w 320"/>
                  <a:gd name="T89" fmla="*/ 214 h 288"/>
                  <a:gd name="T90" fmla="*/ 84 w 320"/>
                  <a:gd name="T91" fmla="*/ 267 h 288"/>
                  <a:gd name="T92" fmla="*/ 117 w 320"/>
                  <a:gd name="T93" fmla="*/ 267 h 288"/>
                  <a:gd name="T94" fmla="*/ 117 w 320"/>
                  <a:gd name="T95" fmla="*/ 256 h 288"/>
                  <a:gd name="T96" fmla="*/ 128 w 320"/>
                  <a:gd name="T97" fmla="*/ 246 h 288"/>
                  <a:gd name="T98" fmla="*/ 170 w 320"/>
                  <a:gd name="T99" fmla="*/ 246 h 288"/>
                  <a:gd name="T100" fmla="*/ 181 w 320"/>
                  <a:gd name="T101" fmla="*/ 256 h 288"/>
                  <a:gd name="T102" fmla="*/ 181 w 320"/>
                  <a:gd name="T103" fmla="*/ 267 h 288"/>
                  <a:gd name="T104" fmla="*/ 82 w 320"/>
                  <a:gd name="T105" fmla="*/ 104 h 288"/>
                  <a:gd name="T106" fmla="*/ 130 w 320"/>
                  <a:gd name="T107" fmla="*/ 79 h 288"/>
                  <a:gd name="T108" fmla="*/ 138 w 320"/>
                  <a:gd name="T109" fmla="*/ 66 h 288"/>
                  <a:gd name="T110" fmla="*/ 125 w 320"/>
                  <a:gd name="T111" fmla="*/ 58 h 288"/>
                  <a:gd name="T112" fmla="*/ 68 w 320"/>
                  <a:gd name="T113" fmla="*/ 88 h 288"/>
                  <a:gd name="T114" fmla="*/ 67 w 320"/>
                  <a:gd name="T115" fmla="*/ 103 h 288"/>
                  <a:gd name="T116" fmla="*/ 75 w 320"/>
                  <a:gd name="T117" fmla="*/ 107 h 288"/>
                  <a:gd name="T118" fmla="*/ 82 w 320"/>
                  <a:gd name="T119" fmla="*/ 10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88">
                    <a:moveTo>
                      <a:pt x="224" y="288"/>
                    </a:moveTo>
                    <a:cubicBezTo>
                      <a:pt x="170" y="288"/>
                      <a:pt x="170" y="288"/>
                      <a:pt x="170" y="288"/>
                    </a:cubicBezTo>
                    <a:cubicBezTo>
                      <a:pt x="164" y="288"/>
                      <a:pt x="160" y="284"/>
                      <a:pt x="160" y="278"/>
                    </a:cubicBezTo>
                    <a:cubicBezTo>
                      <a:pt x="160" y="267"/>
                      <a:pt x="160" y="267"/>
                      <a:pt x="160" y="267"/>
                    </a:cubicBezTo>
                    <a:cubicBezTo>
                      <a:pt x="138" y="267"/>
                      <a:pt x="138" y="267"/>
                      <a:pt x="138" y="267"/>
                    </a:cubicBezTo>
                    <a:cubicBezTo>
                      <a:pt x="138" y="278"/>
                      <a:pt x="138" y="278"/>
                      <a:pt x="138" y="278"/>
                    </a:cubicBezTo>
                    <a:cubicBezTo>
                      <a:pt x="138" y="284"/>
                      <a:pt x="134" y="288"/>
                      <a:pt x="128" y="288"/>
                    </a:cubicBezTo>
                    <a:cubicBezTo>
                      <a:pt x="74" y="288"/>
                      <a:pt x="74" y="288"/>
                      <a:pt x="74" y="288"/>
                    </a:cubicBezTo>
                    <a:cubicBezTo>
                      <a:pt x="68" y="288"/>
                      <a:pt x="64" y="284"/>
                      <a:pt x="64" y="278"/>
                    </a:cubicBezTo>
                    <a:cubicBezTo>
                      <a:pt x="64" y="237"/>
                      <a:pt x="29" y="235"/>
                      <a:pt x="27" y="235"/>
                    </a:cubicBezTo>
                    <a:cubicBezTo>
                      <a:pt x="23" y="235"/>
                      <a:pt x="20" y="233"/>
                      <a:pt x="18" y="230"/>
                    </a:cubicBezTo>
                    <a:cubicBezTo>
                      <a:pt x="6" y="209"/>
                      <a:pt x="0" y="185"/>
                      <a:pt x="0" y="160"/>
                    </a:cubicBezTo>
                    <a:cubicBezTo>
                      <a:pt x="0" y="84"/>
                      <a:pt x="62" y="22"/>
                      <a:pt x="138" y="22"/>
                    </a:cubicBezTo>
                    <a:cubicBezTo>
                      <a:pt x="160" y="22"/>
                      <a:pt x="179" y="24"/>
                      <a:pt x="198" y="30"/>
                    </a:cubicBezTo>
                    <a:cubicBezTo>
                      <a:pt x="217" y="3"/>
                      <a:pt x="253" y="0"/>
                      <a:pt x="255" y="0"/>
                    </a:cubicBezTo>
                    <a:cubicBezTo>
                      <a:pt x="259" y="0"/>
                      <a:pt x="262" y="2"/>
                      <a:pt x="264" y="4"/>
                    </a:cubicBezTo>
                    <a:cubicBezTo>
                      <a:pt x="266" y="7"/>
                      <a:pt x="267" y="10"/>
                      <a:pt x="266" y="14"/>
                    </a:cubicBezTo>
                    <a:cubicBezTo>
                      <a:pt x="257" y="49"/>
                      <a:pt x="257" y="49"/>
                      <a:pt x="257" y="49"/>
                    </a:cubicBezTo>
                    <a:cubicBezTo>
                      <a:pt x="275" y="63"/>
                      <a:pt x="288" y="85"/>
                      <a:pt x="294" y="96"/>
                    </a:cubicBezTo>
                    <a:cubicBezTo>
                      <a:pt x="309" y="96"/>
                      <a:pt x="309" y="96"/>
                      <a:pt x="309" y="96"/>
                    </a:cubicBezTo>
                    <a:cubicBezTo>
                      <a:pt x="315" y="96"/>
                      <a:pt x="320" y="101"/>
                      <a:pt x="320" y="107"/>
                    </a:cubicBezTo>
                    <a:cubicBezTo>
                      <a:pt x="320" y="171"/>
                      <a:pt x="320" y="171"/>
                      <a:pt x="320" y="171"/>
                    </a:cubicBezTo>
                    <a:cubicBezTo>
                      <a:pt x="320" y="177"/>
                      <a:pt x="315" y="182"/>
                      <a:pt x="309" y="182"/>
                    </a:cubicBezTo>
                    <a:cubicBezTo>
                      <a:pt x="275" y="182"/>
                      <a:pt x="275" y="182"/>
                      <a:pt x="275" y="182"/>
                    </a:cubicBezTo>
                    <a:cubicBezTo>
                      <a:pt x="269" y="217"/>
                      <a:pt x="249" y="244"/>
                      <a:pt x="234" y="259"/>
                    </a:cubicBezTo>
                    <a:cubicBezTo>
                      <a:pt x="234" y="278"/>
                      <a:pt x="234" y="278"/>
                      <a:pt x="234" y="278"/>
                    </a:cubicBezTo>
                    <a:cubicBezTo>
                      <a:pt x="234" y="284"/>
                      <a:pt x="230" y="288"/>
                      <a:pt x="224" y="288"/>
                    </a:cubicBezTo>
                    <a:close/>
                    <a:moveTo>
                      <a:pt x="181" y="267"/>
                    </a:moveTo>
                    <a:cubicBezTo>
                      <a:pt x="213" y="267"/>
                      <a:pt x="213" y="267"/>
                      <a:pt x="213" y="267"/>
                    </a:cubicBezTo>
                    <a:cubicBezTo>
                      <a:pt x="213" y="255"/>
                      <a:pt x="213" y="255"/>
                      <a:pt x="213" y="255"/>
                    </a:cubicBezTo>
                    <a:cubicBezTo>
                      <a:pt x="213" y="252"/>
                      <a:pt x="214" y="250"/>
                      <a:pt x="216" y="248"/>
                    </a:cubicBezTo>
                    <a:cubicBezTo>
                      <a:pt x="239" y="225"/>
                      <a:pt x="253" y="197"/>
                      <a:pt x="255" y="170"/>
                    </a:cubicBezTo>
                    <a:cubicBezTo>
                      <a:pt x="256" y="165"/>
                      <a:pt x="260" y="160"/>
                      <a:pt x="266" y="160"/>
                    </a:cubicBezTo>
                    <a:cubicBezTo>
                      <a:pt x="298" y="160"/>
                      <a:pt x="298" y="160"/>
                      <a:pt x="298" y="160"/>
                    </a:cubicBezTo>
                    <a:cubicBezTo>
                      <a:pt x="298" y="118"/>
                      <a:pt x="298" y="118"/>
                      <a:pt x="298" y="118"/>
                    </a:cubicBezTo>
                    <a:cubicBezTo>
                      <a:pt x="288" y="118"/>
                      <a:pt x="288" y="118"/>
                      <a:pt x="288" y="118"/>
                    </a:cubicBezTo>
                    <a:cubicBezTo>
                      <a:pt x="284" y="118"/>
                      <a:pt x="280" y="115"/>
                      <a:pt x="278" y="112"/>
                    </a:cubicBezTo>
                    <a:cubicBezTo>
                      <a:pt x="278" y="111"/>
                      <a:pt x="261" y="76"/>
                      <a:pt x="240" y="63"/>
                    </a:cubicBezTo>
                    <a:cubicBezTo>
                      <a:pt x="236" y="60"/>
                      <a:pt x="234" y="56"/>
                      <a:pt x="235" y="51"/>
                    </a:cubicBezTo>
                    <a:cubicBezTo>
                      <a:pt x="241" y="25"/>
                      <a:pt x="241" y="25"/>
                      <a:pt x="241" y="25"/>
                    </a:cubicBezTo>
                    <a:cubicBezTo>
                      <a:pt x="231" y="28"/>
                      <a:pt x="218" y="35"/>
                      <a:pt x="212" y="48"/>
                    </a:cubicBezTo>
                    <a:cubicBezTo>
                      <a:pt x="210" y="53"/>
                      <a:pt x="204" y="55"/>
                      <a:pt x="199" y="53"/>
                    </a:cubicBezTo>
                    <a:cubicBezTo>
                      <a:pt x="180" y="46"/>
                      <a:pt x="161" y="43"/>
                      <a:pt x="138" y="43"/>
                    </a:cubicBezTo>
                    <a:cubicBezTo>
                      <a:pt x="74" y="43"/>
                      <a:pt x="21" y="96"/>
                      <a:pt x="21" y="160"/>
                    </a:cubicBezTo>
                    <a:cubicBezTo>
                      <a:pt x="21" y="179"/>
                      <a:pt x="26" y="198"/>
                      <a:pt x="34" y="214"/>
                    </a:cubicBezTo>
                    <a:cubicBezTo>
                      <a:pt x="53" y="217"/>
                      <a:pt x="80" y="231"/>
                      <a:pt x="84" y="267"/>
                    </a:cubicBezTo>
                    <a:cubicBezTo>
                      <a:pt x="117" y="267"/>
                      <a:pt x="117" y="267"/>
                      <a:pt x="117" y="267"/>
                    </a:cubicBezTo>
                    <a:cubicBezTo>
                      <a:pt x="117" y="256"/>
                      <a:pt x="117" y="256"/>
                      <a:pt x="117" y="256"/>
                    </a:cubicBezTo>
                    <a:cubicBezTo>
                      <a:pt x="117" y="250"/>
                      <a:pt x="122" y="246"/>
                      <a:pt x="128" y="246"/>
                    </a:cubicBezTo>
                    <a:cubicBezTo>
                      <a:pt x="170" y="246"/>
                      <a:pt x="170" y="246"/>
                      <a:pt x="170" y="246"/>
                    </a:cubicBezTo>
                    <a:cubicBezTo>
                      <a:pt x="176" y="246"/>
                      <a:pt x="181" y="250"/>
                      <a:pt x="181" y="256"/>
                    </a:cubicBezTo>
                    <a:lnTo>
                      <a:pt x="181" y="267"/>
                    </a:lnTo>
                    <a:close/>
                    <a:moveTo>
                      <a:pt x="82" y="104"/>
                    </a:moveTo>
                    <a:cubicBezTo>
                      <a:pt x="96" y="92"/>
                      <a:pt x="113" y="83"/>
                      <a:pt x="130" y="79"/>
                    </a:cubicBezTo>
                    <a:cubicBezTo>
                      <a:pt x="136" y="77"/>
                      <a:pt x="139" y="71"/>
                      <a:pt x="138" y="66"/>
                    </a:cubicBezTo>
                    <a:cubicBezTo>
                      <a:pt x="137" y="60"/>
                      <a:pt x="131" y="57"/>
                      <a:pt x="125" y="58"/>
                    </a:cubicBezTo>
                    <a:cubicBezTo>
                      <a:pt x="104" y="63"/>
                      <a:pt x="84" y="74"/>
                      <a:pt x="68" y="88"/>
                    </a:cubicBezTo>
                    <a:cubicBezTo>
                      <a:pt x="64" y="92"/>
                      <a:pt x="63" y="99"/>
                      <a:pt x="67" y="103"/>
                    </a:cubicBezTo>
                    <a:cubicBezTo>
                      <a:pt x="69" y="106"/>
                      <a:pt x="72" y="107"/>
                      <a:pt x="75" y="107"/>
                    </a:cubicBezTo>
                    <a:cubicBezTo>
                      <a:pt x="78" y="107"/>
                      <a:pt x="80" y="106"/>
                      <a:pt x="82" y="104"/>
                    </a:cubicBezTo>
                    <a:close/>
                  </a:path>
                </a:pathLst>
              </a:custGeom>
              <a:grpFill/>
              <a:ln>
                <a:solidFill>
                  <a:schemeClr val="bg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7" name="Freeform 347"/>
              <p:cNvSpPr>
                <a:spLocks noEditPoints="1"/>
              </p:cNvSpPr>
              <p:nvPr/>
            </p:nvSpPr>
            <p:spPr bwMode="auto">
              <a:xfrm>
                <a:off x="3451" y="11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bg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Tree>
    <p:extLst>
      <p:ext uri="{BB962C8B-B14F-4D97-AF65-F5344CB8AC3E}">
        <p14:creationId xmlns:p14="http://schemas.microsoft.com/office/powerpoint/2010/main" val="177938319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4"/>
          <p:cNvSpPr>
            <a:spLocks noGrp="1"/>
          </p:cNvSpPr>
          <p:nvPr>
            <p:ph type="title"/>
          </p:nvPr>
        </p:nvSpPr>
        <p:spPr/>
        <p:txBody>
          <a:bodyPr/>
          <a:lstStyle/>
          <a:p>
            <a:r>
              <a:rPr lang="en-US"/>
              <a:t>Release Management: Oracle’s Patch and Environment Strategy</a:t>
            </a:r>
            <a:endParaRPr lang="en-US" dirty="0"/>
          </a:p>
        </p:txBody>
      </p:sp>
      <p:graphicFrame>
        <p:nvGraphicFramePr>
          <p:cNvPr id="94" name="Table 93"/>
          <p:cNvGraphicFramePr>
            <a:graphicFrameLocks noGrp="1"/>
          </p:cNvGraphicFramePr>
          <p:nvPr>
            <p:extLst>
              <p:ext uri="{D42A27DB-BD31-4B8C-83A1-F6EECF244321}">
                <p14:modId xmlns:p14="http://schemas.microsoft.com/office/powerpoint/2010/main" val="749050950"/>
              </p:ext>
            </p:extLst>
          </p:nvPr>
        </p:nvGraphicFramePr>
        <p:xfrm>
          <a:off x="503768" y="1036553"/>
          <a:ext cx="10735731" cy="5215548"/>
        </p:xfrm>
        <a:graphic>
          <a:graphicData uri="http://schemas.openxmlformats.org/drawingml/2006/table">
            <a:tbl>
              <a:tblPr firstRow="1" bandRow="1">
                <a:tableStyleId>{5C22544A-7EE6-4342-B048-85BDC9FD1C3A}</a:tableStyleId>
              </a:tblPr>
              <a:tblGrid>
                <a:gridCol w="1032069">
                  <a:extLst>
                    <a:ext uri="{9D8B030D-6E8A-4147-A177-3AD203B41FA5}">
                      <a16:colId xmlns:a16="http://schemas.microsoft.com/office/drawing/2014/main" val="20000"/>
                    </a:ext>
                  </a:extLst>
                </a:gridCol>
                <a:gridCol w="1003177">
                  <a:extLst>
                    <a:ext uri="{9D8B030D-6E8A-4147-A177-3AD203B41FA5}">
                      <a16:colId xmlns:a16="http://schemas.microsoft.com/office/drawing/2014/main" val="20001"/>
                    </a:ext>
                  </a:extLst>
                </a:gridCol>
                <a:gridCol w="2432481">
                  <a:extLst>
                    <a:ext uri="{9D8B030D-6E8A-4147-A177-3AD203B41FA5}">
                      <a16:colId xmlns:a16="http://schemas.microsoft.com/office/drawing/2014/main" val="670325090"/>
                    </a:ext>
                  </a:extLst>
                </a:gridCol>
                <a:gridCol w="2885243">
                  <a:extLst>
                    <a:ext uri="{9D8B030D-6E8A-4147-A177-3AD203B41FA5}">
                      <a16:colId xmlns:a16="http://schemas.microsoft.com/office/drawing/2014/main" val="1967927650"/>
                    </a:ext>
                  </a:extLst>
                </a:gridCol>
                <a:gridCol w="3382761">
                  <a:extLst>
                    <a:ext uri="{9D8B030D-6E8A-4147-A177-3AD203B41FA5}">
                      <a16:colId xmlns:a16="http://schemas.microsoft.com/office/drawing/2014/main" val="1423211305"/>
                    </a:ext>
                  </a:extLst>
                </a:gridCol>
              </a:tblGrid>
              <a:tr h="558368">
                <a:tc>
                  <a:txBody>
                    <a:bodyPr/>
                    <a:lstStyle/>
                    <a:p>
                      <a:pPr marL="0" indent="0">
                        <a:lnSpc>
                          <a:spcPct val="110000"/>
                        </a:lnSpc>
                        <a:buFont typeface="Arial" panose="020B0604020202020204" pitchFamily="34" charset="0"/>
                        <a:buNone/>
                      </a:pPr>
                      <a:r>
                        <a:rPr lang="en-US" sz="1200" b="0" dirty="0">
                          <a:solidFill>
                            <a:schemeClr val="accent1"/>
                          </a:solidFill>
                          <a:latin typeface="+mn-lt"/>
                        </a:rPr>
                        <a:t>Update Type</a:t>
                      </a:r>
                    </a:p>
                  </a:txBody>
                  <a:tcPr marT="91440" marB="91440" anchor="ctr">
                    <a:lnL w="571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dirty="0">
                          <a:solidFill>
                            <a:schemeClr val="accent1"/>
                          </a:solidFill>
                          <a:latin typeface="+mn-lt"/>
                        </a:rPr>
                        <a:t>Mandatory</a:t>
                      </a:r>
                      <a:r>
                        <a:rPr lang="en-US" sz="1200" b="0" baseline="0" dirty="0">
                          <a:solidFill>
                            <a:schemeClr val="accent1"/>
                          </a:solidFill>
                          <a:latin typeface="+mn-lt"/>
                        </a:rPr>
                        <a:t> </a:t>
                      </a:r>
                    </a:p>
                    <a:p>
                      <a:r>
                        <a:rPr lang="en-US" sz="1200" b="0" baseline="0" dirty="0">
                          <a:solidFill>
                            <a:schemeClr val="accent1"/>
                          </a:solidFill>
                          <a:latin typeface="+mn-lt"/>
                        </a:rPr>
                        <a:t>(Yes / No)</a:t>
                      </a:r>
                      <a:endParaRPr lang="en-GB" sz="1200" b="0" dirty="0">
                        <a:solidFill>
                          <a:schemeClr val="accent1"/>
                        </a:solidFill>
                        <a:latin typeface="+mn-lt"/>
                      </a:endParaRPr>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b="0" dirty="0">
                          <a:solidFill>
                            <a:schemeClr val="accent1"/>
                          </a:solidFill>
                          <a:latin typeface="+mn-lt"/>
                        </a:rPr>
                        <a:t>Delivery Schedule</a:t>
                      </a:r>
                    </a:p>
                    <a:p>
                      <a:endParaRPr lang="en-GB" sz="1200" b="0" dirty="0">
                        <a:solidFill>
                          <a:schemeClr val="accent1"/>
                        </a:solidFill>
                        <a:latin typeface="+mn-lt"/>
                      </a:endParaRPr>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b="0" dirty="0">
                          <a:solidFill>
                            <a:schemeClr val="accent1"/>
                          </a:solidFill>
                          <a:latin typeface="+mn-lt"/>
                        </a:rPr>
                        <a:t>Duration &amp; Notifications</a:t>
                      </a:r>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b="0" dirty="0">
                          <a:solidFill>
                            <a:schemeClr val="accent1"/>
                          </a:solidFill>
                          <a:latin typeface="+mn-lt"/>
                        </a:rPr>
                        <a:t>Planned Outage Time</a:t>
                      </a:r>
                    </a:p>
                  </a:txBody>
                  <a:tcPr marT="91440" marB="91440" anchor="ctr">
                    <a:lnL w="63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919747">
                <a:tc>
                  <a:txBody>
                    <a:bodyPr/>
                    <a:lstStyle/>
                    <a:p>
                      <a:pPr marL="0" indent="0" algn="l">
                        <a:lnSpc>
                          <a:spcPct val="110000"/>
                        </a:lnSpc>
                        <a:spcBef>
                          <a:spcPts val="300"/>
                        </a:spcBef>
                        <a:spcAft>
                          <a:spcPts val="600"/>
                        </a:spcAft>
                        <a:buFont typeface="Arial" panose="020B0604020202020204" pitchFamily="34" charset="0"/>
                        <a:buNone/>
                      </a:pPr>
                      <a:r>
                        <a:rPr lang="en-US" sz="900" b="0" dirty="0">
                          <a:solidFill>
                            <a:schemeClr val="tx1"/>
                          </a:solidFill>
                          <a:latin typeface="+mn-lt"/>
                        </a:rPr>
                        <a:t>Quarterly Updates</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a:lnSpc>
                          <a:spcPct val="100000"/>
                        </a:lnSpc>
                        <a:spcBef>
                          <a:spcPts val="300"/>
                        </a:spcBef>
                        <a:spcAft>
                          <a:spcPts val="0"/>
                        </a:spcAft>
                        <a:buClrTx/>
                        <a:buSzPct val="100000"/>
                        <a:buFont typeface="Arial" panose="020B0604020202020204" pitchFamily="34" charset="0"/>
                        <a:buNone/>
                      </a:pPr>
                      <a:r>
                        <a:rPr lang="en-US" sz="900" b="0" dirty="0">
                          <a:solidFill>
                            <a:schemeClr val="tx1"/>
                          </a:solidFill>
                          <a:latin typeface="+mn-lt"/>
                        </a:rPr>
                        <a:t>Yes</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900" b="1" dirty="0">
                          <a:solidFill>
                            <a:schemeClr val="tx1"/>
                          </a:solidFill>
                          <a:latin typeface="+mn-lt"/>
                        </a:rPr>
                        <a:t>Non-production environments</a:t>
                      </a:r>
                      <a:r>
                        <a:rPr lang="en-US" sz="900" b="0" dirty="0">
                          <a:solidFill>
                            <a:schemeClr val="tx1"/>
                          </a:solidFill>
                          <a:latin typeface="+mn-lt"/>
                        </a:rPr>
                        <a:t>: First Friday of Quarterly Update month. </a:t>
                      </a:r>
                    </a:p>
                    <a:p>
                      <a:pPr marL="0" marR="0" lvl="1" indent="0" algn="l" defTabSz="91440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900" b="1" dirty="0">
                          <a:solidFill>
                            <a:schemeClr val="tx1"/>
                          </a:solidFill>
                          <a:latin typeface="+mn-lt"/>
                        </a:rPr>
                        <a:t>Production environments</a:t>
                      </a:r>
                      <a:r>
                        <a:rPr lang="en-US" sz="900" b="0" dirty="0">
                          <a:solidFill>
                            <a:schemeClr val="tx1"/>
                          </a:solidFill>
                          <a:latin typeface="+mn-lt"/>
                        </a:rPr>
                        <a:t>: Third Friday of Quarterly Update month.</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dirty="0">
                          <a:solidFill>
                            <a:schemeClr val="tx1"/>
                          </a:solidFill>
                          <a:latin typeface="+mn-lt"/>
                        </a:rPr>
                        <a:t>Duration: 14 – 28 hours</a:t>
                      </a:r>
                    </a:p>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dirty="0">
                          <a:solidFill>
                            <a:schemeClr val="tx1"/>
                          </a:solidFill>
                          <a:latin typeface="+mn-lt"/>
                        </a:rPr>
                        <a:t>Customer notifications including estimated duration are sent 1 week in advance </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dirty="0">
                          <a:solidFill>
                            <a:schemeClr val="tx1"/>
                          </a:solidFill>
                          <a:latin typeface="+mn-lt"/>
                        </a:rPr>
                        <a:t>All Data Centers (estimated start time): Friday 21:00 Local Data Center Time</a:t>
                      </a:r>
                    </a:p>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dirty="0">
                          <a:solidFill>
                            <a:schemeClr val="tx1"/>
                          </a:solidFill>
                          <a:latin typeface="+mn-lt"/>
                        </a:rPr>
                        <a:t>Sydney: Friday 23:00 Local Data Center Time (AEST)</a:t>
                      </a:r>
                    </a:p>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dirty="0">
                          <a:solidFill>
                            <a:schemeClr val="tx1"/>
                          </a:solidFill>
                          <a:latin typeface="+mn-lt"/>
                        </a:rPr>
                        <a:t>Middle East Customer Environments: Thursday 10:00 US Pacific Time</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919747">
                <a:tc>
                  <a:txBody>
                    <a:bodyPr/>
                    <a:lstStyle/>
                    <a:p>
                      <a:pPr marL="0" indent="0" algn="l">
                        <a:lnSpc>
                          <a:spcPct val="110000"/>
                        </a:lnSpc>
                        <a:spcBef>
                          <a:spcPts val="300"/>
                        </a:spcBef>
                        <a:spcAft>
                          <a:spcPts val="600"/>
                        </a:spcAft>
                        <a:buFont typeface="Arial" panose="020B0604020202020204" pitchFamily="34" charset="0"/>
                        <a:buNone/>
                      </a:pPr>
                      <a:r>
                        <a:rPr lang="en-US" sz="900" b="0" dirty="0">
                          <a:solidFill>
                            <a:schemeClr val="tx1"/>
                          </a:solidFill>
                          <a:latin typeface="+mn-lt"/>
                        </a:rPr>
                        <a:t>Vertex Updates (Tax and Address Files)</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00000"/>
                        </a:lnSpc>
                        <a:spcBef>
                          <a:spcPts val="300"/>
                        </a:spcBef>
                        <a:spcAft>
                          <a:spcPts val="0"/>
                        </a:spcAft>
                        <a:buClrTx/>
                        <a:buSzPct val="100000"/>
                        <a:buFont typeface="Arial" panose="020B0604020202020204" pitchFamily="34" charset="0"/>
                        <a:buNone/>
                      </a:pPr>
                      <a:r>
                        <a:rPr lang="en-US" sz="900" b="0" kern="1200" dirty="0">
                          <a:solidFill>
                            <a:schemeClr val="tx1"/>
                          </a:solidFill>
                          <a:latin typeface="+mn-lt"/>
                          <a:ea typeface="+mn-ea"/>
                          <a:cs typeface="+mn-cs"/>
                        </a:rPr>
                        <a:t>Yes</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900" b="1" kern="1200" dirty="0">
                          <a:solidFill>
                            <a:schemeClr val="tx1"/>
                          </a:solidFill>
                          <a:latin typeface="+mn-lt"/>
                          <a:ea typeface="+mn-ea"/>
                          <a:cs typeface="+mn-cs"/>
                        </a:rPr>
                        <a:t>Non-production environments</a:t>
                      </a:r>
                      <a:r>
                        <a:rPr lang="en-US" sz="900" b="0" kern="1200" dirty="0">
                          <a:solidFill>
                            <a:schemeClr val="tx1"/>
                          </a:solidFill>
                          <a:latin typeface="+mn-lt"/>
                          <a:ea typeface="+mn-ea"/>
                          <a:cs typeface="+mn-cs"/>
                        </a:rPr>
                        <a:t>: 18th of each month.</a:t>
                      </a:r>
                    </a:p>
                    <a:p>
                      <a:pPr marL="0" marR="0" lvl="1" indent="0" algn="l" defTabSz="91440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900" b="1" kern="1200" dirty="0">
                          <a:solidFill>
                            <a:schemeClr val="tx1"/>
                          </a:solidFill>
                          <a:latin typeface="+mn-lt"/>
                          <a:ea typeface="+mn-ea"/>
                          <a:cs typeface="+mn-cs"/>
                        </a:rPr>
                        <a:t>Production environments</a:t>
                      </a:r>
                      <a:r>
                        <a:rPr lang="en-US" sz="900" b="0" kern="1200" dirty="0">
                          <a:solidFill>
                            <a:schemeClr val="tx1"/>
                          </a:solidFill>
                          <a:latin typeface="+mn-lt"/>
                          <a:ea typeface="+mn-ea"/>
                          <a:cs typeface="+mn-cs"/>
                        </a:rPr>
                        <a:t>: 25th of each month.</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900" b="0" kern="1200" dirty="0">
                          <a:solidFill>
                            <a:schemeClr val="tx1"/>
                          </a:solidFill>
                          <a:latin typeface="+mn-lt"/>
                          <a:ea typeface="+mn-ea"/>
                          <a:cs typeface="+mn-cs"/>
                        </a:rPr>
                        <a:t>NA</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kern="1200" dirty="0">
                          <a:solidFill>
                            <a:schemeClr val="tx1"/>
                          </a:solidFill>
                          <a:latin typeface="+mn-lt"/>
                          <a:ea typeface="+mn-ea"/>
                          <a:cs typeface="+mn-cs"/>
                        </a:rPr>
                        <a:t>No Outage Required</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919747">
                <a:tc>
                  <a:txBody>
                    <a:bodyPr/>
                    <a:lstStyle/>
                    <a:p>
                      <a:pPr marL="0" indent="0" algn="l">
                        <a:lnSpc>
                          <a:spcPct val="110000"/>
                        </a:lnSpc>
                        <a:spcBef>
                          <a:spcPts val="300"/>
                        </a:spcBef>
                        <a:spcAft>
                          <a:spcPts val="600"/>
                        </a:spcAft>
                        <a:buFont typeface="Arial" panose="020B0604020202020204" pitchFamily="34" charset="0"/>
                        <a:buNone/>
                      </a:pPr>
                      <a:r>
                        <a:rPr lang="en-US" sz="900" b="0" dirty="0">
                          <a:solidFill>
                            <a:schemeClr val="tx1"/>
                          </a:solidFill>
                          <a:latin typeface="+mn-lt"/>
                        </a:rPr>
                        <a:t>Infrastructure Updates</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00000"/>
                        </a:lnSpc>
                        <a:spcBef>
                          <a:spcPts val="300"/>
                        </a:spcBef>
                        <a:spcAft>
                          <a:spcPts val="0"/>
                        </a:spcAft>
                        <a:buClrTx/>
                        <a:buSzPct val="100000"/>
                        <a:buFont typeface="Arial" panose="020B0604020202020204" pitchFamily="34" charset="0"/>
                        <a:buNone/>
                      </a:pPr>
                      <a:r>
                        <a:rPr lang="en-US" sz="900" b="0" kern="1200" dirty="0">
                          <a:solidFill>
                            <a:schemeClr val="tx1"/>
                          </a:solidFill>
                          <a:latin typeface="+mn-lt"/>
                          <a:ea typeface="+mn-ea"/>
                          <a:cs typeface="+mn-cs"/>
                        </a:rPr>
                        <a:t>Yes</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900" b="0" kern="1200" dirty="0">
                          <a:solidFill>
                            <a:schemeClr val="tx1"/>
                          </a:solidFill>
                          <a:latin typeface="+mn-lt"/>
                          <a:ea typeface="+mn-ea"/>
                          <a:cs typeface="+mn-cs"/>
                        </a:rPr>
                        <a:t>Quarterly or as needed</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kern="1200" dirty="0">
                          <a:solidFill>
                            <a:schemeClr val="tx1"/>
                          </a:solidFill>
                          <a:latin typeface="+mn-lt"/>
                          <a:ea typeface="+mn-ea"/>
                          <a:cs typeface="+mn-cs"/>
                        </a:rPr>
                        <a:t>Duration is typically 8 hours</a:t>
                      </a:r>
                      <a:r>
                        <a:rPr lang="en-US" sz="900" b="0" kern="1200" baseline="0" dirty="0">
                          <a:solidFill>
                            <a:schemeClr val="tx1"/>
                          </a:solidFill>
                          <a:latin typeface="+mn-lt"/>
                          <a:ea typeface="+mn-ea"/>
                          <a:cs typeface="+mn-cs"/>
                        </a:rPr>
                        <a:t> but may vary.</a:t>
                      </a:r>
                      <a:endParaRPr lang="en-US" sz="900" b="0" kern="1200" dirty="0">
                        <a:solidFill>
                          <a:schemeClr val="tx1"/>
                        </a:solidFill>
                        <a:latin typeface="+mn-lt"/>
                        <a:ea typeface="+mn-ea"/>
                        <a:cs typeface="+mn-cs"/>
                      </a:endParaRPr>
                    </a:p>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kern="1200" dirty="0">
                          <a:solidFill>
                            <a:schemeClr val="tx1"/>
                          </a:solidFill>
                          <a:latin typeface="+mn-lt"/>
                          <a:ea typeface="+mn-ea"/>
                          <a:cs typeface="+mn-cs"/>
                        </a:rPr>
                        <a:t>Customer notifications are sent up to 4 weeks in advance.</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kern="1200" dirty="0">
                          <a:solidFill>
                            <a:schemeClr val="tx1"/>
                          </a:solidFill>
                          <a:latin typeface="+mn-lt"/>
                          <a:ea typeface="+mn-ea"/>
                          <a:cs typeface="+mn-cs"/>
                        </a:rPr>
                        <a:t>Outage times can happen on the 2nd or 4th weekend of any month but are typically applied once a quarter. End times will vary based on the scope of the updates. Oracle sends a notification when there is one scheduled.</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19747">
                <a:tc>
                  <a:txBody>
                    <a:bodyPr/>
                    <a:lstStyle/>
                    <a:p>
                      <a:pPr marL="0" indent="0" algn="l">
                        <a:lnSpc>
                          <a:spcPct val="110000"/>
                        </a:lnSpc>
                        <a:spcBef>
                          <a:spcPts val="300"/>
                        </a:spcBef>
                        <a:spcAft>
                          <a:spcPts val="600"/>
                        </a:spcAft>
                        <a:buFont typeface="Arial" panose="020B0604020202020204" pitchFamily="34" charset="0"/>
                        <a:buNone/>
                      </a:pPr>
                      <a:r>
                        <a:rPr lang="en-US" sz="900" b="0" dirty="0">
                          <a:solidFill>
                            <a:schemeClr val="tx1"/>
                          </a:solidFill>
                          <a:latin typeface="+mn-lt"/>
                        </a:rPr>
                        <a:t>Monthly Maintenance Packs</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l" defTabSz="914400" rtl="0" eaLnBrk="1" latinLnBrk="0" hangingPunct="1">
                        <a:lnSpc>
                          <a:spcPct val="100000"/>
                        </a:lnSpc>
                        <a:spcBef>
                          <a:spcPts val="300"/>
                        </a:spcBef>
                        <a:spcAft>
                          <a:spcPts val="0"/>
                        </a:spcAft>
                        <a:buClrTx/>
                        <a:buSzPct val="100000"/>
                        <a:buFont typeface="Arial" panose="020B0604020202020204" pitchFamily="34" charset="0"/>
                        <a:buNone/>
                      </a:pPr>
                      <a:r>
                        <a:rPr lang="en-US" sz="900" b="0" kern="1200" dirty="0">
                          <a:solidFill>
                            <a:schemeClr val="tx1"/>
                          </a:solidFill>
                          <a:latin typeface="+mn-lt"/>
                          <a:ea typeface="+mn-ea"/>
                          <a:cs typeface="+mn-cs"/>
                        </a:rPr>
                        <a:t>No</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900" b="1" kern="1200" dirty="0">
                          <a:solidFill>
                            <a:schemeClr val="tx1"/>
                          </a:solidFill>
                          <a:latin typeface="+mn-lt"/>
                          <a:ea typeface="+mn-ea"/>
                          <a:cs typeface="+mn-cs"/>
                        </a:rPr>
                        <a:t>Non-production environments</a:t>
                      </a:r>
                      <a:r>
                        <a:rPr lang="en-US" sz="900" b="0" kern="1200" dirty="0">
                          <a:solidFill>
                            <a:schemeClr val="tx1"/>
                          </a:solidFill>
                          <a:latin typeface="+mn-lt"/>
                          <a:ea typeface="+mn-ea"/>
                          <a:cs typeface="+mn-cs"/>
                        </a:rPr>
                        <a:t>: First Friday of each month.</a:t>
                      </a:r>
                    </a:p>
                    <a:p>
                      <a:pPr marL="0" marR="0" lvl="1" indent="0" algn="l" defTabSz="914400" rtl="0" eaLnBrk="1" fontAlgn="auto" latinLnBrk="0" hangingPunct="1">
                        <a:lnSpc>
                          <a:spcPct val="100000"/>
                        </a:lnSpc>
                        <a:spcBef>
                          <a:spcPts val="300"/>
                        </a:spcBef>
                        <a:spcAft>
                          <a:spcPts val="0"/>
                        </a:spcAft>
                        <a:buClrTx/>
                        <a:buSzPct val="100000"/>
                        <a:buFont typeface="Arial" panose="020B0604020202020204" pitchFamily="34" charset="0"/>
                        <a:buNone/>
                        <a:tabLst/>
                        <a:defRPr/>
                      </a:pPr>
                      <a:r>
                        <a:rPr lang="en-US" sz="900" b="1" kern="1200" dirty="0">
                          <a:solidFill>
                            <a:schemeClr val="tx1"/>
                          </a:solidFill>
                          <a:latin typeface="+mn-lt"/>
                          <a:ea typeface="+mn-ea"/>
                          <a:cs typeface="+mn-cs"/>
                        </a:rPr>
                        <a:t>Production environments</a:t>
                      </a:r>
                      <a:r>
                        <a:rPr lang="en-US" sz="900" b="0" kern="1200" dirty="0">
                          <a:solidFill>
                            <a:schemeClr val="tx1"/>
                          </a:solidFill>
                          <a:latin typeface="+mn-lt"/>
                          <a:ea typeface="+mn-ea"/>
                          <a:cs typeface="+mn-cs"/>
                        </a:rPr>
                        <a:t>: Third Friday of each month.</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kern="1200" dirty="0">
                          <a:solidFill>
                            <a:schemeClr val="tx1"/>
                          </a:solidFill>
                          <a:latin typeface="+mn-lt"/>
                          <a:ea typeface="+mn-ea"/>
                          <a:cs typeface="+mn-cs"/>
                        </a:rPr>
                        <a:t>Duration is typically 8 hours</a:t>
                      </a:r>
                      <a:r>
                        <a:rPr lang="en-US" sz="900" b="0" kern="1200" baseline="0" dirty="0">
                          <a:solidFill>
                            <a:schemeClr val="tx1"/>
                          </a:solidFill>
                          <a:latin typeface="+mn-lt"/>
                          <a:ea typeface="+mn-ea"/>
                          <a:cs typeface="+mn-cs"/>
                        </a:rPr>
                        <a:t> but may vary.</a:t>
                      </a:r>
                      <a:endParaRPr lang="en-US" sz="900" b="0" kern="1200" dirty="0">
                        <a:solidFill>
                          <a:schemeClr val="tx1"/>
                        </a:solidFill>
                        <a:latin typeface="+mn-lt"/>
                        <a:ea typeface="+mn-ea"/>
                        <a:cs typeface="+mn-cs"/>
                      </a:endParaRPr>
                    </a:p>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kern="1200" dirty="0">
                          <a:solidFill>
                            <a:schemeClr val="tx1"/>
                          </a:solidFill>
                          <a:latin typeface="+mn-lt"/>
                          <a:ea typeface="+mn-ea"/>
                          <a:cs typeface="+mn-cs"/>
                        </a:rPr>
                        <a:t>Customer notifications are sent up to 1 week</a:t>
                      </a:r>
                      <a:r>
                        <a:rPr lang="en-US" sz="900" b="0" kern="1200" baseline="0" dirty="0">
                          <a:solidFill>
                            <a:schemeClr val="tx1"/>
                          </a:solidFill>
                          <a:latin typeface="+mn-lt"/>
                          <a:ea typeface="+mn-ea"/>
                          <a:cs typeface="+mn-cs"/>
                        </a:rPr>
                        <a:t> </a:t>
                      </a:r>
                      <a:r>
                        <a:rPr lang="en-US" sz="900" b="0" kern="1200" dirty="0">
                          <a:solidFill>
                            <a:schemeClr val="tx1"/>
                          </a:solidFill>
                          <a:latin typeface="+mn-lt"/>
                          <a:ea typeface="+mn-ea"/>
                          <a:cs typeface="+mn-cs"/>
                        </a:rPr>
                        <a:t>in advance.</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dirty="0">
                          <a:solidFill>
                            <a:schemeClr val="tx1"/>
                          </a:solidFill>
                          <a:latin typeface="+mn-lt"/>
                        </a:rPr>
                        <a:t>All Data Centers (estimated start time): Friday 21:00 Local Data Center Time</a:t>
                      </a:r>
                    </a:p>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dirty="0">
                          <a:solidFill>
                            <a:schemeClr val="tx1"/>
                          </a:solidFill>
                          <a:latin typeface="+mn-lt"/>
                        </a:rPr>
                        <a:t>Sydney: Friday 23:00 Local Data Center Time (AEST)</a:t>
                      </a:r>
                    </a:p>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lang="en-US" sz="900" b="0" dirty="0">
                          <a:solidFill>
                            <a:schemeClr val="tx1"/>
                          </a:solidFill>
                          <a:latin typeface="+mn-lt"/>
                        </a:rPr>
                        <a:t>Middle East Customer Environments: Thursday 10:00 US Pacific Time</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919747">
                <a:tc>
                  <a:txBody>
                    <a:bodyPr/>
                    <a:lstStyle/>
                    <a:p>
                      <a:pPr marL="0" indent="0" algn="l">
                        <a:lnSpc>
                          <a:spcPct val="110000"/>
                        </a:lnSpc>
                        <a:spcBef>
                          <a:spcPts val="300"/>
                        </a:spcBef>
                        <a:spcAft>
                          <a:spcPts val="600"/>
                        </a:spcAft>
                        <a:buFont typeface="Arial" panose="020B0604020202020204" pitchFamily="34" charset="0"/>
                        <a:buNone/>
                      </a:pPr>
                      <a:r>
                        <a:rPr lang="en-US" sz="900" b="0" dirty="0">
                          <a:solidFill>
                            <a:schemeClr val="tx1"/>
                          </a:solidFill>
                          <a:latin typeface="+mn-lt"/>
                        </a:rPr>
                        <a:t>Exception Updates</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lvl="1" indent="0" algn="ctr" defTabSz="914400" rtl="0" eaLnBrk="1" latinLnBrk="0" hangingPunct="1">
                        <a:lnSpc>
                          <a:spcPct val="100000"/>
                        </a:lnSpc>
                        <a:spcBef>
                          <a:spcPts val="300"/>
                        </a:spcBef>
                        <a:spcAft>
                          <a:spcPts val="0"/>
                        </a:spcAft>
                        <a:buClrTx/>
                        <a:buSzPct val="100000"/>
                        <a:buFont typeface="Arial" panose="020B0604020202020204" pitchFamily="34" charset="0"/>
                        <a:buNone/>
                      </a:pPr>
                      <a:r>
                        <a:rPr lang="en-US" sz="900" b="0" kern="1200" dirty="0">
                          <a:solidFill>
                            <a:schemeClr val="tx1"/>
                          </a:solidFill>
                          <a:latin typeface="+mn-lt"/>
                          <a:ea typeface="+mn-ea"/>
                          <a:cs typeface="+mn-cs"/>
                        </a:rPr>
                        <a:t>Customer Requested. An exception request is required to be raised through SR.</a:t>
                      </a:r>
                    </a:p>
                  </a:txBody>
                  <a:tcPr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endParaRPr lang="en-US" sz="900" b="0" kern="1200" dirty="0">
                        <a:solidFill>
                          <a:schemeClr val="tx1"/>
                        </a:solidFill>
                        <a:latin typeface="+mn-lt"/>
                        <a:ea typeface="+mn-ea"/>
                        <a:cs typeface="+mn-cs"/>
                      </a:endParaRPr>
                    </a:p>
                  </a:txBody>
                  <a:tcPr marT="91440" marB="9144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endParaRPr lang="en-US" sz="900" b="0" kern="1200" dirty="0">
                        <a:solidFill>
                          <a:schemeClr val="tx1"/>
                        </a:solidFill>
                        <a:latin typeface="+mn-lt"/>
                        <a:ea typeface="+mn-ea"/>
                        <a:cs typeface="+mn-cs"/>
                      </a:endParaRPr>
                    </a:p>
                  </a:txBody>
                  <a:tcPr marT="91440" marB="9144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14300" marR="0" lvl="1" indent="-114300" algn="l" defTabSz="914400" rtl="0" eaLnBrk="1" fontAlgn="auto" latinLnBrk="0" hangingPunct="1">
                        <a:lnSpc>
                          <a:spcPct val="100000"/>
                        </a:lnSpc>
                        <a:spcBef>
                          <a:spcPts val="300"/>
                        </a:spcBef>
                        <a:spcAft>
                          <a:spcPts val="0"/>
                        </a:spcAft>
                        <a:buClrTx/>
                        <a:buSzPct val="100000"/>
                        <a:buFont typeface="Arial" panose="020B0604020202020204" pitchFamily="34" charset="0"/>
                        <a:buChar char="•"/>
                        <a:tabLst/>
                        <a:defRPr/>
                      </a:pPr>
                      <a:endParaRPr lang="en-US" sz="900" b="0" kern="1200" dirty="0">
                        <a:solidFill>
                          <a:schemeClr val="tx1"/>
                        </a:solidFill>
                        <a:latin typeface="+mn-lt"/>
                        <a:ea typeface="+mn-ea"/>
                        <a:cs typeface="+mn-cs"/>
                      </a:endParaRPr>
                    </a:p>
                  </a:txBody>
                  <a:tcPr marT="91440" marB="9144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516817"/>
                  </a:ext>
                </a:extLst>
              </a:tr>
            </a:tbl>
          </a:graphicData>
        </a:graphic>
      </p:graphicFrame>
    </p:spTree>
    <p:extLst>
      <p:ext uri="{BB962C8B-B14F-4D97-AF65-F5344CB8AC3E}">
        <p14:creationId xmlns:p14="http://schemas.microsoft.com/office/powerpoint/2010/main" val="113408503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Release Management using Testing Automation</a:t>
            </a:r>
            <a:endParaRPr lang="en-US" dirty="0"/>
          </a:p>
        </p:txBody>
      </p:sp>
      <p:sp>
        <p:nvSpPr>
          <p:cNvPr id="8" name="Text Placeholder 7"/>
          <p:cNvSpPr>
            <a:spLocks noGrp="1"/>
          </p:cNvSpPr>
          <p:nvPr>
            <p:ph type="body" idx="1"/>
          </p:nvPr>
        </p:nvSpPr>
        <p:spPr/>
        <p:txBody>
          <a:bodyPr/>
          <a:lstStyle/>
          <a:p>
            <a:r>
              <a:rPr lang="en-US" dirty="0"/>
              <a:t>Methodology and Approach</a:t>
            </a:r>
          </a:p>
        </p:txBody>
      </p:sp>
    </p:spTree>
    <p:extLst>
      <p:ext uri="{BB962C8B-B14F-4D97-AF65-F5344CB8AC3E}">
        <p14:creationId xmlns:p14="http://schemas.microsoft.com/office/powerpoint/2010/main" val="74847430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US" dirty="0"/>
              <a:t>Reducing the effort on the most repetitive task in deployments and updates – Testing. Initial automation will immediately bring 30% reduction in testing effort. Regular improvements in automation testing can bring an overall efficiency of 80-90% over a period of time.</a:t>
            </a:r>
          </a:p>
        </p:txBody>
      </p:sp>
      <p:sp>
        <p:nvSpPr>
          <p:cNvPr id="28" name="Title 3"/>
          <p:cNvSpPr>
            <a:spLocks noGrp="1"/>
          </p:cNvSpPr>
          <p:nvPr>
            <p:ph type="title"/>
          </p:nvPr>
        </p:nvSpPr>
        <p:spPr/>
        <p:txBody>
          <a:bodyPr/>
          <a:lstStyle/>
          <a:p>
            <a:r>
              <a:rPr lang="en-US" altLang="ja-JP" dirty="0"/>
              <a:t>Benefits: Testing Automation</a:t>
            </a:r>
            <a:br>
              <a:rPr lang="en-US" dirty="0"/>
            </a:br>
            <a:r>
              <a:rPr lang="en-US" altLang="ja-JP" dirty="0"/>
              <a:t> </a:t>
            </a:r>
            <a:endParaRPr lang="en-US" dirty="0"/>
          </a:p>
        </p:txBody>
      </p:sp>
      <p:sp>
        <p:nvSpPr>
          <p:cNvPr id="38" name="Rectangle 37"/>
          <p:cNvSpPr/>
          <p:nvPr/>
        </p:nvSpPr>
        <p:spPr bwMode="gray">
          <a:xfrm>
            <a:off x="6980508" y="1641534"/>
            <a:ext cx="3657600" cy="1188720"/>
          </a:xfrm>
          <a:prstGeom prst="rect">
            <a:avLst/>
          </a:prstGeom>
          <a:solidFill>
            <a:schemeClr val="accent1">
              <a:alpha val="15000"/>
            </a:schemeClr>
          </a:solidFill>
          <a:ln w="19050" algn="ctr">
            <a:solidFill>
              <a:schemeClr val="bg1"/>
            </a:solidFill>
            <a:miter lim="800000"/>
            <a:headEnd/>
            <a:tailEnd/>
          </a:ln>
          <a:effectLst/>
        </p:spPr>
        <p:txBody>
          <a:bodyPr wrap="square" lIns="88900" tIns="88900" rIns="88900" bIns="88900" rtlCol="0" anchor="ctr"/>
          <a:lstStyle/>
          <a:p>
            <a:pPr marL="0" lvl="1">
              <a:lnSpc>
                <a:spcPct val="106000"/>
              </a:lnSpc>
              <a:buSzPct val="100000"/>
            </a:pPr>
            <a:r>
              <a:rPr lang="en-US" sz="1000" b="1" u="sng" cap="all" dirty="0">
                <a:solidFill>
                  <a:srgbClr val="002776"/>
                </a:solidFill>
                <a:cs typeface="Knockout-HTF29-JuniorLiteweight"/>
              </a:rPr>
              <a:t>Improved resource utilization</a:t>
            </a:r>
          </a:p>
          <a:p>
            <a:pPr marL="0" lvl="1">
              <a:lnSpc>
                <a:spcPct val="106000"/>
              </a:lnSpc>
              <a:buSzPct val="100000"/>
            </a:pPr>
            <a:endParaRPr lang="en-US" sz="1000" dirty="0"/>
          </a:p>
          <a:p>
            <a:pPr marL="101600" lvl="1" indent="-101600">
              <a:lnSpc>
                <a:spcPct val="106000"/>
              </a:lnSpc>
              <a:buSzPct val="100000"/>
              <a:buFont typeface="Arial" panose="020B0604020202020204" pitchFamily="34" charset="0"/>
              <a:buChar char="•"/>
            </a:pPr>
            <a:r>
              <a:rPr lang="en-US" sz="1000" dirty="0"/>
              <a:t>Ability to run the tests at convenience </a:t>
            </a:r>
          </a:p>
          <a:p>
            <a:pPr marL="101600" lvl="1" indent="-101600">
              <a:lnSpc>
                <a:spcPct val="106000"/>
              </a:lnSpc>
              <a:buSzPct val="100000"/>
              <a:buFont typeface="Arial" panose="020B0604020202020204" pitchFamily="34" charset="0"/>
              <a:buChar char="•"/>
            </a:pPr>
            <a:r>
              <a:rPr lang="en-US" sz="1000" dirty="0"/>
              <a:t>Improved business and IT resource utilization</a:t>
            </a:r>
          </a:p>
          <a:p>
            <a:pPr marL="101600" lvl="1" indent="-101600">
              <a:lnSpc>
                <a:spcPct val="106000"/>
              </a:lnSpc>
              <a:buSzPct val="100000"/>
              <a:buFont typeface="Arial" panose="020B0604020202020204" pitchFamily="34" charset="0"/>
              <a:buChar char="•"/>
            </a:pPr>
            <a:r>
              <a:rPr lang="en-US" sz="1000" dirty="0"/>
              <a:t>Business resources can perform other value added activities rather than repetitive tasks</a:t>
            </a:r>
          </a:p>
        </p:txBody>
      </p:sp>
      <p:sp>
        <p:nvSpPr>
          <p:cNvPr id="44" name="Rectangle 43"/>
          <p:cNvSpPr/>
          <p:nvPr/>
        </p:nvSpPr>
        <p:spPr bwMode="gray">
          <a:xfrm>
            <a:off x="7780173" y="5248306"/>
            <a:ext cx="3657600" cy="1188720"/>
          </a:xfrm>
          <a:prstGeom prst="rect">
            <a:avLst/>
          </a:prstGeom>
          <a:solidFill>
            <a:schemeClr val="accent2">
              <a:alpha val="15000"/>
            </a:schemeClr>
          </a:solidFill>
          <a:ln w="19050" algn="ctr">
            <a:solidFill>
              <a:schemeClr val="bg1"/>
            </a:solidFill>
            <a:miter lim="800000"/>
            <a:headEnd/>
            <a:tailEnd/>
          </a:ln>
          <a:effectLst/>
        </p:spPr>
        <p:txBody>
          <a:bodyPr wrap="square" lIns="88900" tIns="88900" rIns="88900" bIns="88900" rtlCol="0" anchor="ctr"/>
          <a:lstStyle/>
          <a:p>
            <a:pPr marL="0" lvl="1">
              <a:lnSpc>
                <a:spcPct val="106000"/>
              </a:lnSpc>
              <a:spcAft>
                <a:spcPts val="600"/>
              </a:spcAft>
              <a:buSzPct val="100000"/>
            </a:pPr>
            <a:r>
              <a:rPr lang="en-US" sz="1000" b="1" u="sng" cap="all" dirty="0">
                <a:solidFill>
                  <a:srgbClr val="002776"/>
                </a:solidFill>
                <a:cs typeface="Knockout-HTF29-JuniorLiteweight"/>
              </a:rPr>
              <a:t>INCREASED EFFICIENCY AND QUALITY</a:t>
            </a:r>
          </a:p>
          <a:p>
            <a:pPr marL="171450" lvl="1" indent="-171450">
              <a:lnSpc>
                <a:spcPct val="106000"/>
              </a:lnSpc>
              <a:buSzPct val="100000"/>
              <a:buFont typeface="Arial" panose="020B0604020202020204" pitchFamily="34" charset="0"/>
              <a:buChar char="•"/>
            </a:pPr>
            <a:r>
              <a:rPr lang="en-US" sz="1000" dirty="0"/>
              <a:t>Enable business testers to rapidly execute tests, save time and enable test teams to meet aggressive deadlines. </a:t>
            </a:r>
          </a:p>
          <a:p>
            <a:pPr marL="171450" lvl="1" indent="-171450">
              <a:lnSpc>
                <a:spcPct val="106000"/>
              </a:lnSpc>
              <a:buSzPct val="100000"/>
              <a:buFont typeface="Arial" panose="020B0604020202020204" pitchFamily="34" charset="0"/>
              <a:buChar char="•"/>
            </a:pPr>
            <a:r>
              <a:rPr lang="en-US" sz="1000" dirty="0"/>
              <a:t>Automation also enables better test plan coverage, accurate defect replication, and better test execution practices</a:t>
            </a:r>
          </a:p>
        </p:txBody>
      </p:sp>
      <p:sp>
        <p:nvSpPr>
          <p:cNvPr id="50" name="Rectangle 49"/>
          <p:cNvSpPr/>
          <p:nvPr/>
        </p:nvSpPr>
        <p:spPr bwMode="gray">
          <a:xfrm>
            <a:off x="916766" y="2358833"/>
            <a:ext cx="3657600" cy="1188720"/>
          </a:xfrm>
          <a:prstGeom prst="rect">
            <a:avLst/>
          </a:prstGeom>
          <a:solidFill>
            <a:schemeClr val="accent3">
              <a:alpha val="15000"/>
            </a:schemeClr>
          </a:solidFill>
          <a:ln w="19050" algn="ctr">
            <a:solidFill>
              <a:schemeClr val="bg1"/>
            </a:solidFill>
            <a:miter lim="800000"/>
            <a:headEnd/>
            <a:tailEnd/>
          </a:ln>
          <a:effectLst/>
        </p:spPr>
        <p:txBody>
          <a:bodyPr wrap="square" lIns="88900" tIns="88900" rIns="88900" bIns="88900" rtlCol="0" anchor="ctr"/>
          <a:lstStyle/>
          <a:p>
            <a:pPr marL="0" lvl="1">
              <a:lnSpc>
                <a:spcPct val="106000"/>
              </a:lnSpc>
              <a:buSzPct val="100000"/>
            </a:pPr>
            <a:r>
              <a:rPr lang="en-US" sz="1000" b="1" u="sng" cap="all" dirty="0">
                <a:solidFill>
                  <a:srgbClr val="002776"/>
                </a:solidFill>
                <a:cs typeface="Knockout-HTF29-JuniorLiteweight"/>
              </a:rPr>
              <a:t>Lower operational costs</a:t>
            </a:r>
          </a:p>
          <a:p>
            <a:pPr marL="0" lvl="1">
              <a:lnSpc>
                <a:spcPct val="106000"/>
              </a:lnSpc>
              <a:buSzPct val="100000"/>
            </a:pPr>
            <a:endParaRPr lang="en-US" sz="1000" dirty="0"/>
          </a:p>
          <a:p>
            <a:pPr marL="114300" lvl="1" indent="-114300">
              <a:lnSpc>
                <a:spcPct val="106000"/>
              </a:lnSpc>
              <a:buSzPct val="100000"/>
              <a:buFont typeface="Arial" panose="020B0604020202020204" pitchFamily="34" charset="0"/>
              <a:buChar char="•"/>
            </a:pPr>
            <a:r>
              <a:rPr lang="en-US" sz="1000" dirty="0"/>
              <a:t>Reduced costs of test planning and execution by enabling use of automated test scripts</a:t>
            </a:r>
          </a:p>
          <a:p>
            <a:pPr marL="114300" lvl="1" indent="-114300">
              <a:lnSpc>
                <a:spcPct val="106000"/>
              </a:lnSpc>
              <a:buSzPct val="100000"/>
              <a:buFont typeface="Arial" panose="020B0604020202020204" pitchFamily="34" charset="0"/>
              <a:buChar char="•"/>
            </a:pPr>
            <a:r>
              <a:rPr lang="en-US" sz="1000" dirty="0"/>
              <a:t>Initial investment in RPA tool and specific test scripts creation is also minimal</a:t>
            </a:r>
          </a:p>
        </p:txBody>
      </p:sp>
      <p:sp>
        <p:nvSpPr>
          <p:cNvPr id="51" name="Freeform 21"/>
          <p:cNvSpPr>
            <a:spLocks/>
          </p:cNvSpPr>
          <p:nvPr/>
        </p:nvSpPr>
        <p:spPr bwMode="gray">
          <a:xfrm rot="3138891">
            <a:off x="6028354" y="1607747"/>
            <a:ext cx="634302" cy="1114813"/>
          </a:xfrm>
          <a:custGeom>
            <a:avLst/>
            <a:gdLst/>
            <a:ahLst/>
            <a:cxnLst>
              <a:cxn ang="0">
                <a:pos x="81" y="318"/>
              </a:cxn>
              <a:cxn ang="0">
                <a:pos x="163" y="59"/>
              </a:cxn>
              <a:cxn ang="0">
                <a:pos x="186" y="86"/>
              </a:cxn>
              <a:cxn ang="0">
                <a:pos x="203" y="4"/>
              </a:cxn>
              <a:cxn ang="0">
                <a:pos x="116" y="0"/>
              </a:cxn>
              <a:cxn ang="0">
                <a:pos x="137" y="26"/>
              </a:cxn>
              <a:cxn ang="0">
                <a:pos x="81" y="318"/>
              </a:cxn>
            </a:cxnLst>
            <a:rect l="0" t="0" r="r" b="b"/>
            <a:pathLst>
              <a:path w="203" h="318">
                <a:moveTo>
                  <a:pt x="81" y="318"/>
                </a:moveTo>
                <a:cubicBezTo>
                  <a:pt x="81" y="318"/>
                  <a:pt x="38" y="157"/>
                  <a:pt x="163" y="59"/>
                </a:cubicBezTo>
                <a:cubicBezTo>
                  <a:pt x="186" y="86"/>
                  <a:pt x="186" y="86"/>
                  <a:pt x="186" y="86"/>
                </a:cubicBezTo>
                <a:cubicBezTo>
                  <a:pt x="186" y="86"/>
                  <a:pt x="174" y="55"/>
                  <a:pt x="203" y="4"/>
                </a:cubicBezTo>
                <a:cubicBezTo>
                  <a:pt x="203" y="4"/>
                  <a:pt x="150" y="17"/>
                  <a:pt x="116" y="0"/>
                </a:cubicBezTo>
                <a:cubicBezTo>
                  <a:pt x="137" y="26"/>
                  <a:pt x="137" y="26"/>
                  <a:pt x="137" y="26"/>
                </a:cubicBezTo>
                <a:cubicBezTo>
                  <a:pt x="137" y="26"/>
                  <a:pt x="0" y="137"/>
                  <a:pt x="81" y="318"/>
                </a:cubicBezTo>
                <a:close/>
              </a:path>
            </a:pathLst>
          </a:custGeom>
          <a:solidFill>
            <a:schemeClr val="bg1">
              <a:lumMod val="75000"/>
            </a:schemeClr>
          </a:solidFill>
          <a:ln w="9525" cap="rnd">
            <a:noFill/>
            <a:prstDash val="solid"/>
            <a:round/>
            <a:headEnd/>
            <a:tailEnd/>
          </a:ln>
        </p:spPr>
        <p:txBody>
          <a:bodyPr vert="horz" wrap="square" lIns="91440" tIns="45720" rIns="91440" bIns="45720" numCol="1" anchor="t" anchorCtr="0" compatLnSpc="1">
            <a:prstTxWarp prst="textNoShape">
              <a:avLst/>
            </a:prstTxWarp>
          </a:bodyPr>
          <a:lstStyle/>
          <a:p>
            <a:endParaRPr lang="en-US" sz="1800" dirty="0">
              <a:solidFill>
                <a:srgbClr val="000000"/>
              </a:solidFill>
            </a:endParaRPr>
          </a:p>
        </p:txBody>
      </p:sp>
      <p:sp>
        <p:nvSpPr>
          <p:cNvPr id="52" name="Freeform 21"/>
          <p:cNvSpPr>
            <a:spLocks/>
          </p:cNvSpPr>
          <p:nvPr/>
        </p:nvSpPr>
        <p:spPr bwMode="gray">
          <a:xfrm rot="7043191">
            <a:off x="8054992" y="4083741"/>
            <a:ext cx="634302" cy="1114813"/>
          </a:xfrm>
          <a:custGeom>
            <a:avLst/>
            <a:gdLst/>
            <a:ahLst/>
            <a:cxnLst>
              <a:cxn ang="0">
                <a:pos x="81" y="318"/>
              </a:cxn>
              <a:cxn ang="0">
                <a:pos x="163" y="59"/>
              </a:cxn>
              <a:cxn ang="0">
                <a:pos x="186" y="86"/>
              </a:cxn>
              <a:cxn ang="0">
                <a:pos x="203" y="4"/>
              </a:cxn>
              <a:cxn ang="0">
                <a:pos x="116" y="0"/>
              </a:cxn>
              <a:cxn ang="0">
                <a:pos x="137" y="26"/>
              </a:cxn>
              <a:cxn ang="0">
                <a:pos x="81" y="318"/>
              </a:cxn>
            </a:cxnLst>
            <a:rect l="0" t="0" r="r" b="b"/>
            <a:pathLst>
              <a:path w="203" h="318">
                <a:moveTo>
                  <a:pt x="81" y="318"/>
                </a:moveTo>
                <a:cubicBezTo>
                  <a:pt x="81" y="318"/>
                  <a:pt x="38" y="157"/>
                  <a:pt x="163" y="59"/>
                </a:cubicBezTo>
                <a:cubicBezTo>
                  <a:pt x="186" y="86"/>
                  <a:pt x="186" y="86"/>
                  <a:pt x="186" y="86"/>
                </a:cubicBezTo>
                <a:cubicBezTo>
                  <a:pt x="186" y="86"/>
                  <a:pt x="174" y="55"/>
                  <a:pt x="203" y="4"/>
                </a:cubicBezTo>
                <a:cubicBezTo>
                  <a:pt x="203" y="4"/>
                  <a:pt x="150" y="17"/>
                  <a:pt x="116" y="0"/>
                </a:cubicBezTo>
                <a:cubicBezTo>
                  <a:pt x="137" y="26"/>
                  <a:pt x="137" y="26"/>
                  <a:pt x="137" y="26"/>
                </a:cubicBezTo>
                <a:cubicBezTo>
                  <a:pt x="137" y="26"/>
                  <a:pt x="0" y="137"/>
                  <a:pt x="81" y="318"/>
                </a:cubicBezTo>
                <a:close/>
              </a:path>
            </a:pathLst>
          </a:custGeom>
          <a:solidFill>
            <a:schemeClr val="bg1">
              <a:lumMod val="75000"/>
            </a:schemeClr>
          </a:solidFill>
          <a:ln w="9525" cap="rnd">
            <a:noFill/>
            <a:prstDash val="solid"/>
            <a:round/>
            <a:headEnd/>
            <a:tailEnd/>
          </a:ln>
        </p:spPr>
        <p:txBody>
          <a:bodyPr vert="horz" wrap="square" lIns="91440" tIns="45720" rIns="91440" bIns="45720" numCol="1" anchor="t" anchorCtr="0" compatLnSpc="1">
            <a:prstTxWarp prst="textNoShape">
              <a:avLst/>
            </a:prstTxWarp>
          </a:bodyPr>
          <a:lstStyle/>
          <a:p>
            <a:endParaRPr lang="en-US" sz="1800" dirty="0">
              <a:solidFill>
                <a:srgbClr val="000000"/>
              </a:solidFill>
            </a:endParaRPr>
          </a:p>
        </p:txBody>
      </p:sp>
      <p:sp>
        <p:nvSpPr>
          <p:cNvPr id="53" name="Freeform 21"/>
          <p:cNvSpPr>
            <a:spLocks/>
          </p:cNvSpPr>
          <p:nvPr/>
        </p:nvSpPr>
        <p:spPr bwMode="gray">
          <a:xfrm rot="2971513" flipH="1" flipV="1">
            <a:off x="5203049" y="6006673"/>
            <a:ext cx="634302" cy="1114813"/>
          </a:xfrm>
          <a:custGeom>
            <a:avLst/>
            <a:gdLst/>
            <a:ahLst/>
            <a:cxnLst>
              <a:cxn ang="0">
                <a:pos x="81" y="318"/>
              </a:cxn>
              <a:cxn ang="0">
                <a:pos x="163" y="59"/>
              </a:cxn>
              <a:cxn ang="0">
                <a:pos x="186" y="86"/>
              </a:cxn>
              <a:cxn ang="0">
                <a:pos x="203" y="4"/>
              </a:cxn>
              <a:cxn ang="0">
                <a:pos x="116" y="0"/>
              </a:cxn>
              <a:cxn ang="0">
                <a:pos x="137" y="26"/>
              </a:cxn>
              <a:cxn ang="0">
                <a:pos x="81" y="318"/>
              </a:cxn>
            </a:cxnLst>
            <a:rect l="0" t="0" r="r" b="b"/>
            <a:pathLst>
              <a:path w="203" h="318">
                <a:moveTo>
                  <a:pt x="81" y="318"/>
                </a:moveTo>
                <a:cubicBezTo>
                  <a:pt x="81" y="318"/>
                  <a:pt x="38" y="157"/>
                  <a:pt x="163" y="59"/>
                </a:cubicBezTo>
                <a:cubicBezTo>
                  <a:pt x="186" y="86"/>
                  <a:pt x="186" y="86"/>
                  <a:pt x="186" y="86"/>
                </a:cubicBezTo>
                <a:cubicBezTo>
                  <a:pt x="186" y="86"/>
                  <a:pt x="174" y="55"/>
                  <a:pt x="203" y="4"/>
                </a:cubicBezTo>
                <a:cubicBezTo>
                  <a:pt x="203" y="4"/>
                  <a:pt x="150" y="17"/>
                  <a:pt x="116" y="0"/>
                </a:cubicBezTo>
                <a:cubicBezTo>
                  <a:pt x="137" y="26"/>
                  <a:pt x="137" y="26"/>
                  <a:pt x="137" y="26"/>
                </a:cubicBezTo>
                <a:cubicBezTo>
                  <a:pt x="137" y="26"/>
                  <a:pt x="0" y="137"/>
                  <a:pt x="81" y="318"/>
                </a:cubicBezTo>
                <a:close/>
              </a:path>
            </a:pathLst>
          </a:custGeom>
          <a:solidFill>
            <a:schemeClr val="bg1">
              <a:lumMod val="75000"/>
            </a:schemeClr>
          </a:solidFill>
          <a:ln w="9525" cap="rnd">
            <a:noFill/>
            <a:prstDash val="solid"/>
            <a:round/>
            <a:headEnd/>
            <a:tailEnd/>
          </a:ln>
        </p:spPr>
        <p:txBody>
          <a:bodyPr vert="horz" wrap="square" lIns="91440" tIns="45720" rIns="91440" bIns="45720" numCol="1" anchor="t" anchorCtr="0" compatLnSpc="1">
            <a:prstTxWarp prst="textNoShape">
              <a:avLst/>
            </a:prstTxWarp>
          </a:bodyPr>
          <a:lstStyle/>
          <a:p>
            <a:endParaRPr lang="en-US" sz="1800" dirty="0">
              <a:solidFill>
                <a:srgbClr val="000000"/>
              </a:solidFill>
            </a:endParaRPr>
          </a:p>
        </p:txBody>
      </p:sp>
      <p:sp>
        <p:nvSpPr>
          <p:cNvPr id="54" name="Freeform 21"/>
          <p:cNvSpPr>
            <a:spLocks/>
          </p:cNvSpPr>
          <p:nvPr/>
        </p:nvSpPr>
        <p:spPr bwMode="gray">
          <a:xfrm rot="6691742" flipH="1" flipV="1">
            <a:off x="3029021" y="3604373"/>
            <a:ext cx="634302" cy="1114813"/>
          </a:xfrm>
          <a:custGeom>
            <a:avLst/>
            <a:gdLst/>
            <a:ahLst/>
            <a:cxnLst>
              <a:cxn ang="0">
                <a:pos x="81" y="318"/>
              </a:cxn>
              <a:cxn ang="0">
                <a:pos x="163" y="59"/>
              </a:cxn>
              <a:cxn ang="0">
                <a:pos x="186" y="86"/>
              </a:cxn>
              <a:cxn ang="0">
                <a:pos x="203" y="4"/>
              </a:cxn>
              <a:cxn ang="0">
                <a:pos x="116" y="0"/>
              </a:cxn>
              <a:cxn ang="0">
                <a:pos x="137" y="26"/>
              </a:cxn>
              <a:cxn ang="0">
                <a:pos x="81" y="318"/>
              </a:cxn>
            </a:cxnLst>
            <a:rect l="0" t="0" r="r" b="b"/>
            <a:pathLst>
              <a:path w="203" h="318">
                <a:moveTo>
                  <a:pt x="81" y="318"/>
                </a:moveTo>
                <a:cubicBezTo>
                  <a:pt x="81" y="318"/>
                  <a:pt x="38" y="157"/>
                  <a:pt x="163" y="59"/>
                </a:cubicBezTo>
                <a:cubicBezTo>
                  <a:pt x="186" y="86"/>
                  <a:pt x="186" y="86"/>
                  <a:pt x="186" y="86"/>
                </a:cubicBezTo>
                <a:cubicBezTo>
                  <a:pt x="186" y="86"/>
                  <a:pt x="174" y="55"/>
                  <a:pt x="203" y="4"/>
                </a:cubicBezTo>
                <a:cubicBezTo>
                  <a:pt x="203" y="4"/>
                  <a:pt x="150" y="17"/>
                  <a:pt x="116" y="0"/>
                </a:cubicBezTo>
                <a:cubicBezTo>
                  <a:pt x="137" y="26"/>
                  <a:pt x="137" y="26"/>
                  <a:pt x="137" y="26"/>
                </a:cubicBezTo>
                <a:cubicBezTo>
                  <a:pt x="137" y="26"/>
                  <a:pt x="0" y="137"/>
                  <a:pt x="81" y="318"/>
                </a:cubicBezTo>
                <a:close/>
              </a:path>
            </a:pathLst>
          </a:custGeom>
          <a:solidFill>
            <a:schemeClr val="bg1">
              <a:lumMod val="75000"/>
            </a:schemeClr>
          </a:solidFill>
          <a:ln w="9525" cap="rnd">
            <a:noFill/>
            <a:prstDash val="solid"/>
            <a:round/>
            <a:headEnd/>
            <a:tailEnd/>
          </a:ln>
        </p:spPr>
        <p:txBody>
          <a:bodyPr vert="horz" wrap="square" lIns="91440" tIns="45720" rIns="91440" bIns="45720" numCol="1" anchor="t" anchorCtr="0" compatLnSpc="1">
            <a:prstTxWarp prst="textNoShape">
              <a:avLst/>
            </a:prstTxWarp>
          </a:bodyPr>
          <a:lstStyle/>
          <a:p>
            <a:endParaRPr lang="en-US" sz="1800" dirty="0">
              <a:solidFill>
                <a:srgbClr val="000000"/>
              </a:solidFill>
            </a:endParaRPr>
          </a:p>
        </p:txBody>
      </p:sp>
      <p:grpSp>
        <p:nvGrpSpPr>
          <p:cNvPr id="7" name="Group 6"/>
          <p:cNvGrpSpPr>
            <a:grpSpLocks noChangeAspect="1"/>
          </p:cNvGrpSpPr>
          <p:nvPr/>
        </p:nvGrpSpPr>
        <p:grpSpPr>
          <a:xfrm>
            <a:off x="6563321" y="3714879"/>
            <a:ext cx="1216852" cy="1322195"/>
            <a:chOff x="6315893" y="3887002"/>
            <a:chExt cx="1431591" cy="1555524"/>
          </a:xfrm>
        </p:grpSpPr>
        <p:grpSp>
          <p:nvGrpSpPr>
            <p:cNvPr id="65" name="Group 64"/>
            <p:cNvGrpSpPr/>
            <p:nvPr/>
          </p:nvGrpSpPr>
          <p:grpSpPr>
            <a:xfrm>
              <a:off x="6315893" y="3887002"/>
              <a:ext cx="1431591" cy="1555524"/>
              <a:chOff x="990600" y="2067354"/>
              <a:chExt cx="2219960" cy="2412141"/>
            </a:xfrm>
          </p:grpSpPr>
          <p:sp>
            <p:nvSpPr>
              <p:cNvPr id="67" name="Freeform 66"/>
              <p:cNvSpPr/>
              <p:nvPr/>
            </p:nvSpPr>
            <p:spPr bwMode="gray">
              <a:xfrm>
                <a:off x="990600" y="3295855"/>
                <a:ext cx="2219960" cy="1183640"/>
              </a:xfrm>
              <a:custGeom>
                <a:avLst/>
                <a:gdLst>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21117"/>
                  <a:gd name="connsiteY0" fmla="*/ 10160 h 1183640"/>
                  <a:gd name="connsiteX1" fmla="*/ 193040 w 2221117"/>
                  <a:gd name="connsiteY1" fmla="*/ 0 h 1183640"/>
                  <a:gd name="connsiteX2" fmla="*/ 482600 w 2221117"/>
                  <a:gd name="connsiteY2" fmla="*/ 721360 h 1183640"/>
                  <a:gd name="connsiteX3" fmla="*/ 2219960 w 2221117"/>
                  <a:gd name="connsiteY3" fmla="*/ 15240 h 1183640"/>
                  <a:gd name="connsiteX4" fmla="*/ 1193800 w 2221117"/>
                  <a:gd name="connsiteY4" fmla="*/ 1046480 h 1183640"/>
                  <a:gd name="connsiteX5" fmla="*/ 1188720 w 2221117"/>
                  <a:gd name="connsiteY5" fmla="*/ 1183640 h 1183640"/>
                  <a:gd name="connsiteX6" fmla="*/ 289560 w 2221117"/>
                  <a:gd name="connsiteY6" fmla="*/ 762000 h 1183640"/>
                  <a:gd name="connsiteX7" fmla="*/ 0 w 2221117"/>
                  <a:gd name="connsiteY7" fmla="*/ 10160 h 1183640"/>
                  <a:gd name="connsiteX0" fmla="*/ 0 w 2221133"/>
                  <a:gd name="connsiteY0" fmla="*/ 10160 h 1183640"/>
                  <a:gd name="connsiteX1" fmla="*/ 193040 w 2221133"/>
                  <a:gd name="connsiteY1" fmla="*/ 0 h 1183640"/>
                  <a:gd name="connsiteX2" fmla="*/ 482600 w 2221133"/>
                  <a:gd name="connsiteY2" fmla="*/ 721360 h 1183640"/>
                  <a:gd name="connsiteX3" fmla="*/ 2219960 w 2221133"/>
                  <a:gd name="connsiteY3" fmla="*/ 15240 h 1183640"/>
                  <a:gd name="connsiteX4" fmla="*/ 1193800 w 2221133"/>
                  <a:gd name="connsiteY4" fmla="*/ 1046480 h 1183640"/>
                  <a:gd name="connsiteX5" fmla="*/ 1188720 w 2221133"/>
                  <a:gd name="connsiteY5" fmla="*/ 1183640 h 1183640"/>
                  <a:gd name="connsiteX6" fmla="*/ 289560 w 2221133"/>
                  <a:gd name="connsiteY6" fmla="*/ 762000 h 1183640"/>
                  <a:gd name="connsiteX7" fmla="*/ 0 w 2221133"/>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960" h="1183640">
                    <a:moveTo>
                      <a:pt x="0" y="10160"/>
                    </a:moveTo>
                    <a:lnTo>
                      <a:pt x="193040" y="0"/>
                    </a:lnTo>
                    <a:cubicBezTo>
                      <a:pt x="182880" y="149013"/>
                      <a:pt x="213360" y="409787"/>
                      <a:pt x="482600" y="721360"/>
                    </a:cubicBezTo>
                    <a:cubicBezTo>
                      <a:pt x="1066800" y="1293707"/>
                      <a:pt x="2159000" y="895773"/>
                      <a:pt x="2219960" y="15240"/>
                    </a:cubicBezTo>
                    <a:cubicBezTo>
                      <a:pt x="2197947" y="755227"/>
                      <a:pt x="1546013" y="1027853"/>
                      <a:pt x="1193800" y="1046480"/>
                    </a:cubicBezTo>
                    <a:lnTo>
                      <a:pt x="1188720" y="1183640"/>
                    </a:lnTo>
                    <a:cubicBezTo>
                      <a:pt x="939800" y="1159933"/>
                      <a:pt x="594360" y="1110827"/>
                      <a:pt x="289560" y="762000"/>
                    </a:cubicBezTo>
                    <a:cubicBezTo>
                      <a:pt x="50800" y="506307"/>
                      <a:pt x="10160" y="154093"/>
                      <a:pt x="0" y="10160"/>
                    </a:cubicBezTo>
                    <a:close/>
                  </a:path>
                </a:pathLst>
              </a:cu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68" name="Freeform 67"/>
              <p:cNvSpPr/>
              <p:nvPr/>
            </p:nvSpPr>
            <p:spPr bwMode="gray">
              <a:xfrm flipH="1" flipV="1">
                <a:off x="990600" y="2067354"/>
                <a:ext cx="2219960" cy="1183640"/>
              </a:xfrm>
              <a:custGeom>
                <a:avLst/>
                <a:gdLst>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21117"/>
                  <a:gd name="connsiteY0" fmla="*/ 10160 h 1183640"/>
                  <a:gd name="connsiteX1" fmla="*/ 193040 w 2221117"/>
                  <a:gd name="connsiteY1" fmla="*/ 0 h 1183640"/>
                  <a:gd name="connsiteX2" fmla="*/ 482600 w 2221117"/>
                  <a:gd name="connsiteY2" fmla="*/ 721360 h 1183640"/>
                  <a:gd name="connsiteX3" fmla="*/ 2219960 w 2221117"/>
                  <a:gd name="connsiteY3" fmla="*/ 15240 h 1183640"/>
                  <a:gd name="connsiteX4" fmla="*/ 1193800 w 2221117"/>
                  <a:gd name="connsiteY4" fmla="*/ 1046480 h 1183640"/>
                  <a:gd name="connsiteX5" fmla="*/ 1188720 w 2221117"/>
                  <a:gd name="connsiteY5" fmla="*/ 1183640 h 1183640"/>
                  <a:gd name="connsiteX6" fmla="*/ 289560 w 2221117"/>
                  <a:gd name="connsiteY6" fmla="*/ 762000 h 1183640"/>
                  <a:gd name="connsiteX7" fmla="*/ 0 w 2221117"/>
                  <a:gd name="connsiteY7" fmla="*/ 10160 h 1183640"/>
                  <a:gd name="connsiteX0" fmla="*/ 0 w 2221133"/>
                  <a:gd name="connsiteY0" fmla="*/ 10160 h 1183640"/>
                  <a:gd name="connsiteX1" fmla="*/ 193040 w 2221133"/>
                  <a:gd name="connsiteY1" fmla="*/ 0 h 1183640"/>
                  <a:gd name="connsiteX2" fmla="*/ 482600 w 2221133"/>
                  <a:gd name="connsiteY2" fmla="*/ 721360 h 1183640"/>
                  <a:gd name="connsiteX3" fmla="*/ 2219960 w 2221133"/>
                  <a:gd name="connsiteY3" fmla="*/ 15240 h 1183640"/>
                  <a:gd name="connsiteX4" fmla="*/ 1193800 w 2221133"/>
                  <a:gd name="connsiteY4" fmla="*/ 1046480 h 1183640"/>
                  <a:gd name="connsiteX5" fmla="*/ 1188720 w 2221133"/>
                  <a:gd name="connsiteY5" fmla="*/ 1183640 h 1183640"/>
                  <a:gd name="connsiteX6" fmla="*/ 289560 w 2221133"/>
                  <a:gd name="connsiteY6" fmla="*/ 762000 h 1183640"/>
                  <a:gd name="connsiteX7" fmla="*/ 0 w 2221133"/>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960" h="1183640">
                    <a:moveTo>
                      <a:pt x="0" y="10160"/>
                    </a:moveTo>
                    <a:lnTo>
                      <a:pt x="193040" y="0"/>
                    </a:lnTo>
                    <a:cubicBezTo>
                      <a:pt x="182880" y="149013"/>
                      <a:pt x="213360" y="409787"/>
                      <a:pt x="482600" y="721360"/>
                    </a:cubicBezTo>
                    <a:cubicBezTo>
                      <a:pt x="1066800" y="1293707"/>
                      <a:pt x="2159000" y="895773"/>
                      <a:pt x="2219960" y="15240"/>
                    </a:cubicBezTo>
                    <a:cubicBezTo>
                      <a:pt x="2197947" y="755227"/>
                      <a:pt x="1546013" y="1027853"/>
                      <a:pt x="1193800" y="1046480"/>
                    </a:cubicBezTo>
                    <a:lnTo>
                      <a:pt x="1188720" y="1183640"/>
                    </a:lnTo>
                    <a:cubicBezTo>
                      <a:pt x="939800" y="1159933"/>
                      <a:pt x="594360" y="1110827"/>
                      <a:pt x="289560" y="762000"/>
                    </a:cubicBezTo>
                    <a:cubicBezTo>
                      <a:pt x="50800" y="506307"/>
                      <a:pt x="10160" y="154093"/>
                      <a:pt x="0" y="10160"/>
                    </a:cubicBezTo>
                    <a:close/>
                  </a:path>
                </a:pathLst>
              </a:cu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69" name="Oval 68"/>
              <p:cNvSpPr/>
              <p:nvPr/>
            </p:nvSpPr>
            <p:spPr bwMode="gray">
              <a:xfrm>
                <a:off x="1262380" y="2412794"/>
                <a:ext cx="1676400" cy="1676400"/>
              </a:xfrm>
              <a:prstGeom prst="ellipse">
                <a:avLst/>
              </a:prstGeom>
              <a:solidFill>
                <a:schemeClr val="accent2"/>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grpSp>
        <p:sp>
          <p:nvSpPr>
            <p:cNvPr id="93" name="Freeform 157"/>
            <p:cNvSpPr>
              <a:spLocks noEditPoints="1"/>
            </p:cNvSpPr>
            <p:nvPr/>
          </p:nvSpPr>
          <p:spPr bwMode="auto">
            <a:xfrm>
              <a:off x="6765226" y="4371746"/>
              <a:ext cx="535694" cy="519186"/>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GB" sz="1100" b="1" i="0" u="none" strike="noStrike" kern="0" cap="none" spc="0" normalizeH="0" baseline="0" noProof="0" dirty="0">
                <a:ln>
                  <a:noFill/>
                </a:ln>
                <a:solidFill>
                  <a:srgbClr val="002776"/>
                </a:solidFill>
                <a:effectLst/>
                <a:uLnTx/>
                <a:uFillTx/>
                <a:latin typeface="+mj-lt"/>
                <a:cs typeface="Arial" pitchFamily="34" charset="0"/>
              </a:endParaRPr>
            </a:p>
          </p:txBody>
        </p:sp>
        <p:sp>
          <p:nvSpPr>
            <p:cNvPr id="94" name="Freeform 158"/>
            <p:cNvSpPr>
              <a:spLocks noEditPoints="1"/>
            </p:cNvSpPr>
            <p:nvPr/>
          </p:nvSpPr>
          <p:spPr bwMode="auto">
            <a:xfrm>
              <a:off x="6866063" y="4478637"/>
              <a:ext cx="334021" cy="314566"/>
            </a:xfrm>
            <a:custGeom>
              <a:avLst/>
              <a:gdLst>
                <a:gd name="T0" fmla="*/ 254 w 320"/>
                <a:gd name="T1" fmla="*/ 161 h 310"/>
                <a:gd name="T2" fmla="*/ 244 w 320"/>
                <a:gd name="T3" fmla="*/ 160 h 310"/>
                <a:gd name="T4" fmla="*/ 198 w 320"/>
                <a:gd name="T5" fmla="*/ 179 h 310"/>
                <a:gd name="T6" fmla="*/ 192 w 320"/>
                <a:gd name="T7" fmla="*/ 189 h 310"/>
                <a:gd name="T8" fmla="*/ 192 w 320"/>
                <a:gd name="T9" fmla="*/ 235 h 310"/>
                <a:gd name="T10" fmla="*/ 196 w 320"/>
                <a:gd name="T11" fmla="*/ 244 h 310"/>
                <a:gd name="T12" fmla="*/ 202 w 320"/>
                <a:gd name="T13" fmla="*/ 246 h 310"/>
                <a:gd name="T14" fmla="*/ 207 w 320"/>
                <a:gd name="T15" fmla="*/ 245 h 310"/>
                <a:gd name="T16" fmla="*/ 252 w 320"/>
                <a:gd name="T17" fmla="*/ 225 h 310"/>
                <a:gd name="T18" fmla="*/ 259 w 320"/>
                <a:gd name="T19" fmla="*/ 215 h 310"/>
                <a:gd name="T20" fmla="*/ 259 w 320"/>
                <a:gd name="T21" fmla="*/ 169 h 310"/>
                <a:gd name="T22" fmla="*/ 254 w 320"/>
                <a:gd name="T23" fmla="*/ 161 h 310"/>
                <a:gd name="T24" fmla="*/ 238 w 320"/>
                <a:gd name="T25" fmla="*/ 208 h 310"/>
                <a:gd name="T26" fmla="*/ 213 w 320"/>
                <a:gd name="T27" fmla="*/ 219 h 310"/>
                <a:gd name="T28" fmla="*/ 213 w 320"/>
                <a:gd name="T29" fmla="*/ 196 h 310"/>
                <a:gd name="T30" fmla="*/ 238 w 320"/>
                <a:gd name="T31" fmla="*/ 186 h 310"/>
                <a:gd name="T32" fmla="*/ 238 w 320"/>
                <a:gd name="T33" fmla="*/ 208 h 310"/>
                <a:gd name="T34" fmla="*/ 313 w 320"/>
                <a:gd name="T35" fmla="*/ 65 h 310"/>
                <a:gd name="T36" fmla="*/ 164 w 320"/>
                <a:gd name="T37" fmla="*/ 1 h 310"/>
                <a:gd name="T38" fmla="*/ 155 w 320"/>
                <a:gd name="T39" fmla="*/ 1 h 310"/>
                <a:gd name="T40" fmla="*/ 6 w 320"/>
                <a:gd name="T41" fmla="*/ 65 h 310"/>
                <a:gd name="T42" fmla="*/ 6 w 320"/>
                <a:gd name="T43" fmla="*/ 65 h 310"/>
                <a:gd name="T44" fmla="*/ 6 w 320"/>
                <a:gd name="T45" fmla="*/ 65 h 310"/>
                <a:gd name="T46" fmla="*/ 6 w 320"/>
                <a:gd name="T47" fmla="*/ 65 h 310"/>
                <a:gd name="T48" fmla="*/ 0 w 320"/>
                <a:gd name="T49" fmla="*/ 75 h 310"/>
                <a:gd name="T50" fmla="*/ 0 w 320"/>
                <a:gd name="T51" fmla="*/ 224 h 310"/>
                <a:gd name="T52" fmla="*/ 6 w 320"/>
                <a:gd name="T53" fmla="*/ 234 h 310"/>
                <a:gd name="T54" fmla="*/ 155 w 320"/>
                <a:gd name="T55" fmla="*/ 309 h 310"/>
                <a:gd name="T56" fmla="*/ 160 w 320"/>
                <a:gd name="T57" fmla="*/ 310 h 310"/>
                <a:gd name="T58" fmla="*/ 160 w 320"/>
                <a:gd name="T59" fmla="*/ 310 h 310"/>
                <a:gd name="T60" fmla="*/ 160 w 320"/>
                <a:gd name="T61" fmla="*/ 310 h 310"/>
                <a:gd name="T62" fmla="*/ 160 w 320"/>
                <a:gd name="T63" fmla="*/ 310 h 310"/>
                <a:gd name="T64" fmla="*/ 163 w 320"/>
                <a:gd name="T65" fmla="*/ 309 h 310"/>
                <a:gd name="T66" fmla="*/ 164 w 320"/>
                <a:gd name="T67" fmla="*/ 309 h 310"/>
                <a:gd name="T68" fmla="*/ 313 w 320"/>
                <a:gd name="T69" fmla="*/ 245 h 310"/>
                <a:gd name="T70" fmla="*/ 320 w 320"/>
                <a:gd name="T71" fmla="*/ 235 h 310"/>
                <a:gd name="T72" fmla="*/ 320 w 320"/>
                <a:gd name="T73" fmla="*/ 75 h 310"/>
                <a:gd name="T74" fmla="*/ 313 w 320"/>
                <a:gd name="T75" fmla="*/ 65 h 310"/>
                <a:gd name="T76" fmla="*/ 160 w 320"/>
                <a:gd name="T77" fmla="*/ 127 h 310"/>
                <a:gd name="T78" fmla="*/ 112 w 320"/>
                <a:gd name="T79" fmla="*/ 107 h 310"/>
                <a:gd name="T80" fmla="*/ 234 w 320"/>
                <a:gd name="T81" fmla="*/ 55 h 310"/>
                <a:gd name="T82" fmla="*/ 282 w 320"/>
                <a:gd name="T83" fmla="*/ 75 h 310"/>
                <a:gd name="T84" fmla="*/ 160 w 320"/>
                <a:gd name="T85" fmla="*/ 127 h 310"/>
                <a:gd name="T86" fmla="*/ 160 w 320"/>
                <a:gd name="T87" fmla="*/ 23 h 310"/>
                <a:gd name="T88" fmla="*/ 207 w 320"/>
                <a:gd name="T89" fmla="*/ 43 h 310"/>
                <a:gd name="T90" fmla="*/ 85 w 320"/>
                <a:gd name="T91" fmla="*/ 95 h 310"/>
                <a:gd name="T92" fmla="*/ 37 w 320"/>
                <a:gd name="T93" fmla="*/ 75 h 310"/>
                <a:gd name="T94" fmla="*/ 160 w 320"/>
                <a:gd name="T95" fmla="*/ 23 h 310"/>
                <a:gd name="T96" fmla="*/ 21 w 320"/>
                <a:gd name="T97" fmla="*/ 218 h 310"/>
                <a:gd name="T98" fmla="*/ 21 w 320"/>
                <a:gd name="T99" fmla="*/ 91 h 310"/>
                <a:gd name="T100" fmla="*/ 149 w 320"/>
                <a:gd name="T101" fmla="*/ 146 h 310"/>
                <a:gd name="T102" fmla="*/ 149 w 320"/>
                <a:gd name="T103" fmla="*/ 282 h 310"/>
                <a:gd name="T104" fmla="*/ 21 w 320"/>
                <a:gd name="T105" fmla="*/ 218 h 310"/>
                <a:gd name="T106" fmla="*/ 170 w 320"/>
                <a:gd name="T107" fmla="*/ 283 h 310"/>
                <a:gd name="T108" fmla="*/ 170 w 320"/>
                <a:gd name="T109" fmla="*/ 146 h 310"/>
                <a:gd name="T110" fmla="*/ 298 w 320"/>
                <a:gd name="T111" fmla="*/ 91 h 310"/>
                <a:gd name="T112" fmla="*/ 298 w 320"/>
                <a:gd name="T113" fmla="*/ 228 h 310"/>
                <a:gd name="T114" fmla="*/ 170 w 320"/>
                <a:gd name="T115" fmla="*/ 283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10">
                  <a:moveTo>
                    <a:pt x="254" y="161"/>
                  </a:moveTo>
                  <a:cubicBezTo>
                    <a:pt x="251" y="159"/>
                    <a:pt x="247" y="158"/>
                    <a:pt x="244" y="160"/>
                  </a:cubicBezTo>
                  <a:cubicBezTo>
                    <a:pt x="198" y="179"/>
                    <a:pt x="198" y="179"/>
                    <a:pt x="198" y="179"/>
                  </a:cubicBezTo>
                  <a:cubicBezTo>
                    <a:pt x="194" y="181"/>
                    <a:pt x="192" y="185"/>
                    <a:pt x="192" y="189"/>
                  </a:cubicBezTo>
                  <a:cubicBezTo>
                    <a:pt x="192" y="235"/>
                    <a:pt x="192" y="235"/>
                    <a:pt x="192" y="235"/>
                  </a:cubicBezTo>
                  <a:cubicBezTo>
                    <a:pt x="192" y="239"/>
                    <a:pt x="193" y="242"/>
                    <a:pt x="196" y="244"/>
                  </a:cubicBezTo>
                  <a:cubicBezTo>
                    <a:pt x="198" y="245"/>
                    <a:pt x="200" y="246"/>
                    <a:pt x="202" y="246"/>
                  </a:cubicBezTo>
                  <a:cubicBezTo>
                    <a:pt x="204" y="246"/>
                    <a:pt x="205" y="245"/>
                    <a:pt x="207" y="245"/>
                  </a:cubicBezTo>
                  <a:cubicBezTo>
                    <a:pt x="252" y="225"/>
                    <a:pt x="252" y="225"/>
                    <a:pt x="252" y="225"/>
                  </a:cubicBezTo>
                  <a:cubicBezTo>
                    <a:pt x="256" y="223"/>
                    <a:pt x="259" y="220"/>
                    <a:pt x="259" y="215"/>
                  </a:cubicBezTo>
                  <a:cubicBezTo>
                    <a:pt x="259" y="169"/>
                    <a:pt x="259" y="169"/>
                    <a:pt x="259" y="169"/>
                  </a:cubicBezTo>
                  <a:cubicBezTo>
                    <a:pt x="259" y="166"/>
                    <a:pt x="257" y="163"/>
                    <a:pt x="254" y="161"/>
                  </a:cubicBezTo>
                  <a:close/>
                  <a:moveTo>
                    <a:pt x="238" y="208"/>
                  </a:moveTo>
                  <a:cubicBezTo>
                    <a:pt x="213" y="219"/>
                    <a:pt x="213" y="219"/>
                    <a:pt x="213" y="219"/>
                  </a:cubicBezTo>
                  <a:cubicBezTo>
                    <a:pt x="213" y="196"/>
                    <a:pt x="213" y="196"/>
                    <a:pt x="213" y="196"/>
                  </a:cubicBezTo>
                  <a:cubicBezTo>
                    <a:pt x="238" y="186"/>
                    <a:pt x="238" y="186"/>
                    <a:pt x="238" y="186"/>
                  </a:cubicBezTo>
                  <a:lnTo>
                    <a:pt x="238" y="208"/>
                  </a:lnTo>
                  <a:close/>
                  <a:moveTo>
                    <a:pt x="313" y="65"/>
                  </a:moveTo>
                  <a:cubicBezTo>
                    <a:pt x="164" y="1"/>
                    <a:pt x="164" y="1"/>
                    <a:pt x="164" y="1"/>
                  </a:cubicBezTo>
                  <a:cubicBezTo>
                    <a:pt x="161" y="0"/>
                    <a:pt x="158" y="0"/>
                    <a:pt x="155" y="1"/>
                  </a:cubicBezTo>
                  <a:cubicBezTo>
                    <a:pt x="6" y="65"/>
                    <a:pt x="6" y="65"/>
                    <a:pt x="6" y="65"/>
                  </a:cubicBezTo>
                  <a:cubicBezTo>
                    <a:pt x="6" y="65"/>
                    <a:pt x="6" y="65"/>
                    <a:pt x="6" y="65"/>
                  </a:cubicBezTo>
                  <a:cubicBezTo>
                    <a:pt x="6" y="65"/>
                    <a:pt x="6" y="65"/>
                    <a:pt x="6" y="65"/>
                  </a:cubicBezTo>
                  <a:cubicBezTo>
                    <a:pt x="6" y="65"/>
                    <a:pt x="6" y="65"/>
                    <a:pt x="6" y="65"/>
                  </a:cubicBezTo>
                  <a:cubicBezTo>
                    <a:pt x="2" y="67"/>
                    <a:pt x="0" y="71"/>
                    <a:pt x="0" y="75"/>
                  </a:cubicBezTo>
                  <a:cubicBezTo>
                    <a:pt x="0" y="224"/>
                    <a:pt x="0" y="224"/>
                    <a:pt x="0" y="224"/>
                  </a:cubicBezTo>
                  <a:cubicBezTo>
                    <a:pt x="0" y="228"/>
                    <a:pt x="2" y="232"/>
                    <a:pt x="6" y="234"/>
                  </a:cubicBezTo>
                  <a:cubicBezTo>
                    <a:pt x="155" y="309"/>
                    <a:pt x="155" y="309"/>
                    <a:pt x="155" y="309"/>
                  </a:cubicBezTo>
                  <a:cubicBezTo>
                    <a:pt x="156" y="309"/>
                    <a:pt x="158" y="310"/>
                    <a:pt x="160" y="310"/>
                  </a:cubicBezTo>
                  <a:cubicBezTo>
                    <a:pt x="160" y="310"/>
                    <a:pt x="160" y="310"/>
                    <a:pt x="160" y="310"/>
                  </a:cubicBezTo>
                  <a:cubicBezTo>
                    <a:pt x="160" y="310"/>
                    <a:pt x="160" y="310"/>
                    <a:pt x="160" y="310"/>
                  </a:cubicBezTo>
                  <a:cubicBezTo>
                    <a:pt x="160" y="310"/>
                    <a:pt x="160" y="310"/>
                    <a:pt x="160" y="310"/>
                  </a:cubicBezTo>
                  <a:cubicBezTo>
                    <a:pt x="161" y="310"/>
                    <a:pt x="162" y="309"/>
                    <a:pt x="163" y="309"/>
                  </a:cubicBezTo>
                  <a:cubicBezTo>
                    <a:pt x="164" y="309"/>
                    <a:pt x="164" y="309"/>
                    <a:pt x="164" y="309"/>
                  </a:cubicBezTo>
                  <a:cubicBezTo>
                    <a:pt x="313" y="245"/>
                    <a:pt x="313" y="245"/>
                    <a:pt x="313" y="245"/>
                  </a:cubicBezTo>
                  <a:cubicBezTo>
                    <a:pt x="317" y="243"/>
                    <a:pt x="320" y="239"/>
                    <a:pt x="320" y="235"/>
                  </a:cubicBezTo>
                  <a:cubicBezTo>
                    <a:pt x="320" y="75"/>
                    <a:pt x="320" y="75"/>
                    <a:pt x="320" y="75"/>
                  </a:cubicBezTo>
                  <a:cubicBezTo>
                    <a:pt x="320" y="71"/>
                    <a:pt x="317" y="67"/>
                    <a:pt x="313" y="65"/>
                  </a:cubicBezTo>
                  <a:close/>
                  <a:moveTo>
                    <a:pt x="160" y="127"/>
                  </a:moveTo>
                  <a:cubicBezTo>
                    <a:pt x="112" y="107"/>
                    <a:pt x="112" y="107"/>
                    <a:pt x="112" y="107"/>
                  </a:cubicBezTo>
                  <a:cubicBezTo>
                    <a:pt x="234" y="55"/>
                    <a:pt x="234" y="55"/>
                    <a:pt x="234" y="55"/>
                  </a:cubicBezTo>
                  <a:cubicBezTo>
                    <a:pt x="282" y="75"/>
                    <a:pt x="282" y="75"/>
                    <a:pt x="282" y="75"/>
                  </a:cubicBezTo>
                  <a:lnTo>
                    <a:pt x="160" y="127"/>
                  </a:lnTo>
                  <a:close/>
                  <a:moveTo>
                    <a:pt x="160" y="23"/>
                  </a:moveTo>
                  <a:cubicBezTo>
                    <a:pt x="207" y="43"/>
                    <a:pt x="207" y="43"/>
                    <a:pt x="207" y="43"/>
                  </a:cubicBezTo>
                  <a:cubicBezTo>
                    <a:pt x="85" y="95"/>
                    <a:pt x="85" y="95"/>
                    <a:pt x="85" y="95"/>
                  </a:cubicBezTo>
                  <a:cubicBezTo>
                    <a:pt x="37" y="75"/>
                    <a:pt x="37" y="75"/>
                    <a:pt x="37" y="75"/>
                  </a:cubicBezTo>
                  <a:lnTo>
                    <a:pt x="160" y="23"/>
                  </a:lnTo>
                  <a:close/>
                  <a:moveTo>
                    <a:pt x="21" y="218"/>
                  </a:moveTo>
                  <a:cubicBezTo>
                    <a:pt x="21" y="91"/>
                    <a:pt x="21" y="91"/>
                    <a:pt x="21" y="91"/>
                  </a:cubicBezTo>
                  <a:cubicBezTo>
                    <a:pt x="149" y="146"/>
                    <a:pt x="149" y="146"/>
                    <a:pt x="149" y="146"/>
                  </a:cubicBezTo>
                  <a:cubicBezTo>
                    <a:pt x="149" y="282"/>
                    <a:pt x="149" y="282"/>
                    <a:pt x="149" y="282"/>
                  </a:cubicBezTo>
                  <a:lnTo>
                    <a:pt x="21" y="218"/>
                  </a:lnTo>
                  <a:close/>
                  <a:moveTo>
                    <a:pt x="170" y="283"/>
                  </a:moveTo>
                  <a:cubicBezTo>
                    <a:pt x="170" y="146"/>
                    <a:pt x="170" y="146"/>
                    <a:pt x="170" y="146"/>
                  </a:cubicBezTo>
                  <a:cubicBezTo>
                    <a:pt x="298" y="91"/>
                    <a:pt x="298" y="91"/>
                    <a:pt x="298" y="91"/>
                  </a:cubicBezTo>
                  <a:cubicBezTo>
                    <a:pt x="298" y="117"/>
                    <a:pt x="298" y="228"/>
                    <a:pt x="298" y="228"/>
                  </a:cubicBezTo>
                  <a:lnTo>
                    <a:pt x="170" y="283"/>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GB" sz="1100" b="1" i="0" u="none" strike="noStrike" kern="0" cap="none" spc="0" normalizeH="0" baseline="0" noProof="0" dirty="0">
                <a:ln>
                  <a:noFill/>
                </a:ln>
                <a:solidFill>
                  <a:srgbClr val="002776"/>
                </a:solidFill>
                <a:effectLst/>
                <a:uLnTx/>
                <a:uFillTx/>
                <a:latin typeface="+mj-lt"/>
                <a:cs typeface="Arial" pitchFamily="34" charset="0"/>
              </a:endParaRPr>
            </a:p>
          </p:txBody>
        </p:sp>
      </p:grpSp>
      <p:grpSp>
        <p:nvGrpSpPr>
          <p:cNvPr id="3" name="Group 2"/>
          <p:cNvGrpSpPr>
            <a:grpSpLocks noChangeAspect="1"/>
          </p:cNvGrpSpPr>
          <p:nvPr/>
        </p:nvGrpSpPr>
        <p:grpSpPr>
          <a:xfrm>
            <a:off x="3966864" y="3714879"/>
            <a:ext cx="1216852" cy="1322195"/>
            <a:chOff x="3719436" y="3887002"/>
            <a:chExt cx="1431591" cy="1555524"/>
          </a:xfrm>
        </p:grpSpPr>
        <p:grpSp>
          <p:nvGrpSpPr>
            <p:cNvPr id="86" name="Group 85"/>
            <p:cNvGrpSpPr/>
            <p:nvPr/>
          </p:nvGrpSpPr>
          <p:grpSpPr>
            <a:xfrm>
              <a:off x="3719436" y="3887002"/>
              <a:ext cx="1431591" cy="1555524"/>
              <a:chOff x="990600" y="2067354"/>
              <a:chExt cx="2219960" cy="2412141"/>
            </a:xfrm>
          </p:grpSpPr>
          <p:sp>
            <p:nvSpPr>
              <p:cNvPr id="88" name="Freeform 87"/>
              <p:cNvSpPr/>
              <p:nvPr/>
            </p:nvSpPr>
            <p:spPr bwMode="gray">
              <a:xfrm>
                <a:off x="990600" y="3295855"/>
                <a:ext cx="2219960" cy="1183640"/>
              </a:xfrm>
              <a:custGeom>
                <a:avLst/>
                <a:gdLst>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21117"/>
                  <a:gd name="connsiteY0" fmla="*/ 10160 h 1183640"/>
                  <a:gd name="connsiteX1" fmla="*/ 193040 w 2221117"/>
                  <a:gd name="connsiteY1" fmla="*/ 0 h 1183640"/>
                  <a:gd name="connsiteX2" fmla="*/ 482600 w 2221117"/>
                  <a:gd name="connsiteY2" fmla="*/ 721360 h 1183640"/>
                  <a:gd name="connsiteX3" fmla="*/ 2219960 w 2221117"/>
                  <a:gd name="connsiteY3" fmla="*/ 15240 h 1183640"/>
                  <a:gd name="connsiteX4" fmla="*/ 1193800 w 2221117"/>
                  <a:gd name="connsiteY4" fmla="*/ 1046480 h 1183640"/>
                  <a:gd name="connsiteX5" fmla="*/ 1188720 w 2221117"/>
                  <a:gd name="connsiteY5" fmla="*/ 1183640 h 1183640"/>
                  <a:gd name="connsiteX6" fmla="*/ 289560 w 2221117"/>
                  <a:gd name="connsiteY6" fmla="*/ 762000 h 1183640"/>
                  <a:gd name="connsiteX7" fmla="*/ 0 w 2221117"/>
                  <a:gd name="connsiteY7" fmla="*/ 10160 h 1183640"/>
                  <a:gd name="connsiteX0" fmla="*/ 0 w 2221133"/>
                  <a:gd name="connsiteY0" fmla="*/ 10160 h 1183640"/>
                  <a:gd name="connsiteX1" fmla="*/ 193040 w 2221133"/>
                  <a:gd name="connsiteY1" fmla="*/ 0 h 1183640"/>
                  <a:gd name="connsiteX2" fmla="*/ 482600 w 2221133"/>
                  <a:gd name="connsiteY2" fmla="*/ 721360 h 1183640"/>
                  <a:gd name="connsiteX3" fmla="*/ 2219960 w 2221133"/>
                  <a:gd name="connsiteY3" fmla="*/ 15240 h 1183640"/>
                  <a:gd name="connsiteX4" fmla="*/ 1193800 w 2221133"/>
                  <a:gd name="connsiteY4" fmla="*/ 1046480 h 1183640"/>
                  <a:gd name="connsiteX5" fmla="*/ 1188720 w 2221133"/>
                  <a:gd name="connsiteY5" fmla="*/ 1183640 h 1183640"/>
                  <a:gd name="connsiteX6" fmla="*/ 289560 w 2221133"/>
                  <a:gd name="connsiteY6" fmla="*/ 762000 h 1183640"/>
                  <a:gd name="connsiteX7" fmla="*/ 0 w 2221133"/>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960" h="1183640">
                    <a:moveTo>
                      <a:pt x="0" y="10160"/>
                    </a:moveTo>
                    <a:lnTo>
                      <a:pt x="193040" y="0"/>
                    </a:lnTo>
                    <a:cubicBezTo>
                      <a:pt x="182880" y="149013"/>
                      <a:pt x="213360" y="409787"/>
                      <a:pt x="482600" y="721360"/>
                    </a:cubicBezTo>
                    <a:cubicBezTo>
                      <a:pt x="1066800" y="1293707"/>
                      <a:pt x="2159000" y="895773"/>
                      <a:pt x="2219960" y="15240"/>
                    </a:cubicBezTo>
                    <a:cubicBezTo>
                      <a:pt x="2197947" y="755227"/>
                      <a:pt x="1546013" y="1027853"/>
                      <a:pt x="1193800" y="1046480"/>
                    </a:cubicBezTo>
                    <a:lnTo>
                      <a:pt x="1188720" y="1183640"/>
                    </a:lnTo>
                    <a:cubicBezTo>
                      <a:pt x="939800" y="1159933"/>
                      <a:pt x="594360" y="1110827"/>
                      <a:pt x="289560" y="762000"/>
                    </a:cubicBezTo>
                    <a:cubicBezTo>
                      <a:pt x="50800" y="506307"/>
                      <a:pt x="10160" y="154093"/>
                      <a:pt x="0" y="10160"/>
                    </a:cubicBezTo>
                    <a:close/>
                  </a:path>
                </a:pathLst>
              </a:cu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89" name="Freeform 88"/>
              <p:cNvSpPr/>
              <p:nvPr/>
            </p:nvSpPr>
            <p:spPr bwMode="gray">
              <a:xfrm flipH="1" flipV="1">
                <a:off x="990600" y="2067354"/>
                <a:ext cx="2219960" cy="1183640"/>
              </a:xfrm>
              <a:custGeom>
                <a:avLst/>
                <a:gdLst>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21117"/>
                  <a:gd name="connsiteY0" fmla="*/ 10160 h 1183640"/>
                  <a:gd name="connsiteX1" fmla="*/ 193040 w 2221117"/>
                  <a:gd name="connsiteY1" fmla="*/ 0 h 1183640"/>
                  <a:gd name="connsiteX2" fmla="*/ 482600 w 2221117"/>
                  <a:gd name="connsiteY2" fmla="*/ 721360 h 1183640"/>
                  <a:gd name="connsiteX3" fmla="*/ 2219960 w 2221117"/>
                  <a:gd name="connsiteY3" fmla="*/ 15240 h 1183640"/>
                  <a:gd name="connsiteX4" fmla="*/ 1193800 w 2221117"/>
                  <a:gd name="connsiteY4" fmla="*/ 1046480 h 1183640"/>
                  <a:gd name="connsiteX5" fmla="*/ 1188720 w 2221117"/>
                  <a:gd name="connsiteY5" fmla="*/ 1183640 h 1183640"/>
                  <a:gd name="connsiteX6" fmla="*/ 289560 w 2221117"/>
                  <a:gd name="connsiteY6" fmla="*/ 762000 h 1183640"/>
                  <a:gd name="connsiteX7" fmla="*/ 0 w 2221117"/>
                  <a:gd name="connsiteY7" fmla="*/ 10160 h 1183640"/>
                  <a:gd name="connsiteX0" fmla="*/ 0 w 2221133"/>
                  <a:gd name="connsiteY0" fmla="*/ 10160 h 1183640"/>
                  <a:gd name="connsiteX1" fmla="*/ 193040 w 2221133"/>
                  <a:gd name="connsiteY1" fmla="*/ 0 h 1183640"/>
                  <a:gd name="connsiteX2" fmla="*/ 482600 w 2221133"/>
                  <a:gd name="connsiteY2" fmla="*/ 721360 h 1183640"/>
                  <a:gd name="connsiteX3" fmla="*/ 2219960 w 2221133"/>
                  <a:gd name="connsiteY3" fmla="*/ 15240 h 1183640"/>
                  <a:gd name="connsiteX4" fmla="*/ 1193800 w 2221133"/>
                  <a:gd name="connsiteY4" fmla="*/ 1046480 h 1183640"/>
                  <a:gd name="connsiteX5" fmla="*/ 1188720 w 2221133"/>
                  <a:gd name="connsiteY5" fmla="*/ 1183640 h 1183640"/>
                  <a:gd name="connsiteX6" fmla="*/ 289560 w 2221133"/>
                  <a:gd name="connsiteY6" fmla="*/ 762000 h 1183640"/>
                  <a:gd name="connsiteX7" fmla="*/ 0 w 2221133"/>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960" h="1183640">
                    <a:moveTo>
                      <a:pt x="0" y="10160"/>
                    </a:moveTo>
                    <a:lnTo>
                      <a:pt x="193040" y="0"/>
                    </a:lnTo>
                    <a:cubicBezTo>
                      <a:pt x="182880" y="149013"/>
                      <a:pt x="213360" y="409787"/>
                      <a:pt x="482600" y="721360"/>
                    </a:cubicBezTo>
                    <a:cubicBezTo>
                      <a:pt x="1066800" y="1293707"/>
                      <a:pt x="2159000" y="895773"/>
                      <a:pt x="2219960" y="15240"/>
                    </a:cubicBezTo>
                    <a:cubicBezTo>
                      <a:pt x="2197947" y="755227"/>
                      <a:pt x="1546013" y="1027853"/>
                      <a:pt x="1193800" y="1046480"/>
                    </a:cubicBezTo>
                    <a:lnTo>
                      <a:pt x="1188720" y="1183640"/>
                    </a:lnTo>
                    <a:cubicBezTo>
                      <a:pt x="939800" y="1159933"/>
                      <a:pt x="594360" y="1110827"/>
                      <a:pt x="289560" y="762000"/>
                    </a:cubicBezTo>
                    <a:cubicBezTo>
                      <a:pt x="50800" y="506307"/>
                      <a:pt x="10160" y="154093"/>
                      <a:pt x="0" y="10160"/>
                    </a:cubicBezTo>
                    <a:close/>
                  </a:path>
                </a:pathLst>
              </a:cu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90" name="Oval 89"/>
              <p:cNvSpPr/>
              <p:nvPr/>
            </p:nvSpPr>
            <p:spPr bwMode="gray">
              <a:xfrm>
                <a:off x="1262379" y="2412794"/>
                <a:ext cx="1676400" cy="1676400"/>
              </a:xfrm>
              <a:prstGeom prst="ellipse">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grpSp>
        <p:sp>
          <p:nvSpPr>
            <p:cNvPr id="96" name="Freeform 381"/>
            <p:cNvSpPr>
              <a:spLocks noEditPoints="1"/>
            </p:cNvSpPr>
            <p:nvPr/>
          </p:nvSpPr>
          <p:spPr bwMode="auto">
            <a:xfrm>
              <a:off x="4363182" y="4474580"/>
              <a:ext cx="158871" cy="351438"/>
            </a:xfrm>
            <a:custGeom>
              <a:avLst/>
              <a:gdLst>
                <a:gd name="T0" fmla="*/ 149 w 149"/>
                <a:gd name="T1" fmla="*/ 224 h 330"/>
                <a:gd name="T2" fmla="*/ 85 w 149"/>
                <a:gd name="T3" fmla="*/ 150 h 330"/>
                <a:gd name="T4" fmla="*/ 85 w 149"/>
                <a:gd name="T5" fmla="*/ 44 h 330"/>
                <a:gd name="T6" fmla="*/ 121 w 149"/>
                <a:gd name="T7" fmla="*/ 69 h 330"/>
                <a:gd name="T8" fmla="*/ 135 w 149"/>
                <a:gd name="T9" fmla="*/ 73 h 330"/>
                <a:gd name="T10" fmla="*/ 139 w 149"/>
                <a:gd name="T11" fmla="*/ 58 h 330"/>
                <a:gd name="T12" fmla="*/ 85 w 149"/>
                <a:gd name="T13" fmla="*/ 22 h 330"/>
                <a:gd name="T14" fmla="*/ 85 w 149"/>
                <a:gd name="T15" fmla="*/ 10 h 330"/>
                <a:gd name="T16" fmla="*/ 75 w 149"/>
                <a:gd name="T17" fmla="*/ 0 h 330"/>
                <a:gd name="T18" fmla="*/ 64 w 149"/>
                <a:gd name="T19" fmla="*/ 10 h 330"/>
                <a:gd name="T20" fmla="*/ 64 w 149"/>
                <a:gd name="T21" fmla="*/ 22 h 330"/>
                <a:gd name="T22" fmla="*/ 0 w 149"/>
                <a:gd name="T23" fmla="*/ 96 h 330"/>
                <a:gd name="T24" fmla="*/ 64 w 149"/>
                <a:gd name="T25" fmla="*/ 169 h 330"/>
                <a:gd name="T26" fmla="*/ 64 w 149"/>
                <a:gd name="T27" fmla="*/ 276 h 330"/>
                <a:gd name="T28" fmla="*/ 24 w 149"/>
                <a:gd name="T29" fmla="*/ 241 h 330"/>
                <a:gd name="T30" fmla="*/ 11 w 149"/>
                <a:gd name="T31" fmla="*/ 235 h 330"/>
                <a:gd name="T32" fmla="*/ 4 w 149"/>
                <a:gd name="T33" fmla="*/ 249 h 330"/>
                <a:gd name="T34" fmla="*/ 64 w 149"/>
                <a:gd name="T35" fmla="*/ 297 h 330"/>
                <a:gd name="T36" fmla="*/ 64 w 149"/>
                <a:gd name="T37" fmla="*/ 320 h 330"/>
                <a:gd name="T38" fmla="*/ 75 w 149"/>
                <a:gd name="T39" fmla="*/ 330 h 330"/>
                <a:gd name="T40" fmla="*/ 85 w 149"/>
                <a:gd name="T41" fmla="*/ 320 h 330"/>
                <a:gd name="T42" fmla="*/ 85 w 149"/>
                <a:gd name="T43" fmla="*/ 297 h 330"/>
                <a:gd name="T44" fmla="*/ 149 w 149"/>
                <a:gd name="T45" fmla="*/ 224 h 330"/>
                <a:gd name="T46" fmla="*/ 21 w 149"/>
                <a:gd name="T47" fmla="*/ 96 h 330"/>
                <a:gd name="T48" fmla="*/ 64 w 149"/>
                <a:gd name="T49" fmla="*/ 43 h 330"/>
                <a:gd name="T50" fmla="*/ 64 w 149"/>
                <a:gd name="T51" fmla="*/ 148 h 330"/>
                <a:gd name="T52" fmla="*/ 21 w 149"/>
                <a:gd name="T53" fmla="*/ 96 h 330"/>
                <a:gd name="T54" fmla="*/ 85 w 149"/>
                <a:gd name="T55" fmla="*/ 276 h 330"/>
                <a:gd name="T56" fmla="*/ 85 w 149"/>
                <a:gd name="T57" fmla="*/ 171 h 330"/>
                <a:gd name="T58" fmla="*/ 128 w 149"/>
                <a:gd name="T59" fmla="*/ 224 h 330"/>
                <a:gd name="T60" fmla="*/ 85 w 149"/>
                <a:gd name="T61" fmla="*/ 276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9" h="330">
                  <a:moveTo>
                    <a:pt x="149" y="224"/>
                  </a:moveTo>
                  <a:cubicBezTo>
                    <a:pt x="149" y="186"/>
                    <a:pt x="121" y="155"/>
                    <a:pt x="85" y="150"/>
                  </a:cubicBezTo>
                  <a:cubicBezTo>
                    <a:pt x="85" y="44"/>
                    <a:pt x="85" y="44"/>
                    <a:pt x="85" y="44"/>
                  </a:cubicBezTo>
                  <a:cubicBezTo>
                    <a:pt x="100" y="47"/>
                    <a:pt x="113" y="56"/>
                    <a:pt x="121" y="69"/>
                  </a:cubicBezTo>
                  <a:cubicBezTo>
                    <a:pt x="124" y="74"/>
                    <a:pt x="130" y="76"/>
                    <a:pt x="135" y="73"/>
                  </a:cubicBezTo>
                  <a:cubicBezTo>
                    <a:pt x="141" y="70"/>
                    <a:pt x="142" y="63"/>
                    <a:pt x="139" y="58"/>
                  </a:cubicBezTo>
                  <a:cubicBezTo>
                    <a:pt x="128" y="38"/>
                    <a:pt x="108" y="25"/>
                    <a:pt x="85" y="22"/>
                  </a:cubicBezTo>
                  <a:cubicBezTo>
                    <a:pt x="85" y="10"/>
                    <a:pt x="85" y="10"/>
                    <a:pt x="85" y="10"/>
                  </a:cubicBezTo>
                  <a:cubicBezTo>
                    <a:pt x="85" y="4"/>
                    <a:pt x="81" y="0"/>
                    <a:pt x="75" y="0"/>
                  </a:cubicBezTo>
                  <a:cubicBezTo>
                    <a:pt x="69" y="0"/>
                    <a:pt x="64" y="4"/>
                    <a:pt x="64" y="10"/>
                  </a:cubicBezTo>
                  <a:cubicBezTo>
                    <a:pt x="64" y="22"/>
                    <a:pt x="64" y="22"/>
                    <a:pt x="64" y="22"/>
                  </a:cubicBezTo>
                  <a:cubicBezTo>
                    <a:pt x="28" y="27"/>
                    <a:pt x="0" y="58"/>
                    <a:pt x="0" y="96"/>
                  </a:cubicBezTo>
                  <a:cubicBezTo>
                    <a:pt x="0" y="133"/>
                    <a:pt x="28" y="164"/>
                    <a:pt x="64" y="169"/>
                  </a:cubicBezTo>
                  <a:cubicBezTo>
                    <a:pt x="64" y="276"/>
                    <a:pt x="64" y="276"/>
                    <a:pt x="64" y="276"/>
                  </a:cubicBezTo>
                  <a:cubicBezTo>
                    <a:pt x="46" y="272"/>
                    <a:pt x="31" y="259"/>
                    <a:pt x="24" y="241"/>
                  </a:cubicBezTo>
                  <a:cubicBezTo>
                    <a:pt x="22" y="236"/>
                    <a:pt x="16" y="233"/>
                    <a:pt x="11" y="235"/>
                  </a:cubicBezTo>
                  <a:cubicBezTo>
                    <a:pt x="5" y="237"/>
                    <a:pt x="2" y="243"/>
                    <a:pt x="4" y="249"/>
                  </a:cubicBezTo>
                  <a:cubicBezTo>
                    <a:pt x="14" y="275"/>
                    <a:pt x="37" y="294"/>
                    <a:pt x="64" y="297"/>
                  </a:cubicBezTo>
                  <a:cubicBezTo>
                    <a:pt x="64" y="320"/>
                    <a:pt x="64" y="320"/>
                    <a:pt x="64" y="320"/>
                  </a:cubicBezTo>
                  <a:cubicBezTo>
                    <a:pt x="64" y="326"/>
                    <a:pt x="69" y="330"/>
                    <a:pt x="75" y="330"/>
                  </a:cubicBezTo>
                  <a:cubicBezTo>
                    <a:pt x="81" y="330"/>
                    <a:pt x="85" y="326"/>
                    <a:pt x="85" y="320"/>
                  </a:cubicBezTo>
                  <a:cubicBezTo>
                    <a:pt x="85" y="297"/>
                    <a:pt x="85" y="297"/>
                    <a:pt x="85" y="297"/>
                  </a:cubicBezTo>
                  <a:cubicBezTo>
                    <a:pt x="121" y="292"/>
                    <a:pt x="149" y="261"/>
                    <a:pt x="149" y="224"/>
                  </a:cubicBezTo>
                  <a:close/>
                  <a:moveTo>
                    <a:pt x="21" y="96"/>
                  </a:moveTo>
                  <a:cubicBezTo>
                    <a:pt x="21" y="70"/>
                    <a:pt x="40" y="48"/>
                    <a:pt x="64" y="43"/>
                  </a:cubicBezTo>
                  <a:cubicBezTo>
                    <a:pt x="64" y="148"/>
                    <a:pt x="64" y="148"/>
                    <a:pt x="64" y="148"/>
                  </a:cubicBezTo>
                  <a:cubicBezTo>
                    <a:pt x="40" y="143"/>
                    <a:pt x="21" y="121"/>
                    <a:pt x="21" y="96"/>
                  </a:cubicBezTo>
                  <a:close/>
                  <a:moveTo>
                    <a:pt x="85" y="276"/>
                  </a:moveTo>
                  <a:cubicBezTo>
                    <a:pt x="85" y="171"/>
                    <a:pt x="85" y="171"/>
                    <a:pt x="85" y="171"/>
                  </a:cubicBezTo>
                  <a:cubicBezTo>
                    <a:pt x="110" y="176"/>
                    <a:pt x="128" y="198"/>
                    <a:pt x="128" y="224"/>
                  </a:cubicBezTo>
                  <a:cubicBezTo>
                    <a:pt x="128" y="249"/>
                    <a:pt x="110" y="271"/>
                    <a:pt x="85" y="276"/>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7" name="Freeform 382"/>
            <p:cNvSpPr>
              <a:spLocks noEditPoints="1"/>
            </p:cNvSpPr>
            <p:nvPr/>
          </p:nvSpPr>
          <p:spPr bwMode="auto">
            <a:xfrm>
              <a:off x="4170612" y="4371877"/>
              <a:ext cx="545616" cy="54561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4" name="Group 3"/>
          <p:cNvGrpSpPr>
            <a:grpSpLocks noChangeAspect="1"/>
          </p:cNvGrpSpPr>
          <p:nvPr/>
        </p:nvGrpSpPr>
        <p:grpSpPr>
          <a:xfrm>
            <a:off x="5265093" y="2554134"/>
            <a:ext cx="1216851" cy="1322195"/>
            <a:chOff x="5017665" y="2726252"/>
            <a:chExt cx="1431591" cy="1555524"/>
          </a:xfrm>
        </p:grpSpPr>
        <p:grpSp>
          <p:nvGrpSpPr>
            <p:cNvPr id="56" name="Group 55"/>
            <p:cNvGrpSpPr/>
            <p:nvPr/>
          </p:nvGrpSpPr>
          <p:grpSpPr>
            <a:xfrm>
              <a:off x="5017665" y="2726252"/>
              <a:ext cx="1431591" cy="1555524"/>
              <a:chOff x="990600" y="2067354"/>
              <a:chExt cx="2219960" cy="2412141"/>
            </a:xfrm>
          </p:grpSpPr>
          <p:sp>
            <p:nvSpPr>
              <p:cNvPr id="61" name="Freeform 60"/>
              <p:cNvSpPr/>
              <p:nvPr/>
            </p:nvSpPr>
            <p:spPr bwMode="gray">
              <a:xfrm>
                <a:off x="990600" y="3295855"/>
                <a:ext cx="2219960" cy="1183640"/>
              </a:xfrm>
              <a:custGeom>
                <a:avLst/>
                <a:gdLst>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21117"/>
                  <a:gd name="connsiteY0" fmla="*/ 10160 h 1183640"/>
                  <a:gd name="connsiteX1" fmla="*/ 193040 w 2221117"/>
                  <a:gd name="connsiteY1" fmla="*/ 0 h 1183640"/>
                  <a:gd name="connsiteX2" fmla="*/ 482600 w 2221117"/>
                  <a:gd name="connsiteY2" fmla="*/ 721360 h 1183640"/>
                  <a:gd name="connsiteX3" fmla="*/ 2219960 w 2221117"/>
                  <a:gd name="connsiteY3" fmla="*/ 15240 h 1183640"/>
                  <a:gd name="connsiteX4" fmla="*/ 1193800 w 2221117"/>
                  <a:gd name="connsiteY4" fmla="*/ 1046480 h 1183640"/>
                  <a:gd name="connsiteX5" fmla="*/ 1188720 w 2221117"/>
                  <a:gd name="connsiteY5" fmla="*/ 1183640 h 1183640"/>
                  <a:gd name="connsiteX6" fmla="*/ 289560 w 2221117"/>
                  <a:gd name="connsiteY6" fmla="*/ 762000 h 1183640"/>
                  <a:gd name="connsiteX7" fmla="*/ 0 w 2221117"/>
                  <a:gd name="connsiteY7" fmla="*/ 10160 h 1183640"/>
                  <a:gd name="connsiteX0" fmla="*/ 0 w 2221133"/>
                  <a:gd name="connsiteY0" fmla="*/ 10160 h 1183640"/>
                  <a:gd name="connsiteX1" fmla="*/ 193040 w 2221133"/>
                  <a:gd name="connsiteY1" fmla="*/ 0 h 1183640"/>
                  <a:gd name="connsiteX2" fmla="*/ 482600 w 2221133"/>
                  <a:gd name="connsiteY2" fmla="*/ 721360 h 1183640"/>
                  <a:gd name="connsiteX3" fmla="*/ 2219960 w 2221133"/>
                  <a:gd name="connsiteY3" fmla="*/ 15240 h 1183640"/>
                  <a:gd name="connsiteX4" fmla="*/ 1193800 w 2221133"/>
                  <a:gd name="connsiteY4" fmla="*/ 1046480 h 1183640"/>
                  <a:gd name="connsiteX5" fmla="*/ 1188720 w 2221133"/>
                  <a:gd name="connsiteY5" fmla="*/ 1183640 h 1183640"/>
                  <a:gd name="connsiteX6" fmla="*/ 289560 w 2221133"/>
                  <a:gd name="connsiteY6" fmla="*/ 762000 h 1183640"/>
                  <a:gd name="connsiteX7" fmla="*/ 0 w 2221133"/>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960" h="1183640">
                    <a:moveTo>
                      <a:pt x="0" y="10160"/>
                    </a:moveTo>
                    <a:lnTo>
                      <a:pt x="193040" y="0"/>
                    </a:lnTo>
                    <a:cubicBezTo>
                      <a:pt x="182880" y="149013"/>
                      <a:pt x="213360" y="409787"/>
                      <a:pt x="482600" y="721360"/>
                    </a:cubicBezTo>
                    <a:cubicBezTo>
                      <a:pt x="1066800" y="1293707"/>
                      <a:pt x="2159000" y="895773"/>
                      <a:pt x="2219960" y="15240"/>
                    </a:cubicBezTo>
                    <a:cubicBezTo>
                      <a:pt x="2197947" y="755227"/>
                      <a:pt x="1546013" y="1027853"/>
                      <a:pt x="1193800" y="1046480"/>
                    </a:cubicBezTo>
                    <a:lnTo>
                      <a:pt x="1188720" y="1183640"/>
                    </a:lnTo>
                    <a:cubicBezTo>
                      <a:pt x="939800" y="1159933"/>
                      <a:pt x="594360" y="1110827"/>
                      <a:pt x="289560" y="762000"/>
                    </a:cubicBezTo>
                    <a:cubicBezTo>
                      <a:pt x="50800" y="506307"/>
                      <a:pt x="10160" y="154093"/>
                      <a:pt x="0" y="10160"/>
                    </a:cubicBezTo>
                    <a:close/>
                  </a:path>
                </a:pathLst>
              </a:cu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62" name="Freeform 61"/>
              <p:cNvSpPr/>
              <p:nvPr/>
            </p:nvSpPr>
            <p:spPr bwMode="gray">
              <a:xfrm flipH="1" flipV="1">
                <a:off x="990600" y="2067354"/>
                <a:ext cx="2219960" cy="1183640"/>
              </a:xfrm>
              <a:custGeom>
                <a:avLst/>
                <a:gdLst>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21117"/>
                  <a:gd name="connsiteY0" fmla="*/ 10160 h 1183640"/>
                  <a:gd name="connsiteX1" fmla="*/ 193040 w 2221117"/>
                  <a:gd name="connsiteY1" fmla="*/ 0 h 1183640"/>
                  <a:gd name="connsiteX2" fmla="*/ 482600 w 2221117"/>
                  <a:gd name="connsiteY2" fmla="*/ 721360 h 1183640"/>
                  <a:gd name="connsiteX3" fmla="*/ 2219960 w 2221117"/>
                  <a:gd name="connsiteY3" fmla="*/ 15240 h 1183640"/>
                  <a:gd name="connsiteX4" fmla="*/ 1193800 w 2221117"/>
                  <a:gd name="connsiteY4" fmla="*/ 1046480 h 1183640"/>
                  <a:gd name="connsiteX5" fmla="*/ 1188720 w 2221117"/>
                  <a:gd name="connsiteY5" fmla="*/ 1183640 h 1183640"/>
                  <a:gd name="connsiteX6" fmla="*/ 289560 w 2221117"/>
                  <a:gd name="connsiteY6" fmla="*/ 762000 h 1183640"/>
                  <a:gd name="connsiteX7" fmla="*/ 0 w 2221117"/>
                  <a:gd name="connsiteY7" fmla="*/ 10160 h 1183640"/>
                  <a:gd name="connsiteX0" fmla="*/ 0 w 2221133"/>
                  <a:gd name="connsiteY0" fmla="*/ 10160 h 1183640"/>
                  <a:gd name="connsiteX1" fmla="*/ 193040 w 2221133"/>
                  <a:gd name="connsiteY1" fmla="*/ 0 h 1183640"/>
                  <a:gd name="connsiteX2" fmla="*/ 482600 w 2221133"/>
                  <a:gd name="connsiteY2" fmla="*/ 721360 h 1183640"/>
                  <a:gd name="connsiteX3" fmla="*/ 2219960 w 2221133"/>
                  <a:gd name="connsiteY3" fmla="*/ 15240 h 1183640"/>
                  <a:gd name="connsiteX4" fmla="*/ 1193800 w 2221133"/>
                  <a:gd name="connsiteY4" fmla="*/ 1046480 h 1183640"/>
                  <a:gd name="connsiteX5" fmla="*/ 1188720 w 2221133"/>
                  <a:gd name="connsiteY5" fmla="*/ 1183640 h 1183640"/>
                  <a:gd name="connsiteX6" fmla="*/ 289560 w 2221133"/>
                  <a:gd name="connsiteY6" fmla="*/ 762000 h 1183640"/>
                  <a:gd name="connsiteX7" fmla="*/ 0 w 2221133"/>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960" h="1183640">
                    <a:moveTo>
                      <a:pt x="0" y="10160"/>
                    </a:moveTo>
                    <a:lnTo>
                      <a:pt x="193040" y="0"/>
                    </a:lnTo>
                    <a:cubicBezTo>
                      <a:pt x="182880" y="149013"/>
                      <a:pt x="213360" y="409787"/>
                      <a:pt x="482600" y="721360"/>
                    </a:cubicBezTo>
                    <a:cubicBezTo>
                      <a:pt x="1066800" y="1293707"/>
                      <a:pt x="2159000" y="895773"/>
                      <a:pt x="2219960" y="15240"/>
                    </a:cubicBezTo>
                    <a:cubicBezTo>
                      <a:pt x="2197947" y="755227"/>
                      <a:pt x="1546013" y="1027853"/>
                      <a:pt x="1193800" y="1046480"/>
                    </a:cubicBezTo>
                    <a:lnTo>
                      <a:pt x="1188720" y="1183640"/>
                    </a:lnTo>
                    <a:cubicBezTo>
                      <a:pt x="939800" y="1159933"/>
                      <a:pt x="594360" y="1110827"/>
                      <a:pt x="289560" y="762000"/>
                    </a:cubicBezTo>
                    <a:cubicBezTo>
                      <a:pt x="50800" y="506307"/>
                      <a:pt x="10160" y="154093"/>
                      <a:pt x="0" y="10160"/>
                    </a:cubicBezTo>
                    <a:close/>
                  </a:path>
                </a:pathLst>
              </a:cu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63" name="Oval 62"/>
              <p:cNvSpPr/>
              <p:nvPr/>
            </p:nvSpPr>
            <p:spPr bwMode="gray">
              <a:xfrm>
                <a:off x="1262380" y="2412794"/>
                <a:ext cx="1676400" cy="1676400"/>
              </a:xfrm>
              <a:prstGeom prst="ellipse">
                <a:avLst/>
              </a:prstGeom>
              <a:solidFill>
                <a:schemeClr val="accent1"/>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grpSp>
        <p:sp>
          <p:nvSpPr>
            <p:cNvPr id="98" name="Freeform 546"/>
            <p:cNvSpPr>
              <a:spLocks noEditPoints="1"/>
            </p:cNvSpPr>
            <p:nvPr/>
          </p:nvSpPr>
          <p:spPr bwMode="auto">
            <a:xfrm>
              <a:off x="5440765" y="3202973"/>
              <a:ext cx="597763" cy="597763"/>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9" name="Freeform 547"/>
            <p:cNvSpPr>
              <a:spLocks/>
            </p:cNvSpPr>
            <p:nvPr/>
          </p:nvSpPr>
          <p:spPr bwMode="auto">
            <a:xfrm>
              <a:off x="5549769" y="3313735"/>
              <a:ext cx="377997" cy="325253"/>
            </a:xfrm>
            <a:custGeom>
              <a:avLst/>
              <a:gdLst>
                <a:gd name="T0" fmla="*/ 318 w 323"/>
                <a:gd name="T1" fmla="*/ 259 h 278"/>
                <a:gd name="T2" fmla="*/ 257 w 323"/>
                <a:gd name="T3" fmla="*/ 241 h 278"/>
                <a:gd name="T4" fmla="*/ 229 w 323"/>
                <a:gd name="T5" fmla="*/ 236 h 278"/>
                <a:gd name="T6" fmla="*/ 212 w 323"/>
                <a:gd name="T7" fmla="*/ 223 h 278"/>
                <a:gd name="T8" fmla="*/ 213 w 323"/>
                <a:gd name="T9" fmla="*/ 220 h 278"/>
                <a:gd name="T10" fmla="*/ 246 w 323"/>
                <a:gd name="T11" fmla="*/ 142 h 278"/>
                <a:gd name="T12" fmla="*/ 233 w 323"/>
                <a:gd name="T13" fmla="*/ 33 h 278"/>
                <a:gd name="T14" fmla="*/ 161 w 323"/>
                <a:gd name="T15" fmla="*/ 1 h 278"/>
                <a:gd name="T16" fmla="*/ 161 w 323"/>
                <a:gd name="T17" fmla="*/ 1 h 278"/>
                <a:gd name="T18" fmla="*/ 90 w 323"/>
                <a:gd name="T19" fmla="*/ 33 h 278"/>
                <a:gd name="T20" fmla="*/ 77 w 323"/>
                <a:gd name="T21" fmla="*/ 142 h 278"/>
                <a:gd name="T22" fmla="*/ 110 w 323"/>
                <a:gd name="T23" fmla="*/ 220 h 278"/>
                <a:gd name="T24" fmla="*/ 111 w 323"/>
                <a:gd name="T25" fmla="*/ 223 h 278"/>
                <a:gd name="T26" fmla="*/ 94 w 323"/>
                <a:gd name="T27" fmla="*/ 236 h 278"/>
                <a:gd name="T28" fmla="*/ 66 w 323"/>
                <a:gd name="T29" fmla="*/ 241 h 278"/>
                <a:gd name="T30" fmla="*/ 5 w 323"/>
                <a:gd name="T31" fmla="*/ 259 h 278"/>
                <a:gd name="T32" fmla="*/ 4 w 323"/>
                <a:gd name="T33" fmla="*/ 274 h 278"/>
                <a:gd name="T34" fmla="*/ 12 w 323"/>
                <a:gd name="T35" fmla="*/ 278 h 278"/>
                <a:gd name="T36" fmla="*/ 19 w 323"/>
                <a:gd name="T37" fmla="*/ 275 h 278"/>
                <a:gd name="T38" fmla="*/ 69 w 323"/>
                <a:gd name="T39" fmla="*/ 263 h 278"/>
                <a:gd name="T40" fmla="*/ 101 w 323"/>
                <a:gd name="T41" fmla="*/ 256 h 278"/>
                <a:gd name="T42" fmla="*/ 131 w 323"/>
                <a:gd name="T43" fmla="*/ 229 h 278"/>
                <a:gd name="T44" fmla="*/ 128 w 323"/>
                <a:gd name="T45" fmla="*/ 208 h 278"/>
                <a:gd name="T46" fmla="*/ 97 w 323"/>
                <a:gd name="T47" fmla="*/ 137 h 278"/>
                <a:gd name="T48" fmla="*/ 106 w 323"/>
                <a:gd name="T49" fmla="*/ 46 h 278"/>
                <a:gd name="T50" fmla="*/ 161 w 323"/>
                <a:gd name="T51" fmla="*/ 22 h 278"/>
                <a:gd name="T52" fmla="*/ 162 w 323"/>
                <a:gd name="T53" fmla="*/ 22 h 278"/>
                <a:gd name="T54" fmla="*/ 162 w 323"/>
                <a:gd name="T55" fmla="*/ 22 h 278"/>
                <a:gd name="T56" fmla="*/ 162 w 323"/>
                <a:gd name="T57" fmla="*/ 22 h 278"/>
                <a:gd name="T58" fmla="*/ 217 w 323"/>
                <a:gd name="T59" fmla="*/ 46 h 278"/>
                <a:gd name="T60" fmla="*/ 226 w 323"/>
                <a:gd name="T61" fmla="*/ 137 h 278"/>
                <a:gd name="T62" fmla="*/ 195 w 323"/>
                <a:gd name="T63" fmla="*/ 208 h 278"/>
                <a:gd name="T64" fmla="*/ 192 w 323"/>
                <a:gd name="T65" fmla="*/ 229 h 278"/>
                <a:gd name="T66" fmla="*/ 222 w 323"/>
                <a:gd name="T67" fmla="*/ 256 h 278"/>
                <a:gd name="T68" fmla="*/ 254 w 323"/>
                <a:gd name="T69" fmla="*/ 263 h 278"/>
                <a:gd name="T70" fmla="*/ 304 w 323"/>
                <a:gd name="T71" fmla="*/ 275 h 278"/>
                <a:gd name="T72" fmla="*/ 311 w 323"/>
                <a:gd name="T73" fmla="*/ 278 h 278"/>
                <a:gd name="T74" fmla="*/ 319 w 323"/>
                <a:gd name="T75" fmla="*/ 274 h 278"/>
                <a:gd name="T76" fmla="*/ 318 w 323"/>
                <a:gd name="T77" fmla="*/ 259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3" h="278">
                  <a:moveTo>
                    <a:pt x="318" y="259"/>
                  </a:moveTo>
                  <a:cubicBezTo>
                    <a:pt x="306" y="249"/>
                    <a:pt x="281" y="245"/>
                    <a:pt x="257" y="241"/>
                  </a:cubicBezTo>
                  <a:cubicBezTo>
                    <a:pt x="246" y="240"/>
                    <a:pt x="235" y="238"/>
                    <a:pt x="229" y="236"/>
                  </a:cubicBezTo>
                  <a:cubicBezTo>
                    <a:pt x="220" y="232"/>
                    <a:pt x="214" y="226"/>
                    <a:pt x="212" y="223"/>
                  </a:cubicBezTo>
                  <a:cubicBezTo>
                    <a:pt x="212" y="221"/>
                    <a:pt x="212" y="221"/>
                    <a:pt x="213" y="220"/>
                  </a:cubicBezTo>
                  <a:cubicBezTo>
                    <a:pt x="226" y="202"/>
                    <a:pt x="240" y="170"/>
                    <a:pt x="246" y="142"/>
                  </a:cubicBezTo>
                  <a:cubicBezTo>
                    <a:pt x="258" y="95"/>
                    <a:pt x="253" y="58"/>
                    <a:pt x="233" y="33"/>
                  </a:cubicBezTo>
                  <a:cubicBezTo>
                    <a:pt x="207" y="0"/>
                    <a:pt x="163" y="1"/>
                    <a:pt x="161" y="1"/>
                  </a:cubicBezTo>
                  <a:cubicBezTo>
                    <a:pt x="161" y="1"/>
                    <a:pt x="161" y="1"/>
                    <a:pt x="161" y="1"/>
                  </a:cubicBezTo>
                  <a:cubicBezTo>
                    <a:pt x="158" y="1"/>
                    <a:pt x="116" y="1"/>
                    <a:pt x="90" y="33"/>
                  </a:cubicBezTo>
                  <a:cubicBezTo>
                    <a:pt x="70" y="58"/>
                    <a:pt x="65" y="95"/>
                    <a:pt x="77" y="142"/>
                  </a:cubicBezTo>
                  <a:cubicBezTo>
                    <a:pt x="83" y="170"/>
                    <a:pt x="97" y="202"/>
                    <a:pt x="110" y="220"/>
                  </a:cubicBezTo>
                  <a:cubicBezTo>
                    <a:pt x="111" y="221"/>
                    <a:pt x="111" y="221"/>
                    <a:pt x="111" y="223"/>
                  </a:cubicBezTo>
                  <a:cubicBezTo>
                    <a:pt x="110" y="226"/>
                    <a:pt x="103" y="232"/>
                    <a:pt x="94" y="236"/>
                  </a:cubicBezTo>
                  <a:cubicBezTo>
                    <a:pt x="88" y="238"/>
                    <a:pt x="77" y="240"/>
                    <a:pt x="66" y="241"/>
                  </a:cubicBezTo>
                  <a:cubicBezTo>
                    <a:pt x="42" y="245"/>
                    <a:pt x="17" y="249"/>
                    <a:pt x="5" y="259"/>
                  </a:cubicBezTo>
                  <a:cubicBezTo>
                    <a:pt x="1" y="263"/>
                    <a:pt x="0" y="270"/>
                    <a:pt x="4" y="274"/>
                  </a:cubicBezTo>
                  <a:cubicBezTo>
                    <a:pt x="6" y="277"/>
                    <a:pt x="9" y="278"/>
                    <a:pt x="12" y="278"/>
                  </a:cubicBezTo>
                  <a:cubicBezTo>
                    <a:pt x="15" y="278"/>
                    <a:pt x="17" y="277"/>
                    <a:pt x="19" y="275"/>
                  </a:cubicBezTo>
                  <a:cubicBezTo>
                    <a:pt x="27" y="269"/>
                    <a:pt x="51" y="265"/>
                    <a:pt x="69" y="263"/>
                  </a:cubicBezTo>
                  <a:cubicBezTo>
                    <a:pt x="82" y="261"/>
                    <a:pt x="94" y="259"/>
                    <a:pt x="101" y="256"/>
                  </a:cubicBezTo>
                  <a:cubicBezTo>
                    <a:pt x="117" y="250"/>
                    <a:pt x="128" y="240"/>
                    <a:pt x="131" y="229"/>
                  </a:cubicBezTo>
                  <a:cubicBezTo>
                    <a:pt x="133" y="221"/>
                    <a:pt x="132" y="214"/>
                    <a:pt x="128" y="208"/>
                  </a:cubicBezTo>
                  <a:cubicBezTo>
                    <a:pt x="116" y="192"/>
                    <a:pt x="103" y="162"/>
                    <a:pt x="97" y="137"/>
                  </a:cubicBezTo>
                  <a:cubicBezTo>
                    <a:pt x="88" y="96"/>
                    <a:pt x="91" y="66"/>
                    <a:pt x="106" y="46"/>
                  </a:cubicBezTo>
                  <a:cubicBezTo>
                    <a:pt x="126" y="22"/>
                    <a:pt x="160" y="22"/>
                    <a:pt x="161" y="22"/>
                  </a:cubicBezTo>
                  <a:cubicBezTo>
                    <a:pt x="161" y="22"/>
                    <a:pt x="161" y="22"/>
                    <a:pt x="162" y="22"/>
                  </a:cubicBezTo>
                  <a:cubicBezTo>
                    <a:pt x="162" y="22"/>
                    <a:pt x="162" y="22"/>
                    <a:pt x="162" y="22"/>
                  </a:cubicBezTo>
                  <a:cubicBezTo>
                    <a:pt x="162" y="22"/>
                    <a:pt x="162" y="22"/>
                    <a:pt x="162" y="22"/>
                  </a:cubicBezTo>
                  <a:cubicBezTo>
                    <a:pt x="162" y="22"/>
                    <a:pt x="197" y="22"/>
                    <a:pt x="217" y="46"/>
                  </a:cubicBezTo>
                  <a:cubicBezTo>
                    <a:pt x="232" y="66"/>
                    <a:pt x="235" y="96"/>
                    <a:pt x="226" y="137"/>
                  </a:cubicBezTo>
                  <a:cubicBezTo>
                    <a:pt x="220" y="162"/>
                    <a:pt x="207" y="192"/>
                    <a:pt x="195" y="208"/>
                  </a:cubicBezTo>
                  <a:cubicBezTo>
                    <a:pt x="191" y="214"/>
                    <a:pt x="190" y="221"/>
                    <a:pt x="192" y="229"/>
                  </a:cubicBezTo>
                  <a:cubicBezTo>
                    <a:pt x="195" y="240"/>
                    <a:pt x="206" y="250"/>
                    <a:pt x="222" y="256"/>
                  </a:cubicBezTo>
                  <a:cubicBezTo>
                    <a:pt x="229" y="259"/>
                    <a:pt x="241" y="261"/>
                    <a:pt x="254" y="263"/>
                  </a:cubicBezTo>
                  <a:cubicBezTo>
                    <a:pt x="272" y="265"/>
                    <a:pt x="296" y="269"/>
                    <a:pt x="304" y="275"/>
                  </a:cubicBezTo>
                  <a:cubicBezTo>
                    <a:pt x="306" y="277"/>
                    <a:pt x="308" y="278"/>
                    <a:pt x="311" y="278"/>
                  </a:cubicBezTo>
                  <a:cubicBezTo>
                    <a:pt x="314" y="278"/>
                    <a:pt x="317" y="277"/>
                    <a:pt x="319" y="274"/>
                  </a:cubicBezTo>
                  <a:cubicBezTo>
                    <a:pt x="323" y="270"/>
                    <a:pt x="322" y="263"/>
                    <a:pt x="318" y="259"/>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8" name="Group 7"/>
          <p:cNvGrpSpPr>
            <a:grpSpLocks noChangeAspect="1"/>
          </p:cNvGrpSpPr>
          <p:nvPr/>
        </p:nvGrpSpPr>
        <p:grpSpPr>
          <a:xfrm>
            <a:off x="5265091" y="4875631"/>
            <a:ext cx="1216852" cy="1322195"/>
            <a:chOff x="5017663" y="5047754"/>
            <a:chExt cx="1431591" cy="1555524"/>
          </a:xfrm>
        </p:grpSpPr>
        <p:grpSp>
          <p:nvGrpSpPr>
            <p:cNvPr id="77" name="Group 76"/>
            <p:cNvGrpSpPr/>
            <p:nvPr/>
          </p:nvGrpSpPr>
          <p:grpSpPr>
            <a:xfrm>
              <a:off x="5017663" y="5047754"/>
              <a:ext cx="1431591" cy="1555524"/>
              <a:chOff x="990600" y="2067354"/>
              <a:chExt cx="2219960" cy="2412141"/>
            </a:xfrm>
          </p:grpSpPr>
          <p:sp>
            <p:nvSpPr>
              <p:cNvPr id="82" name="Freeform 81"/>
              <p:cNvSpPr/>
              <p:nvPr/>
            </p:nvSpPr>
            <p:spPr bwMode="gray">
              <a:xfrm>
                <a:off x="990600" y="3295855"/>
                <a:ext cx="2219960" cy="1183640"/>
              </a:xfrm>
              <a:custGeom>
                <a:avLst/>
                <a:gdLst>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21117"/>
                  <a:gd name="connsiteY0" fmla="*/ 10160 h 1183640"/>
                  <a:gd name="connsiteX1" fmla="*/ 193040 w 2221117"/>
                  <a:gd name="connsiteY1" fmla="*/ 0 h 1183640"/>
                  <a:gd name="connsiteX2" fmla="*/ 482600 w 2221117"/>
                  <a:gd name="connsiteY2" fmla="*/ 721360 h 1183640"/>
                  <a:gd name="connsiteX3" fmla="*/ 2219960 w 2221117"/>
                  <a:gd name="connsiteY3" fmla="*/ 15240 h 1183640"/>
                  <a:gd name="connsiteX4" fmla="*/ 1193800 w 2221117"/>
                  <a:gd name="connsiteY4" fmla="*/ 1046480 h 1183640"/>
                  <a:gd name="connsiteX5" fmla="*/ 1188720 w 2221117"/>
                  <a:gd name="connsiteY5" fmla="*/ 1183640 h 1183640"/>
                  <a:gd name="connsiteX6" fmla="*/ 289560 w 2221117"/>
                  <a:gd name="connsiteY6" fmla="*/ 762000 h 1183640"/>
                  <a:gd name="connsiteX7" fmla="*/ 0 w 2221117"/>
                  <a:gd name="connsiteY7" fmla="*/ 10160 h 1183640"/>
                  <a:gd name="connsiteX0" fmla="*/ 0 w 2221133"/>
                  <a:gd name="connsiteY0" fmla="*/ 10160 h 1183640"/>
                  <a:gd name="connsiteX1" fmla="*/ 193040 w 2221133"/>
                  <a:gd name="connsiteY1" fmla="*/ 0 h 1183640"/>
                  <a:gd name="connsiteX2" fmla="*/ 482600 w 2221133"/>
                  <a:gd name="connsiteY2" fmla="*/ 721360 h 1183640"/>
                  <a:gd name="connsiteX3" fmla="*/ 2219960 w 2221133"/>
                  <a:gd name="connsiteY3" fmla="*/ 15240 h 1183640"/>
                  <a:gd name="connsiteX4" fmla="*/ 1193800 w 2221133"/>
                  <a:gd name="connsiteY4" fmla="*/ 1046480 h 1183640"/>
                  <a:gd name="connsiteX5" fmla="*/ 1188720 w 2221133"/>
                  <a:gd name="connsiteY5" fmla="*/ 1183640 h 1183640"/>
                  <a:gd name="connsiteX6" fmla="*/ 289560 w 2221133"/>
                  <a:gd name="connsiteY6" fmla="*/ 762000 h 1183640"/>
                  <a:gd name="connsiteX7" fmla="*/ 0 w 2221133"/>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960" h="1183640">
                    <a:moveTo>
                      <a:pt x="0" y="10160"/>
                    </a:moveTo>
                    <a:lnTo>
                      <a:pt x="193040" y="0"/>
                    </a:lnTo>
                    <a:cubicBezTo>
                      <a:pt x="182880" y="149013"/>
                      <a:pt x="213360" y="409787"/>
                      <a:pt x="482600" y="721360"/>
                    </a:cubicBezTo>
                    <a:cubicBezTo>
                      <a:pt x="1066800" y="1293707"/>
                      <a:pt x="2159000" y="895773"/>
                      <a:pt x="2219960" y="15240"/>
                    </a:cubicBezTo>
                    <a:cubicBezTo>
                      <a:pt x="2197947" y="755227"/>
                      <a:pt x="1546013" y="1027853"/>
                      <a:pt x="1193800" y="1046480"/>
                    </a:cubicBezTo>
                    <a:lnTo>
                      <a:pt x="1188720" y="1183640"/>
                    </a:lnTo>
                    <a:cubicBezTo>
                      <a:pt x="939800" y="1159933"/>
                      <a:pt x="594360" y="1110827"/>
                      <a:pt x="289560" y="762000"/>
                    </a:cubicBezTo>
                    <a:cubicBezTo>
                      <a:pt x="50800" y="506307"/>
                      <a:pt x="10160" y="154093"/>
                      <a:pt x="0" y="10160"/>
                    </a:cubicBezTo>
                    <a:close/>
                  </a:path>
                </a:pathLst>
              </a:cu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83" name="Freeform 82"/>
              <p:cNvSpPr/>
              <p:nvPr/>
            </p:nvSpPr>
            <p:spPr bwMode="gray">
              <a:xfrm flipH="1" flipV="1">
                <a:off x="990600" y="2067354"/>
                <a:ext cx="2219960" cy="1183640"/>
              </a:xfrm>
              <a:custGeom>
                <a:avLst/>
                <a:gdLst>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21117"/>
                  <a:gd name="connsiteY0" fmla="*/ 10160 h 1183640"/>
                  <a:gd name="connsiteX1" fmla="*/ 193040 w 2221117"/>
                  <a:gd name="connsiteY1" fmla="*/ 0 h 1183640"/>
                  <a:gd name="connsiteX2" fmla="*/ 482600 w 2221117"/>
                  <a:gd name="connsiteY2" fmla="*/ 721360 h 1183640"/>
                  <a:gd name="connsiteX3" fmla="*/ 2219960 w 2221117"/>
                  <a:gd name="connsiteY3" fmla="*/ 15240 h 1183640"/>
                  <a:gd name="connsiteX4" fmla="*/ 1193800 w 2221117"/>
                  <a:gd name="connsiteY4" fmla="*/ 1046480 h 1183640"/>
                  <a:gd name="connsiteX5" fmla="*/ 1188720 w 2221117"/>
                  <a:gd name="connsiteY5" fmla="*/ 1183640 h 1183640"/>
                  <a:gd name="connsiteX6" fmla="*/ 289560 w 2221117"/>
                  <a:gd name="connsiteY6" fmla="*/ 762000 h 1183640"/>
                  <a:gd name="connsiteX7" fmla="*/ 0 w 2221117"/>
                  <a:gd name="connsiteY7" fmla="*/ 10160 h 1183640"/>
                  <a:gd name="connsiteX0" fmla="*/ 0 w 2221133"/>
                  <a:gd name="connsiteY0" fmla="*/ 10160 h 1183640"/>
                  <a:gd name="connsiteX1" fmla="*/ 193040 w 2221133"/>
                  <a:gd name="connsiteY1" fmla="*/ 0 h 1183640"/>
                  <a:gd name="connsiteX2" fmla="*/ 482600 w 2221133"/>
                  <a:gd name="connsiteY2" fmla="*/ 721360 h 1183640"/>
                  <a:gd name="connsiteX3" fmla="*/ 2219960 w 2221133"/>
                  <a:gd name="connsiteY3" fmla="*/ 15240 h 1183640"/>
                  <a:gd name="connsiteX4" fmla="*/ 1193800 w 2221133"/>
                  <a:gd name="connsiteY4" fmla="*/ 1046480 h 1183640"/>
                  <a:gd name="connsiteX5" fmla="*/ 1188720 w 2221133"/>
                  <a:gd name="connsiteY5" fmla="*/ 1183640 h 1183640"/>
                  <a:gd name="connsiteX6" fmla="*/ 289560 w 2221133"/>
                  <a:gd name="connsiteY6" fmla="*/ 762000 h 1183640"/>
                  <a:gd name="connsiteX7" fmla="*/ 0 w 2221133"/>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 name="connsiteX0" fmla="*/ 0 w 2219960"/>
                  <a:gd name="connsiteY0" fmla="*/ 10160 h 1183640"/>
                  <a:gd name="connsiteX1" fmla="*/ 193040 w 2219960"/>
                  <a:gd name="connsiteY1" fmla="*/ 0 h 1183640"/>
                  <a:gd name="connsiteX2" fmla="*/ 482600 w 2219960"/>
                  <a:gd name="connsiteY2" fmla="*/ 721360 h 1183640"/>
                  <a:gd name="connsiteX3" fmla="*/ 2219960 w 2219960"/>
                  <a:gd name="connsiteY3" fmla="*/ 15240 h 1183640"/>
                  <a:gd name="connsiteX4" fmla="*/ 1193800 w 2219960"/>
                  <a:gd name="connsiteY4" fmla="*/ 1046480 h 1183640"/>
                  <a:gd name="connsiteX5" fmla="*/ 1188720 w 2219960"/>
                  <a:gd name="connsiteY5" fmla="*/ 1183640 h 1183640"/>
                  <a:gd name="connsiteX6" fmla="*/ 289560 w 2219960"/>
                  <a:gd name="connsiteY6" fmla="*/ 762000 h 1183640"/>
                  <a:gd name="connsiteX7" fmla="*/ 0 w 2219960"/>
                  <a:gd name="connsiteY7" fmla="*/ 10160 h 118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9960" h="1183640">
                    <a:moveTo>
                      <a:pt x="0" y="10160"/>
                    </a:moveTo>
                    <a:lnTo>
                      <a:pt x="193040" y="0"/>
                    </a:lnTo>
                    <a:cubicBezTo>
                      <a:pt x="182880" y="149013"/>
                      <a:pt x="213360" y="409787"/>
                      <a:pt x="482600" y="721360"/>
                    </a:cubicBezTo>
                    <a:cubicBezTo>
                      <a:pt x="1066800" y="1293707"/>
                      <a:pt x="2159000" y="895773"/>
                      <a:pt x="2219960" y="15240"/>
                    </a:cubicBezTo>
                    <a:cubicBezTo>
                      <a:pt x="2197947" y="755227"/>
                      <a:pt x="1546013" y="1027853"/>
                      <a:pt x="1193800" y="1046480"/>
                    </a:cubicBezTo>
                    <a:lnTo>
                      <a:pt x="1188720" y="1183640"/>
                    </a:lnTo>
                    <a:cubicBezTo>
                      <a:pt x="939800" y="1159933"/>
                      <a:pt x="594360" y="1110827"/>
                      <a:pt x="289560" y="762000"/>
                    </a:cubicBezTo>
                    <a:cubicBezTo>
                      <a:pt x="50800" y="506307"/>
                      <a:pt x="10160" y="154093"/>
                      <a:pt x="0" y="10160"/>
                    </a:cubicBezTo>
                    <a:close/>
                  </a:path>
                </a:pathLst>
              </a:cu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84" name="Oval 83"/>
              <p:cNvSpPr/>
              <p:nvPr/>
            </p:nvSpPr>
            <p:spPr bwMode="gray">
              <a:xfrm>
                <a:off x="1262380" y="2412794"/>
                <a:ext cx="1676400" cy="1676400"/>
              </a:xfrm>
              <a:prstGeom prst="ellipse">
                <a:avLst/>
              </a:prstGeom>
              <a:solidFill>
                <a:schemeClr val="tx1">
                  <a:lumMod val="95000"/>
                  <a:lumOff val="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grpSp>
        <p:sp>
          <p:nvSpPr>
            <p:cNvPr id="100" name="Freeform 227"/>
            <p:cNvSpPr>
              <a:spLocks noEditPoints="1"/>
            </p:cNvSpPr>
            <p:nvPr/>
          </p:nvSpPr>
          <p:spPr bwMode="auto">
            <a:xfrm>
              <a:off x="5581408" y="5656675"/>
              <a:ext cx="334614" cy="194275"/>
            </a:xfrm>
            <a:custGeom>
              <a:avLst/>
              <a:gdLst>
                <a:gd name="T0" fmla="*/ 282 w 320"/>
                <a:gd name="T1" fmla="*/ 56 h 192"/>
                <a:gd name="T2" fmla="*/ 296 w 320"/>
                <a:gd name="T3" fmla="*/ 38 h 192"/>
                <a:gd name="T4" fmla="*/ 295 w 320"/>
                <a:gd name="T5" fmla="*/ 24 h 192"/>
                <a:gd name="T6" fmla="*/ 281 w 320"/>
                <a:gd name="T7" fmla="*/ 23 h 192"/>
                <a:gd name="T8" fmla="*/ 263 w 320"/>
                <a:gd name="T9" fmla="*/ 37 h 192"/>
                <a:gd name="T10" fmla="*/ 160 w 320"/>
                <a:gd name="T11" fmla="*/ 0 h 192"/>
                <a:gd name="T12" fmla="*/ 0 w 320"/>
                <a:gd name="T13" fmla="*/ 160 h 192"/>
                <a:gd name="T14" fmla="*/ 10 w 320"/>
                <a:gd name="T15" fmla="*/ 170 h 192"/>
                <a:gd name="T16" fmla="*/ 21 w 320"/>
                <a:gd name="T17" fmla="*/ 160 h 192"/>
                <a:gd name="T18" fmla="*/ 160 w 320"/>
                <a:gd name="T19" fmla="*/ 21 h 192"/>
                <a:gd name="T20" fmla="*/ 245 w 320"/>
                <a:gd name="T21" fmla="*/ 51 h 192"/>
                <a:gd name="T22" fmla="*/ 137 w 320"/>
                <a:gd name="T23" fmla="*/ 133 h 192"/>
                <a:gd name="T24" fmla="*/ 136 w 320"/>
                <a:gd name="T25" fmla="*/ 134 h 192"/>
                <a:gd name="T26" fmla="*/ 126 w 320"/>
                <a:gd name="T27" fmla="*/ 158 h 192"/>
                <a:gd name="T28" fmla="*/ 136 w 320"/>
                <a:gd name="T29" fmla="*/ 182 h 192"/>
                <a:gd name="T30" fmla="*/ 160 w 320"/>
                <a:gd name="T31" fmla="*/ 192 h 192"/>
                <a:gd name="T32" fmla="*/ 160 w 320"/>
                <a:gd name="T33" fmla="*/ 192 h 192"/>
                <a:gd name="T34" fmla="*/ 183 w 320"/>
                <a:gd name="T35" fmla="*/ 182 h 192"/>
                <a:gd name="T36" fmla="*/ 184 w 320"/>
                <a:gd name="T37" fmla="*/ 181 h 192"/>
                <a:gd name="T38" fmla="*/ 268 w 320"/>
                <a:gd name="T39" fmla="*/ 74 h 192"/>
                <a:gd name="T40" fmla="*/ 298 w 320"/>
                <a:gd name="T41" fmla="*/ 160 h 192"/>
                <a:gd name="T42" fmla="*/ 309 w 320"/>
                <a:gd name="T43" fmla="*/ 170 h 192"/>
                <a:gd name="T44" fmla="*/ 320 w 320"/>
                <a:gd name="T45" fmla="*/ 160 h 192"/>
                <a:gd name="T46" fmla="*/ 282 w 320"/>
                <a:gd name="T47" fmla="*/ 56 h 192"/>
                <a:gd name="T48" fmla="*/ 168 w 320"/>
                <a:gd name="T49" fmla="*/ 167 h 192"/>
                <a:gd name="T50" fmla="*/ 160 w 320"/>
                <a:gd name="T51" fmla="*/ 170 h 192"/>
                <a:gd name="T52" fmla="*/ 160 w 320"/>
                <a:gd name="T53" fmla="*/ 170 h 192"/>
                <a:gd name="T54" fmla="*/ 151 w 320"/>
                <a:gd name="T55" fmla="*/ 167 h 192"/>
                <a:gd name="T56" fmla="*/ 147 w 320"/>
                <a:gd name="T57" fmla="*/ 158 h 192"/>
                <a:gd name="T58" fmla="*/ 151 w 320"/>
                <a:gd name="T59" fmla="*/ 150 h 192"/>
                <a:gd name="T60" fmla="*/ 227 w 320"/>
                <a:gd name="T61" fmla="*/ 91 h 192"/>
                <a:gd name="T62" fmla="*/ 168 w 320"/>
                <a:gd name="T63" fmla="*/ 16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0" h="192">
                  <a:moveTo>
                    <a:pt x="282" y="56"/>
                  </a:moveTo>
                  <a:cubicBezTo>
                    <a:pt x="296" y="38"/>
                    <a:pt x="296" y="38"/>
                    <a:pt x="296" y="38"/>
                  </a:cubicBezTo>
                  <a:cubicBezTo>
                    <a:pt x="299" y="34"/>
                    <a:pt x="299" y="28"/>
                    <a:pt x="295" y="24"/>
                  </a:cubicBezTo>
                  <a:cubicBezTo>
                    <a:pt x="291" y="20"/>
                    <a:pt x="285" y="20"/>
                    <a:pt x="281" y="23"/>
                  </a:cubicBezTo>
                  <a:cubicBezTo>
                    <a:pt x="263" y="37"/>
                    <a:pt x="263" y="37"/>
                    <a:pt x="263" y="37"/>
                  </a:cubicBezTo>
                  <a:cubicBezTo>
                    <a:pt x="235" y="14"/>
                    <a:pt x="199" y="0"/>
                    <a:pt x="160" y="0"/>
                  </a:cubicBezTo>
                  <a:cubicBezTo>
                    <a:pt x="71" y="0"/>
                    <a:pt x="0" y="71"/>
                    <a:pt x="0" y="160"/>
                  </a:cubicBezTo>
                  <a:cubicBezTo>
                    <a:pt x="0" y="166"/>
                    <a:pt x="4" y="170"/>
                    <a:pt x="10" y="170"/>
                  </a:cubicBezTo>
                  <a:cubicBezTo>
                    <a:pt x="16" y="170"/>
                    <a:pt x="21" y="166"/>
                    <a:pt x="21" y="160"/>
                  </a:cubicBezTo>
                  <a:cubicBezTo>
                    <a:pt x="21" y="83"/>
                    <a:pt x="83" y="21"/>
                    <a:pt x="160" y="21"/>
                  </a:cubicBezTo>
                  <a:cubicBezTo>
                    <a:pt x="192" y="21"/>
                    <a:pt x="222" y="32"/>
                    <a:pt x="245" y="51"/>
                  </a:cubicBezTo>
                  <a:cubicBezTo>
                    <a:pt x="137" y="133"/>
                    <a:pt x="137" y="133"/>
                    <a:pt x="137" y="133"/>
                  </a:cubicBezTo>
                  <a:cubicBezTo>
                    <a:pt x="137" y="134"/>
                    <a:pt x="136" y="134"/>
                    <a:pt x="136" y="134"/>
                  </a:cubicBezTo>
                  <a:cubicBezTo>
                    <a:pt x="130" y="141"/>
                    <a:pt x="126" y="149"/>
                    <a:pt x="126" y="158"/>
                  </a:cubicBezTo>
                  <a:cubicBezTo>
                    <a:pt x="126" y="167"/>
                    <a:pt x="130" y="175"/>
                    <a:pt x="136" y="182"/>
                  </a:cubicBezTo>
                  <a:cubicBezTo>
                    <a:pt x="142" y="188"/>
                    <a:pt x="151" y="192"/>
                    <a:pt x="160" y="192"/>
                  </a:cubicBezTo>
                  <a:cubicBezTo>
                    <a:pt x="160" y="192"/>
                    <a:pt x="160" y="192"/>
                    <a:pt x="160" y="192"/>
                  </a:cubicBezTo>
                  <a:cubicBezTo>
                    <a:pt x="169" y="192"/>
                    <a:pt x="177" y="188"/>
                    <a:pt x="183" y="182"/>
                  </a:cubicBezTo>
                  <a:cubicBezTo>
                    <a:pt x="184" y="182"/>
                    <a:pt x="184" y="181"/>
                    <a:pt x="184" y="181"/>
                  </a:cubicBezTo>
                  <a:cubicBezTo>
                    <a:pt x="268" y="74"/>
                    <a:pt x="268" y="74"/>
                    <a:pt x="268" y="74"/>
                  </a:cubicBezTo>
                  <a:cubicBezTo>
                    <a:pt x="287" y="97"/>
                    <a:pt x="298" y="127"/>
                    <a:pt x="298" y="160"/>
                  </a:cubicBezTo>
                  <a:cubicBezTo>
                    <a:pt x="298" y="166"/>
                    <a:pt x="303" y="170"/>
                    <a:pt x="309" y="170"/>
                  </a:cubicBezTo>
                  <a:cubicBezTo>
                    <a:pt x="315" y="170"/>
                    <a:pt x="320" y="166"/>
                    <a:pt x="320" y="160"/>
                  </a:cubicBezTo>
                  <a:cubicBezTo>
                    <a:pt x="320" y="120"/>
                    <a:pt x="305" y="84"/>
                    <a:pt x="282" y="56"/>
                  </a:cubicBezTo>
                  <a:close/>
                  <a:moveTo>
                    <a:pt x="168" y="167"/>
                  </a:moveTo>
                  <a:cubicBezTo>
                    <a:pt x="166" y="169"/>
                    <a:pt x="163" y="170"/>
                    <a:pt x="160" y="170"/>
                  </a:cubicBezTo>
                  <a:cubicBezTo>
                    <a:pt x="160" y="170"/>
                    <a:pt x="160" y="170"/>
                    <a:pt x="160" y="170"/>
                  </a:cubicBezTo>
                  <a:cubicBezTo>
                    <a:pt x="156" y="170"/>
                    <a:pt x="153" y="169"/>
                    <a:pt x="151" y="167"/>
                  </a:cubicBezTo>
                  <a:cubicBezTo>
                    <a:pt x="149" y="164"/>
                    <a:pt x="147" y="161"/>
                    <a:pt x="147" y="158"/>
                  </a:cubicBezTo>
                  <a:cubicBezTo>
                    <a:pt x="147" y="155"/>
                    <a:pt x="149" y="152"/>
                    <a:pt x="151" y="150"/>
                  </a:cubicBezTo>
                  <a:cubicBezTo>
                    <a:pt x="227" y="91"/>
                    <a:pt x="227" y="91"/>
                    <a:pt x="227" y="91"/>
                  </a:cubicBezTo>
                  <a:lnTo>
                    <a:pt x="168" y="167"/>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GB" sz="1100" b="1" i="0" u="none" strike="noStrike" kern="0" cap="none" spc="0" normalizeH="0" baseline="0" noProof="0" dirty="0">
                <a:ln>
                  <a:noFill/>
                </a:ln>
                <a:solidFill>
                  <a:srgbClr val="002776"/>
                </a:solidFill>
                <a:effectLst/>
                <a:uLnTx/>
                <a:uFillTx/>
                <a:latin typeface="+mj-lt"/>
                <a:cs typeface="Arial" pitchFamily="34" charset="0"/>
              </a:endParaRPr>
            </a:p>
          </p:txBody>
        </p:sp>
        <p:sp>
          <p:nvSpPr>
            <p:cNvPr id="101" name="Freeform 228"/>
            <p:cNvSpPr>
              <a:spLocks noEditPoints="1"/>
            </p:cNvSpPr>
            <p:nvPr/>
          </p:nvSpPr>
          <p:spPr bwMode="auto">
            <a:xfrm>
              <a:off x="5480392" y="5526648"/>
              <a:ext cx="536645" cy="520107"/>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GB" sz="1100" b="1" i="0" u="none" strike="noStrike" kern="0" cap="none" spc="0" normalizeH="0" baseline="0" noProof="0" dirty="0">
                <a:ln>
                  <a:noFill/>
                </a:ln>
                <a:solidFill>
                  <a:srgbClr val="002776"/>
                </a:solidFill>
                <a:effectLst/>
                <a:uLnTx/>
                <a:uFillTx/>
                <a:latin typeface="+mj-lt"/>
                <a:cs typeface="Arial" pitchFamily="34" charset="0"/>
              </a:endParaRPr>
            </a:p>
          </p:txBody>
        </p:sp>
      </p:grpSp>
      <p:sp>
        <p:nvSpPr>
          <p:cNvPr id="49" name="Rectangle 48"/>
          <p:cNvSpPr/>
          <p:nvPr/>
        </p:nvSpPr>
        <p:spPr bwMode="gray">
          <a:xfrm>
            <a:off x="1232718" y="5632229"/>
            <a:ext cx="3657600" cy="1188720"/>
          </a:xfrm>
          <a:prstGeom prst="rect">
            <a:avLst/>
          </a:prstGeom>
          <a:solidFill>
            <a:schemeClr val="tx1">
              <a:lumMod val="50000"/>
              <a:lumOff val="50000"/>
              <a:alpha val="15000"/>
            </a:schemeClr>
          </a:solidFill>
          <a:ln w="19050" algn="ctr">
            <a:solidFill>
              <a:schemeClr val="bg1"/>
            </a:solidFill>
            <a:miter lim="800000"/>
            <a:headEnd/>
            <a:tailEnd/>
          </a:ln>
          <a:effectLst/>
        </p:spPr>
        <p:txBody>
          <a:bodyPr wrap="square" lIns="88900" tIns="88900" rIns="88900" bIns="88900" rtlCol="0" anchor="ctr"/>
          <a:lstStyle/>
          <a:p>
            <a:pPr marL="0" lvl="1">
              <a:lnSpc>
                <a:spcPct val="106000"/>
              </a:lnSpc>
              <a:buSzPct val="100000"/>
            </a:pPr>
            <a:r>
              <a:rPr lang="en-US" sz="1000" b="1" u="sng" cap="all" dirty="0">
                <a:solidFill>
                  <a:srgbClr val="002776"/>
                </a:solidFill>
                <a:cs typeface="Knockout-HTF29-JuniorLiteweight"/>
              </a:rPr>
              <a:t>Shortened TIMELINES</a:t>
            </a:r>
          </a:p>
          <a:p>
            <a:pPr marL="0" lvl="1">
              <a:lnSpc>
                <a:spcPct val="106000"/>
              </a:lnSpc>
              <a:buSzPct val="100000"/>
            </a:pPr>
            <a:endParaRPr lang="en-US" sz="1000" dirty="0"/>
          </a:p>
          <a:p>
            <a:pPr marL="114300" lvl="1" indent="-114300">
              <a:lnSpc>
                <a:spcPct val="106000"/>
              </a:lnSpc>
              <a:buSzPct val="100000"/>
              <a:buFont typeface="Arial" panose="020B0604020202020204" pitchFamily="34" charset="0"/>
              <a:buChar char="•"/>
            </a:pPr>
            <a:r>
              <a:rPr lang="en-US" sz="1000" dirty="0"/>
              <a:t>Faster turnaround time of test execution due to the automation</a:t>
            </a:r>
          </a:p>
          <a:p>
            <a:pPr marL="114300" lvl="1" indent="-114300">
              <a:lnSpc>
                <a:spcPct val="106000"/>
              </a:lnSpc>
              <a:buSzPct val="100000"/>
              <a:buFont typeface="Arial" panose="020B0604020202020204" pitchFamily="34" charset="0"/>
              <a:buChar char="•"/>
            </a:pPr>
            <a:r>
              <a:rPr lang="en-US" sz="1000" dirty="0"/>
              <a:t>After 3-4 patch test cycles, automation script defects will reduce significantly resulting in more swift test execution</a:t>
            </a:r>
          </a:p>
        </p:txBody>
      </p:sp>
      <p:sp>
        <p:nvSpPr>
          <p:cNvPr id="102" name="Hexagon 101"/>
          <p:cNvSpPr/>
          <p:nvPr/>
        </p:nvSpPr>
        <p:spPr bwMode="gray">
          <a:xfrm>
            <a:off x="5329766" y="3909194"/>
            <a:ext cx="1087502" cy="937501"/>
          </a:xfrm>
          <a:prstGeom prst="hexagon">
            <a:avLst/>
          </a:prstGeom>
          <a:no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1000" b="1" dirty="0">
              <a:solidFill>
                <a:schemeClr val="tx1"/>
              </a:solidFill>
              <a:cs typeface="Arial" pitchFamily="34" charset="0"/>
            </a:endParaRPr>
          </a:p>
        </p:txBody>
      </p:sp>
      <p:sp>
        <p:nvSpPr>
          <p:cNvPr id="9" name="TextBox 8"/>
          <p:cNvSpPr txBox="1"/>
          <p:nvPr/>
        </p:nvSpPr>
        <p:spPr>
          <a:xfrm>
            <a:off x="5375497" y="4183659"/>
            <a:ext cx="1021976" cy="333425"/>
          </a:xfrm>
          <a:prstGeom prst="rect">
            <a:avLst/>
          </a:prstGeom>
          <a:noFill/>
        </p:spPr>
        <p:txBody>
          <a:bodyPr vert="horz" wrap="square" lIns="0" tIns="0" rIns="0" bIns="0" rtlCol="0">
            <a:spAutoFit/>
          </a:bodyPr>
          <a:lstStyle/>
          <a:p>
            <a:pPr algn="ctr">
              <a:spcBef>
                <a:spcPts val="200"/>
              </a:spcBef>
              <a:buSzPct val="100000"/>
            </a:pPr>
            <a:r>
              <a:rPr lang="en-US" sz="1000" b="1" dirty="0"/>
              <a:t>TESTING</a:t>
            </a:r>
          </a:p>
          <a:p>
            <a:pPr algn="ctr">
              <a:spcBef>
                <a:spcPts val="200"/>
              </a:spcBef>
              <a:buSzPct val="100000"/>
            </a:pPr>
            <a:r>
              <a:rPr lang="en-US" sz="1000" b="1" dirty="0"/>
              <a:t>AUTOMATION</a:t>
            </a:r>
          </a:p>
        </p:txBody>
      </p:sp>
    </p:spTree>
    <p:extLst>
      <p:ext uri="{BB962C8B-B14F-4D97-AF65-F5344CB8AC3E}">
        <p14:creationId xmlns:p14="http://schemas.microsoft.com/office/powerpoint/2010/main" val="312294108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8912424" y="5122739"/>
            <a:ext cx="2744329" cy="815608"/>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b="1" dirty="0">
                <a:solidFill>
                  <a:schemeClr val="accent1"/>
                </a:solidFill>
              </a:rPr>
              <a:t>Runtime Notification </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dirty="0"/>
              <a:t>Summary reports via emails with error step screenshot of failed test steps</a:t>
            </a:r>
          </a:p>
        </p:txBody>
      </p:sp>
      <p:sp>
        <p:nvSpPr>
          <p:cNvPr id="20" name="Rectangle 19"/>
          <p:cNvSpPr/>
          <p:nvPr/>
        </p:nvSpPr>
        <p:spPr>
          <a:xfrm>
            <a:off x="8912424" y="1964674"/>
            <a:ext cx="2744329" cy="815608"/>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b="1" dirty="0">
                <a:solidFill>
                  <a:schemeClr val="accent1"/>
                </a:solidFill>
              </a:rPr>
              <a:t>Web based dashboards</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dirty="0"/>
              <a:t>For remote monitoring and execution of scripts with visibility to historical data</a:t>
            </a:r>
          </a:p>
        </p:txBody>
      </p:sp>
      <p:sp>
        <p:nvSpPr>
          <p:cNvPr id="21" name="Rectangle 20"/>
          <p:cNvSpPr/>
          <p:nvPr/>
        </p:nvSpPr>
        <p:spPr>
          <a:xfrm>
            <a:off x="8912424" y="3520370"/>
            <a:ext cx="2744329" cy="815608"/>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b="1" dirty="0">
                <a:solidFill>
                  <a:schemeClr val="accent1"/>
                </a:solidFill>
              </a:rPr>
              <a:t>Powered by best of breed test automation tools</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dirty="0"/>
              <a:t>Selenium, Jenkins and Automation Anywhere.</a:t>
            </a:r>
          </a:p>
        </p:txBody>
      </p:sp>
      <p:sp>
        <p:nvSpPr>
          <p:cNvPr id="22" name="Rectangle 21"/>
          <p:cNvSpPr/>
          <p:nvPr/>
        </p:nvSpPr>
        <p:spPr>
          <a:xfrm>
            <a:off x="940612" y="1964674"/>
            <a:ext cx="2840958" cy="1184940"/>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b="1" dirty="0">
                <a:solidFill>
                  <a:schemeClr val="accent1"/>
                </a:solidFill>
              </a:rPr>
              <a:t>One stop shop for end to end functional testing automation</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dirty="0"/>
              <a:t>The scope included Oracle ERP Cloud Order to Cash, Procure to Pay, Plan to Manufacture and Financials standard test cases</a:t>
            </a:r>
          </a:p>
        </p:txBody>
      </p:sp>
      <p:sp>
        <p:nvSpPr>
          <p:cNvPr id="23" name="Rectangle 22"/>
          <p:cNvSpPr/>
          <p:nvPr/>
        </p:nvSpPr>
        <p:spPr>
          <a:xfrm>
            <a:off x="951831" y="3520370"/>
            <a:ext cx="2840958" cy="100027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b="1" dirty="0">
                <a:solidFill>
                  <a:schemeClr val="accent1"/>
                </a:solidFill>
              </a:rPr>
              <a:t>Intuitive to use</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dirty="0"/>
              <a:t>Enriched and simplified user interface provides modern experience for test script, data and execution management</a:t>
            </a:r>
          </a:p>
        </p:txBody>
      </p:sp>
      <p:sp>
        <p:nvSpPr>
          <p:cNvPr id="24" name="Rectangle 23"/>
          <p:cNvSpPr/>
          <p:nvPr/>
        </p:nvSpPr>
        <p:spPr>
          <a:xfrm>
            <a:off x="951831" y="5122739"/>
            <a:ext cx="2840958" cy="1000274"/>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b="1" dirty="0">
                <a:solidFill>
                  <a:schemeClr val="accent1"/>
                </a:solidFill>
              </a:rPr>
              <a:t>Plug and play</a:t>
            </a: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200" dirty="0"/>
              <a:t>Installation, enhancement and upgrades supported by Deloitte team and alignment with Oracle ERP cloud releases/updates</a:t>
            </a:r>
          </a:p>
        </p:txBody>
      </p:sp>
      <p:pic>
        <p:nvPicPr>
          <p:cNvPr id="25" name="Picture 24"/>
          <p:cNvPicPr>
            <a:picLocks noChangeAspect="1"/>
          </p:cNvPicPr>
          <p:nvPr/>
        </p:nvPicPr>
        <p:blipFill>
          <a:blip r:embed="rId3"/>
          <a:stretch>
            <a:fillRect/>
          </a:stretch>
        </p:blipFill>
        <p:spPr>
          <a:xfrm>
            <a:off x="4296413" y="2795923"/>
            <a:ext cx="3619814" cy="2956816"/>
          </a:xfrm>
          <a:prstGeom prst="rect">
            <a:avLst/>
          </a:prstGeom>
        </p:spPr>
      </p:pic>
      <p:sp>
        <p:nvSpPr>
          <p:cNvPr id="27" name="TextBox 26"/>
          <p:cNvSpPr txBox="1"/>
          <p:nvPr/>
        </p:nvSpPr>
        <p:spPr>
          <a:xfrm>
            <a:off x="4144044" y="2272703"/>
            <a:ext cx="3924551" cy="523220"/>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dirty="0"/>
              <a:t>Deloitte RPA Test Automation Solution</a:t>
            </a:r>
          </a:p>
        </p:txBody>
      </p:sp>
      <p:grpSp>
        <p:nvGrpSpPr>
          <p:cNvPr id="29" name="Group 713"/>
          <p:cNvGrpSpPr>
            <a:grpSpLocks noChangeAspect="1"/>
          </p:cNvGrpSpPr>
          <p:nvPr/>
        </p:nvGrpSpPr>
        <p:grpSpPr bwMode="auto">
          <a:xfrm>
            <a:off x="8442288" y="5122739"/>
            <a:ext cx="367041" cy="367041"/>
            <a:chOff x="3986" y="3055"/>
            <a:chExt cx="340" cy="340"/>
          </a:xfrm>
          <a:solidFill>
            <a:schemeClr val="accent1"/>
          </a:solidFill>
        </p:grpSpPr>
        <p:sp>
          <p:nvSpPr>
            <p:cNvPr id="30" name="Freeform 714"/>
            <p:cNvSpPr>
              <a:spLocks noEditPoints="1"/>
            </p:cNvSpPr>
            <p:nvPr/>
          </p:nvSpPr>
          <p:spPr bwMode="auto">
            <a:xfrm>
              <a:off x="3986" y="305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1" name="Freeform 715"/>
            <p:cNvSpPr>
              <a:spLocks noEditPoints="1"/>
            </p:cNvSpPr>
            <p:nvPr/>
          </p:nvSpPr>
          <p:spPr bwMode="auto">
            <a:xfrm>
              <a:off x="4050" y="3147"/>
              <a:ext cx="212" cy="156"/>
            </a:xfrm>
            <a:custGeom>
              <a:avLst/>
              <a:gdLst>
                <a:gd name="T0" fmla="*/ 309 w 320"/>
                <a:gd name="T1" fmla="*/ 0 h 235"/>
                <a:gd name="T2" fmla="*/ 10 w 320"/>
                <a:gd name="T3" fmla="*/ 0 h 235"/>
                <a:gd name="T4" fmla="*/ 0 w 320"/>
                <a:gd name="T5" fmla="*/ 11 h 235"/>
                <a:gd name="T6" fmla="*/ 0 w 320"/>
                <a:gd name="T7" fmla="*/ 224 h 235"/>
                <a:gd name="T8" fmla="*/ 10 w 320"/>
                <a:gd name="T9" fmla="*/ 235 h 235"/>
                <a:gd name="T10" fmla="*/ 309 w 320"/>
                <a:gd name="T11" fmla="*/ 235 h 235"/>
                <a:gd name="T12" fmla="*/ 320 w 320"/>
                <a:gd name="T13" fmla="*/ 224 h 235"/>
                <a:gd name="T14" fmla="*/ 320 w 320"/>
                <a:gd name="T15" fmla="*/ 11 h 235"/>
                <a:gd name="T16" fmla="*/ 309 w 320"/>
                <a:gd name="T17" fmla="*/ 0 h 235"/>
                <a:gd name="T18" fmla="*/ 298 w 320"/>
                <a:gd name="T19" fmla="*/ 199 h 235"/>
                <a:gd name="T20" fmla="*/ 214 w 320"/>
                <a:gd name="T21" fmla="*/ 114 h 235"/>
                <a:gd name="T22" fmla="*/ 298 w 320"/>
                <a:gd name="T23" fmla="*/ 35 h 235"/>
                <a:gd name="T24" fmla="*/ 298 w 320"/>
                <a:gd name="T25" fmla="*/ 199 h 235"/>
                <a:gd name="T26" fmla="*/ 282 w 320"/>
                <a:gd name="T27" fmla="*/ 22 h 235"/>
                <a:gd name="T28" fmla="*/ 160 w 320"/>
                <a:gd name="T29" fmla="*/ 135 h 235"/>
                <a:gd name="T30" fmla="*/ 37 w 320"/>
                <a:gd name="T31" fmla="*/ 22 h 235"/>
                <a:gd name="T32" fmla="*/ 282 w 320"/>
                <a:gd name="T33" fmla="*/ 22 h 235"/>
                <a:gd name="T34" fmla="*/ 21 w 320"/>
                <a:gd name="T35" fmla="*/ 35 h 235"/>
                <a:gd name="T36" fmla="*/ 106 w 320"/>
                <a:gd name="T37" fmla="*/ 114 h 235"/>
                <a:gd name="T38" fmla="*/ 21 w 320"/>
                <a:gd name="T39" fmla="*/ 199 h 235"/>
                <a:gd name="T40" fmla="*/ 21 w 320"/>
                <a:gd name="T41" fmla="*/ 35 h 235"/>
                <a:gd name="T42" fmla="*/ 121 w 320"/>
                <a:gd name="T43" fmla="*/ 129 h 235"/>
                <a:gd name="T44" fmla="*/ 152 w 320"/>
                <a:gd name="T45" fmla="*/ 157 h 235"/>
                <a:gd name="T46" fmla="*/ 160 w 320"/>
                <a:gd name="T47" fmla="*/ 160 h 235"/>
                <a:gd name="T48" fmla="*/ 167 w 320"/>
                <a:gd name="T49" fmla="*/ 157 h 235"/>
                <a:gd name="T50" fmla="*/ 198 w 320"/>
                <a:gd name="T51" fmla="*/ 129 h 235"/>
                <a:gd name="T52" fmla="*/ 283 w 320"/>
                <a:gd name="T53" fmla="*/ 214 h 235"/>
                <a:gd name="T54" fmla="*/ 36 w 320"/>
                <a:gd name="T55" fmla="*/ 214 h 235"/>
                <a:gd name="T56" fmla="*/ 121 w 320"/>
                <a:gd name="T57" fmla="*/ 12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0" h="235">
                  <a:moveTo>
                    <a:pt x="309" y="0"/>
                  </a:moveTo>
                  <a:cubicBezTo>
                    <a:pt x="10" y="0"/>
                    <a:pt x="10" y="0"/>
                    <a:pt x="10" y="0"/>
                  </a:cubicBezTo>
                  <a:cubicBezTo>
                    <a:pt x="4" y="0"/>
                    <a:pt x="0" y="5"/>
                    <a:pt x="0" y="11"/>
                  </a:cubicBezTo>
                  <a:cubicBezTo>
                    <a:pt x="0" y="224"/>
                    <a:pt x="0" y="224"/>
                    <a:pt x="0" y="224"/>
                  </a:cubicBezTo>
                  <a:cubicBezTo>
                    <a:pt x="0" y="230"/>
                    <a:pt x="4" y="235"/>
                    <a:pt x="10" y="235"/>
                  </a:cubicBezTo>
                  <a:cubicBezTo>
                    <a:pt x="309" y="235"/>
                    <a:pt x="309" y="235"/>
                    <a:pt x="309" y="235"/>
                  </a:cubicBezTo>
                  <a:cubicBezTo>
                    <a:pt x="315" y="235"/>
                    <a:pt x="320" y="230"/>
                    <a:pt x="320" y="224"/>
                  </a:cubicBezTo>
                  <a:cubicBezTo>
                    <a:pt x="320" y="11"/>
                    <a:pt x="320" y="11"/>
                    <a:pt x="320" y="11"/>
                  </a:cubicBezTo>
                  <a:cubicBezTo>
                    <a:pt x="320" y="5"/>
                    <a:pt x="315" y="0"/>
                    <a:pt x="309" y="0"/>
                  </a:cubicBezTo>
                  <a:close/>
                  <a:moveTo>
                    <a:pt x="298" y="199"/>
                  </a:moveTo>
                  <a:cubicBezTo>
                    <a:pt x="214" y="114"/>
                    <a:pt x="214" y="114"/>
                    <a:pt x="214" y="114"/>
                  </a:cubicBezTo>
                  <a:cubicBezTo>
                    <a:pt x="298" y="35"/>
                    <a:pt x="298" y="35"/>
                    <a:pt x="298" y="35"/>
                  </a:cubicBezTo>
                  <a:lnTo>
                    <a:pt x="298" y="199"/>
                  </a:lnTo>
                  <a:close/>
                  <a:moveTo>
                    <a:pt x="282" y="22"/>
                  </a:moveTo>
                  <a:cubicBezTo>
                    <a:pt x="160" y="135"/>
                    <a:pt x="160" y="135"/>
                    <a:pt x="160" y="135"/>
                  </a:cubicBezTo>
                  <a:cubicBezTo>
                    <a:pt x="37" y="22"/>
                    <a:pt x="37" y="22"/>
                    <a:pt x="37" y="22"/>
                  </a:cubicBezTo>
                  <a:lnTo>
                    <a:pt x="282" y="22"/>
                  </a:lnTo>
                  <a:close/>
                  <a:moveTo>
                    <a:pt x="21" y="35"/>
                  </a:moveTo>
                  <a:cubicBezTo>
                    <a:pt x="106" y="114"/>
                    <a:pt x="106" y="114"/>
                    <a:pt x="106" y="114"/>
                  </a:cubicBezTo>
                  <a:cubicBezTo>
                    <a:pt x="21" y="199"/>
                    <a:pt x="21" y="199"/>
                    <a:pt x="21" y="199"/>
                  </a:cubicBezTo>
                  <a:lnTo>
                    <a:pt x="21" y="35"/>
                  </a:lnTo>
                  <a:close/>
                  <a:moveTo>
                    <a:pt x="121" y="129"/>
                  </a:moveTo>
                  <a:cubicBezTo>
                    <a:pt x="152" y="157"/>
                    <a:pt x="152" y="157"/>
                    <a:pt x="152" y="157"/>
                  </a:cubicBezTo>
                  <a:cubicBezTo>
                    <a:pt x="154" y="159"/>
                    <a:pt x="157" y="160"/>
                    <a:pt x="160" y="160"/>
                  </a:cubicBezTo>
                  <a:cubicBezTo>
                    <a:pt x="162" y="160"/>
                    <a:pt x="165" y="159"/>
                    <a:pt x="167" y="157"/>
                  </a:cubicBezTo>
                  <a:cubicBezTo>
                    <a:pt x="198" y="129"/>
                    <a:pt x="198" y="129"/>
                    <a:pt x="198" y="129"/>
                  </a:cubicBezTo>
                  <a:cubicBezTo>
                    <a:pt x="283" y="214"/>
                    <a:pt x="283" y="214"/>
                    <a:pt x="283" y="214"/>
                  </a:cubicBezTo>
                  <a:cubicBezTo>
                    <a:pt x="36" y="214"/>
                    <a:pt x="36" y="214"/>
                    <a:pt x="36" y="214"/>
                  </a:cubicBezTo>
                  <a:lnTo>
                    <a:pt x="121" y="1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2" name="Group 454"/>
          <p:cNvGrpSpPr>
            <a:grpSpLocks noChangeAspect="1"/>
          </p:cNvGrpSpPr>
          <p:nvPr/>
        </p:nvGrpSpPr>
        <p:grpSpPr bwMode="auto">
          <a:xfrm>
            <a:off x="466850" y="5122739"/>
            <a:ext cx="369021" cy="369021"/>
            <a:chOff x="1912" y="1576"/>
            <a:chExt cx="340" cy="340"/>
          </a:xfrm>
          <a:solidFill>
            <a:schemeClr val="accent1"/>
          </a:solidFill>
        </p:grpSpPr>
        <p:sp>
          <p:nvSpPr>
            <p:cNvPr id="33" name="Freeform 455"/>
            <p:cNvSpPr>
              <a:spLocks noEditPoints="1"/>
            </p:cNvSpPr>
            <p:nvPr/>
          </p:nvSpPr>
          <p:spPr bwMode="auto">
            <a:xfrm>
              <a:off x="2004" y="1653"/>
              <a:ext cx="171" cy="170"/>
            </a:xfrm>
            <a:custGeom>
              <a:avLst/>
              <a:gdLst>
                <a:gd name="T0" fmla="*/ 253 w 258"/>
                <a:gd name="T1" fmla="*/ 49 h 256"/>
                <a:gd name="T2" fmla="*/ 238 w 258"/>
                <a:gd name="T3" fmla="*/ 49 h 256"/>
                <a:gd name="T4" fmla="*/ 193 w 258"/>
                <a:gd name="T5" fmla="*/ 94 h 256"/>
                <a:gd name="T6" fmla="*/ 163 w 258"/>
                <a:gd name="T7" fmla="*/ 64 h 256"/>
                <a:gd name="T8" fmla="*/ 208 w 258"/>
                <a:gd name="T9" fmla="*/ 19 h 256"/>
                <a:gd name="T10" fmla="*/ 208 w 258"/>
                <a:gd name="T11" fmla="*/ 4 h 256"/>
                <a:gd name="T12" fmla="*/ 193 w 258"/>
                <a:gd name="T13" fmla="*/ 4 h 256"/>
                <a:gd name="T14" fmla="*/ 148 w 258"/>
                <a:gd name="T15" fmla="*/ 49 h 256"/>
                <a:gd name="T16" fmla="*/ 133 w 258"/>
                <a:gd name="T17" fmla="*/ 34 h 256"/>
                <a:gd name="T18" fmla="*/ 125 w 258"/>
                <a:gd name="T19" fmla="*/ 27 h 256"/>
                <a:gd name="T20" fmla="*/ 110 w 258"/>
                <a:gd name="T21" fmla="*/ 27 h 256"/>
                <a:gd name="T22" fmla="*/ 110 w 258"/>
                <a:gd name="T23" fmla="*/ 42 h 256"/>
                <a:gd name="T24" fmla="*/ 72 w 258"/>
                <a:gd name="T25" fmla="*/ 79 h 256"/>
                <a:gd name="T26" fmla="*/ 51 w 258"/>
                <a:gd name="T27" fmla="*/ 132 h 256"/>
                <a:gd name="T28" fmla="*/ 65 w 258"/>
                <a:gd name="T29" fmla="*/ 177 h 256"/>
                <a:gd name="T30" fmla="*/ 5 w 258"/>
                <a:gd name="T31" fmla="*/ 238 h 256"/>
                <a:gd name="T32" fmla="*/ 5 w 258"/>
                <a:gd name="T33" fmla="*/ 253 h 256"/>
                <a:gd name="T34" fmla="*/ 12 w 258"/>
                <a:gd name="T35" fmla="*/ 256 h 256"/>
                <a:gd name="T36" fmla="*/ 20 w 258"/>
                <a:gd name="T37" fmla="*/ 253 h 256"/>
                <a:gd name="T38" fmla="*/ 81 w 258"/>
                <a:gd name="T39" fmla="*/ 192 h 256"/>
                <a:gd name="T40" fmla="*/ 125 w 258"/>
                <a:gd name="T41" fmla="*/ 207 h 256"/>
                <a:gd name="T42" fmla="*/ 178 w 258"/>
                <a:gd name="T43" fmla="*/ 185 h 256"/>
                <a:gd name="T44" fmla="*/ 216 w 258"/>
                <a:gd name="T45" fmla="*/ 147 h 256"/>
                <a:gd name="T46" fmla="*/ 216 w 258"/>
                <a:gd name="T47" fmla="*/ 147 h 256"/>
                <a:gd name="T48" fmla="*/ 223 w 258"/>
                <a:gd name="T49" fmla="*/ 150 h 256"/>
                <a:gd name="T50" fmla="*/ 231 w 258"/>
                <a:gd name="T51" fmla="*/ 147 h 256"/>
                <a:gd name="T52" fmla="*/ 231 w 258"/>
                <a:gd name="T53" fmla="*/ 132 h 256"/>
                <a:gd name="T54" fmla="*/ 223 w 258"/>
                <a:gd name="T55" fmla="*/ 125 h 256"/>
                <a:gd name="T56" fmla="*/ 208 w 258"/>
                <a:gd name="T57" fmla="*/ 109 h 256"/>
                <a:gd name="T58" fmla="*/ 253 w 258"/>
                <a:gd name="T59" fmla="*/ 64 h 256"/>
                <a:gd name="T60" fmla="*/ 253 w 258"/>
                <a:gd name="T61" fmla="*/ 49 h 256"/>
                <a:gd name="T62" fmla="*/ 163 w 258"/>
                <a:gd name="T63" fmla="*/ 170 h 256"/>
                <a:gd name="T64" fmla="*/ 125 w 258"/>
                <a:gd name="T65" fmla="*/ 185 h 256"/>
                <a:gd name="T66" fmla="*/ 87 w 258"/>
                <a:gd name="T67" fmla="*/ 170 h 256"/>
                <a:gd name="T68" fmla="*/ 72 w 258"/>
                <a:gd name="T69" fmla="*/ 132 h 256"/>
                <a:gd name="T70" fmla="*/ 87 w 258"/>
                <a:gd name="T71" fmla="*/ 94 h 256"/>
                <a:gd name="T72" fmla="*/ 125 w 258"/>
                <a:gd name="T73" fmla="*/ 57 h 256"/>
                <a:gd name="T74" fmla="*/ 201 w 258"/>
                <a:gd name="T75" fmla="*/ 132 h 256"/>
                <a:gd name="T76" fmla="*/ 163 w 258"/>
                <a:gd name="T77" fmla="*/ 17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8" h="256">
                  <a:moveTo>
                    <a:pt x="253" y="49"/>
                  </a:moveTo>
                  <a:cubicBezTo>
                    <a:pt x="249" y="45"/>
                    <a:pt x="243" y="45"/>
                    <a:pt x="238" y="49"/>
                  </a:cubicBezTo>
                  <a:cubicBezTo>
                    <a:pt x="193" y="94"/>
                    <a:pt x="193" y="94"/>
                    <a:pt x="193" y="94"/>
                  </a:cubicBezTo>
                  <a:cubicBezTo>
                    <a:pt x="163" y="64"/>
                    <a:pt x="163" y="64"/>
                    <a:pt x="163" y="64"/>
                  </a:cubicBezTo>
                  <a:cubicBezTo>
                    <a:pt x="208" y="19"/>
                    <a:pt x="208" y="19"/>
                    <a:pt x="208" y="19"/>
                  </a:cubicBezTo>
                  <a:cubicBezTo>
                    <a:pt x="212" y="15"/>
                    <a:pt x="212" y="8"/>
                    <a:pt x="208" y="4"/>
                  </a:cubicBezTo>
                  <a:cubicBezTo>
                    <a:pt x="204" y="0"/>
                    <a:pt x="197" y="0"/>
                    <a:pt x="193" y="4"/>
                  </a:cubicBezTo>
                  <a:cubicBezTo>
                    <a:pt x="148" y="49"/>
                    <a:pt x="148" y="49"/>
                    <a:pt x="148" y="49"/>
                  </a:cubicBezTo>
                  <a:cubicBezTo>
                    <a:pt x="133" y="34"/>
                    <a:pt x="133" y="34"/>
                    <a:pt x="133" y="34"/>
                  </a:cubicBezTo>
                  <a:cubicBezTo>
                    <a:pt x="125" y="27"/>
                    <a:pt x="125" y="27"/>
                    <a:pt x="125" y="27"/>
                  </a:cubicBezTo>
                  <a:cubicBezTo>
                    <a:pt x="121" y="22"/>
                    <a:pt x="114" y="22"/>
                    <a:pt x="110" y="27"/>
                  </a:cubicBezTo>
                  <a:cubicBezTo>
                    <a:pt x="106" y="31"/>
                    <a:pt x="106" y="37"/>
                    <a:pt x="110" y="42"/>
                  </a:cubicBezTo>
                  <a:cubicBezTo>
                    <a:pt x="72" y="79"/>
                    <a:pt x="72" y="79"/>
                    <a:pt x="72" y="79"/>
                  </a:cubicBezTo>
                  <a:cubicBezTo>
                    <a:pt x="58" y="93"/>
                    <a:pt x="51" y="112"/>
                    <a:pt x="51" y="132"/>
                  </a:cubicBezTo>
                  <a:cubicBezTo>
                    <a:pt x="51" y="148"/>
                    <a:pt x="56" y="164"/>
                    <a:pt x="65" y="177"/>
                  </a:cubicBezTo>
                  <a:cubicBezTo>
                    <a:pt x="5" y="238"/>
                    <a:pt x="5" y="238"/>
                    <a:pt x="5" y="238"/>
                  </a:cubicBezTo>
                  <a:cubicBezTo>
                    <a:pt x="0" y="242"/>
                    <a:pt x="0" y="249"/>
                    <a:pt x="5" y="253"/>
                  </a:cubicBezTo>
                  <a:cubicBezTo>
                    <a:pt x="7" y="255"/>
                    <a:pt x="9" y="256"/>
                    <a:pt x="12" y="256"/>
                  </a:cubicBezTo>
                  <a:cubicBezTo>
                    <a:pt x="15" y="256"/>
                    <a:pt x="18" y="255"/>
                    <a:pt x="20" y="253"/>
                  </a:cubicBezTo>
                  <a:cubicBezTo>
                    <a:pt x="81" y="192"/>
                    <a:pt x="81" y="192"/>
                    <a:pt x="81" y="192"/>
                  </a:cubicBezTo>
                  <a:cubicBezTo>
                    <a:pt x="93" y="202"/>
                    <a:pt x="109" y="207"/>
                    <a:pt x="125" y="207"/>
                  </a:cubicBezTo>
                  <a:cubicBezTo>
                    <a:pt x="145" y="207"/>
                    <a:pt x="164" y="199"/>
                    <a:pt x="178" y="185"/>
                  </a:cubicBezTo>
                  <a:cubicBezTo>
                    <a:pt x="216" y="147"/>
                    <a:pt x="216" y="147"/>
                    <a:pt x="216" y="147"/>
                  </a:cubicBezTo>
                  <a:cubicBezTo>
                    <a:pt x="216" y="147"/>
                    <a:pt x="216" y="147"/>
                    <a:pt x="216" y="147"/>
                  </a:cubicBezTo>
                  <a:cubicBezTo>
                    <a:pt x="218" y="149"/>
                    <a:pt x="221" y="150"/>
                    <a:pt x="223" y="150"/>
                  </a:cubicBezTo>
                  <a:cubicBezTo>
                    <a:pt x="226" y="150"/>
                    <a:pt x="229" y="149"/>
                    <a:pt x="231" y="147"/>
                  </a:cubicBezTo>
                  <a:cubicBezTo>
                    <a:pt x="235" y="143"/>
                    <a:pt x="235" y="136"/>
                    <a:pt x="231" y="132"/>
                  </a:cubicBezTo>
                  <a:cubicBezTo>
                    <a:pt x="223" y="125"/>
                    <a:pt x="223" y="125"/>
                    <a:pt x="223" y="125"/>
                  </a:cubicBezTo>
                  <a:cubicBezTo>
                    <a:pt x="208" y="109"/>
                    <a:pt x="208" y="109"/>
                    <a:pt x="208" y="109"/>
                  </a:cubicBezTo>
                  <a:cubicBezTo>
                    <a:pt x="253" y="64"/>
                    <a:pt x="253" y="64"/>
                    <a:pt x="253" y="64"/>
                  </a:cubicBezTo>
                  <a:cubicBezTo>
                    <a:pt x="258" y="60"/>
                    <a:pt x="258" y="53"/>
                    <a:pt x="253" y="49"/>
                  </a:cubicBezTo>
                  <a:close/>
                  <a:moveTo>
                    <a:pt x="163" y="170"/>
                  </a:moveTo>
                  <a:cubicBezTo>
                    <a:pt x="153" y="180"/>
                    <a:pt x="139" y="185"/>
                    <a:pt x="125" y="185"/>
                  </a:cubicBezTo>
                  <a:cubicBezTo>
                    <a:pt x="111" y="185"/>
                    <a:pt x="98" y="180"/>
                    <a:pt x="87" y="170"/>
                  </a:cubicBezTo>
                  <a:cubicBezTo>
                    <a:pt x="77" y="160"/>
                    <a:pt x="72" y="146"/>
                    <a:pt x="72" y="132"/>
                  </a:cubicBezTo>
                  <a:cubicBezTo>
                    <a:pt x="72" y="118"/>
                    <a:pt x="77" y="104"/>
                    <a:pt x="87" y="94"/>
                  </a:cubicBezTo>
                  <a:cubicBezTo>
                    <a:pt x="125" y="57"/>
                    <a:pt x="125" y="57"/>
                    <a:pt x="125" y="57"/>
                  </a:cubicBezTo>
                  <a:cubicBezTo>
                    <a:pt x="201" y="132"/>
                    <a:pt x="201" y="132"/>
                    <a:pt x="201" y="132"/>
                  </a:cubicBezTo>
                  <a:lnTo>
                    <a:pt x="163"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4" name="Freeform 456"/>
            <p:cNvSpPr>
              <a:spLocks noEditPoints="1"/>
            </p:cNvSpPr>
            <p:nvPr/>
          </p:nvSpPr>
          <p:spPr bwMode="auto">
            <a:xfrm>
              <a:off x="1912" y="157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5" name="Group 989"/>
          <p:cNvGrpSpPr>
            <a:grpSpLocks noChangeAspect="1"/>
          </p:cNvGrpSpPr>
          <p:nvPr/>
        </p:nvGrpSpPr>
        <p:grpSpPr bwMode="auto">
          <a:xfrm>
            <a:off x="475114" y="3520370"/>
            <a:ext cx="367631" cy="367631"/>
            <a:chOff x="2394" y="4156"/>
            <a:chExt cx="340" cy="340"/>
          </a:xfrm>
          <a:solidFill>
            <a:schemeClr val="accent1"/>
          </a:solidFill>
        </p:grpSpPr>
        <p:sp>
          <p:nvSpPr>
            <p:cNvPr id="36" name="Line 990"/>
            <p:cNvSpPr>
              <a:spLocks noChangeShapeType="1"/>
            </p:cNvSpPr>
            <p:nvPr/>
          </p:nvSpPr>
          <p:spPr bwMode="auto">
            <a:xfrm>
              <a:off x="2528" y="4418"/>
              <a:ext cx="0" cy="0"/>
            </a:xfrm>
            <a:prstGeom prst="line">
              <a:avLst/>
            </a:prstGeom>
            <a:grpFill/>
            <a:ln w="22225" cap="rnd">
              <a:solidFill>
                <a:srgbClr val="000000"/>
              </a:solidFill>
              <a:prstDash val="solid"/>
              <a:round/>
              <a:headEnd/>
              <a:tailEnd/>
            </a:ln>
            <a:extLst/>
          </p:spPr>
          <p:txBody>
            <a:bodyPr vert="horz" wrap="square" lIns="91440" tIns="45720" rIns="91440" bIns="45720" numCol="1" anchor="t" anchorCtr="0" compatLnSpc="1">
              <a:prstTxWarp prst="textNoShape">
                <a:avLst/>
              </a:prstTxWarp>
            </a:bodyPr>
            <a:lstStyle/>
            <a:p>
              <a:endParaRPr lang="en-GB" dirty="0"/>
            </a:p>
          </p:txBody>
        </p:sp>
        <p:sp>
          <p:nvSpPr>
            <p:cNvPr id="37" name="Freeform 991"/>
            <p:cNvSpPr>
              <a:spLocks noEditPoints="1"/>
            </p:cNvSpPr>
            <p:nvPr/>
          </p:nvSpPr>
          <p:spPr bwMode="auto">
            <a:xfrm>
              <a:off x="2394" y="415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8" name="Freeform 992"/>
            <p:cNvSpPr>
              <a:spLocks noEditPoints="1"/>
            </p:cNvSpPr>
            <p:nvPr/>
          </p:nvSpPr>
          <p:spPr bwMode="auto">
            <a:xfrm>
              <a:off x="2464" y="4220"/>
              <a:ext cx="186" cy="212"/>
            </a:xfrm>
            <a:custGeom>
              <a:avLst/>
              <a:gdLst>
                <a:gd name="T0" fmla="*/ 253 w 280"/>
                <a:gd name="T1" fmla="*/ 320 h 320"/>
                <a:gd name="T2" fmla="*/ 244 w 280"/>
                <a:gd name="T3" fmla="*/ 304 h 320"/>
                <a:gd name="T4" fmla="*/ 256 w 280"/>
                <a:gd name="T5" fmla="*/ 202 h 320"/>
                <a:gd name="T6" fmla="*/ 235 w 280"/>
                <a:gd name="T7" fmla="*/ 201 h 320"/>
                <a:gd name="T8" fmla="*/ 224 w 280"/>
                <a:gd name="T9" fmla="*/ 213 h 320"/>
                <a:gd name="T10" fmla="*/ 224 w 280"/>
                <a:gd name="T11" fmla="*/ 213 h 320"/>
                <a:gd name="T12" fmla="*/ 214 w 280"/>
                <a:gd name="T13" fmla="*/ 192 h 320"/>
                <a:gd name="T14" fmla="*/ 192 w 280"/>
                <a:gd name="T15" fmla="*/ 192 h 320"/>
                <a:gd name="T16" fmla="*/ 182 w 280"/>
                <a:gd name="T17" fmla="*/ 213 h 320"/>
                <a:gd name="T18" fmla="*/ 171 w 280"/>
                <a:gd name="T19" fmla="*/ 170 h 320"/>
                <a:gd name="T20" fmla="*/ 150 w 280"/>
                <a:gd name="T21" fmla="*/ 170 h 320"/>
                <a:gd name="T22" fmla="*/ 139 w 280"/>
                <a:gd name="T23" fmla="*/ 213 h 320"/>
                <a:gd name="T24" fmla="*/ 128 w 280"/>
                <a:gd name="T25" fmla="*/ 117 h 320"/>
                <a:gd name="T26" fmla="*/ 107 w 280"/>
                <a:gd name="T27" fmla="*/ 117 h 320"/>
                <a:gd name="T28" fmla="*/ 101 w 280"/>
                <a:gd name="T29" fmla="*/ 255 h 320"/>
                <a:gd name="T30" fmla="*/ 57 w 280"/>
                <a:gd name="T31" fmla="*/ 196 h 320"/>
                <a:gd name="T32" fmla="*/ 43 w 280"/>
                <a:gd name="T33" fmla="*/ 192 h 320"/>
                <a:gd name="T34" fmla="*/ 42 w 280"/>
                <a:gd name="T35" fmla="*/ 209 h 320"/>
                <a:gd name="T36" fmla="*/ 101 w 280"/>
                <a:gd name="T37" fmla="*/ 316 h 320"/>
                <a:gd name="T38" fmla="*/ 86 w 280"/>
                <a:gd name="T39" fmla="*/ 317 h 320"/>
                <a:gd name="T40" fmla="*/ 33 w 280"/>
                <a:gd name="T41" fmla="*/ 173 h 320"/>
                <a:gd name="T42" fmla="*/ 76 w 280"/>
                <a:gd name="T43" fmla="*/ 187 h 320"/>
                <a:gd name="T44" fmla="*/ 86 w 280"/>
                <a:gd name="T45" fmla="*/ 117 h 320"/>
                <a:gd name="T46" fmla="*/ 150 w 280"/>
                <a:gd name="T47" fmla="*/ 117 h 320"/>
                <a:gd name="T48" fmla="*/ 160 w 280"/>
                <a:gd name="T49" fmla="*/ 138 h 320"/>
                <a:gd name="T50" fmla="*/ 203 w 280"/>
                <a:gd name="T51" fmla="*/ 160 h 320"/>
                <a:gd name="T52" fmla="*/ 246 w 280"/>
                <a:gd name="T53" fmla="*/ 170 h 320"/>
                <a:gd name="T54" fmla="*/ 278 w 280"/>
                <a:gd name="T55" fmla="*/ 245 h 320"/>
                <a:gd name="T56" fmla="*/ 118 w 280"/>
                <a:gd name="T57" fmla="*/ 64 h 320"/>
                <a:gd name="T58" fmla="*/ 183 w 280"/>
                <a:gd name="T59" fmla="*/ 117 h 320"/>
                <a:gd name="T60" fmla="*/ 118 w 280"/>
                <a:gd name="T61" fmla="*/ 42 h 320"/>
                <a:gd name="T62" fmla="*/ 44 w 280"/>
                <a:gd name="T63" fmla="*/ 129 h 320"/>
                <a:gd name="T64" fmla="*/ 57 w 280"/>
                <a:gd name="T65" fmla="*/ 138 h 320"/>
                <a:gd name="T66" fmla="*/ 65 w 280"/>
                <a:gd name="T67" fmla="*/ 117 h 320"/>
                <a:gd name="T68" fmla="*/ 23 w 280"/>
                <a:gd name="T69" fmla="*/ 133 h 320"/>
                <a:gd name="T70" fmla="*/ 118 w 280"/>
                <a:gd name="T71" fmla="*/ 21 h 320"/>
                <a:gd name="T72" fmla="*/ 213 w 280"/>
                <a:gd name="T73" fmla="*/ 123 h 320"/>
                <a:gd name="T74" fmla="*/ 235 w 280"/>
                <a:gd name="T75" fmla="*/ 125 h 320"/>
                <a:gd name="T76" fmla="*/ 118 w 280"/>
                <a:gd name="T77" fmla="*/ 0 h 320"/>
                <a:gd name="T78" fmla="*/ 2 w 280"/>
                <a:gd name="T79" fmla="*/ 137 h 320"/>
                <a:gd name="T80" fmla="*/ 14 w 280"/>
                <a:gd name="T81" fmla="*/ 145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0" h="320">
                  <a:moveTo>
                    <a:pt x="262" y="314"/>
                  </a:moveTo>
                  <a:cubicBezTo>
                    <a:pt x="260" y="318"/>
                    <a:pt x="256" y="320"/>
                    <a:pt x="253" y="320"/>
                  </a:cubicBezTo>
                  <a:cubicBezTo>
                    <a:pt x="251" y="320"/>
                    <a:pt x="249" y="319"/>
                    <a:pt x="247" y="318"/>
                  </a:cubicBezTo>
                  <a:cubicBezTo>
                    <a:pt x="242" y="315"/>
                    <a:pt x="241" y="309"/>
                    <a:pt x="244" y="304"/>
                  </a:cubicBezTo>
                  <a:cubicBezTo>
                    <a:pt x="258" y="278"/>
                    <a:pt x="256" y="246"/>
                    <a:pt x="256" y="246"/>
                  </a:cubicBezTo>
                  <a:cubicBezTo>
                    <a:pt x="256" y="202"/>
                    <a:pt x="256" y="202"/>
                    <a:pt x="256" y="202"/>
                  </a:cubicBezTo>
                  <a:cubicBezTo>
                    <a:pt x="256" y="196"/>
                    <a:pt x="251" y="192"/>
                    <a:pt x="245" y="192"/>
                  </a:cubicBezTo>
                  <a:cubicBezTo>
                    <a:pt x="240" y="192"/>
                    <a:pt x="236" y="196"/>
                    <a:pt x="235" y="201"/>
                  </a:cubicBezTo>
                  <a:cubicBezTo>
                    <a:pt x="235" y="202"/>
                    <a:pt x="235" y="202"/>
                    <a:pt x="235" y="202"/>
                  </a:cubicBezTo>
                  <a:cubicBezTo>
                    <a:pt x="235" y="208"/>
                    <a:pt x="230" y="213"/>
                    <a:pt x="224" y="213"/>
                  </a:cubicBezTo>
                  <a:cubicBezTo>
                    <a:pt x="224" y="213"/>
                    <a:pt x="224" y="213"/>
                    <a:pt x="224" y="213"/>
                  </a:cubicBezTo>
                  <a:cubicBezTo>
                    <a:pt x="224" y="213"/>
                    <a:pt x="224" y="213"/>
                    <a:pt x="224" y="213"/>
                  </a:cubicBezTo>
                  <a:cubicBezTo>
                    <a:pt x="218" y="213"/>
                    <a:pt x="214" y="208"/>
                    <a:pt x="214" y="202"/>
                  </a:cubicBezTo>
                  <a:cubicBezTo>
                    <a:pt x="214" y="192"/>
                    <a:pt x="214" y="192"/>
                    <a:pt x="214" y="192"/>
                  </a:cubicBezTo>
                  <a:cubicBezTo>
                    <a:pt x="214" y="186"/>
                    <a:pt x="209" y="181"/>
                    <a:pt x="203" y="181"/>
                  </a:cubicBezTo>
                  <a:cubicBezTo>
                    <a:pt x="197" y="181"/>
                    <a:pt x="192" y="186"/>
                    <a:pt x="192" y="192"/>
                  </a:cubicBezTo>
                  <a:cubicBezTo>
                    <a:pt x="192" y="202"/>
                    <a:pt x="192" y="202"/>
                    <a:pt x="192" y="202"/>
                  </a:cubicBezTo>
                  <a:cubicBezTo>
                    <a:pt x="192" y="208"/>
                    <a:pt x="188" y="213"/>
                    <a:pt x="182" y="213"/>
                  </a:cubicBezTo>
                  <a:cubicBezTo>
                    <a:pt x="176" y="213"/>
                    <a:pt x="171" y="208"/>
                    <a:pt x="171" y="202"/>
                  </a:cubicBezTo>
                  <a:cubicBezTo>
                    <a:pt x="171" y="170"/>
                    <a:pt x="171" y="170"/>
                    <a:pt x="171" y="170"/>
                  </a:cubicBezTo>
                  <a:cubicBezTo>
                    <a:pt x="171" y="164"/>
                    <a:pt x="166" y="160"/>
                    <a:pt x="160" y="160"/>
                  </a:cubicBezTo>
                  <a:cubicBezTo>
                    <a:pt x="154" y="160"/>
                    <a:pt x="150" y="164"/>
                    <a:pt x="150" y="170"/>
                  </a:cubicBezTo>
                  <a:cubicBezTo>
                    <a:pt x="150" y="202"/>
                    <a:pt x="150" y="202"/>
                    <a:pt x="150" y="202"/>
                  </a:cubicBezTo>
                  <a:cubicBezTo>
                    <a:pt x="150" y="208"/>
                    <a:pt x="145" y="213"/>
                    <a:pt x="139" y="213"/>
                  </a:cubicBezTo>
                  <a:cubicBezTo>
                    <a:pt x="133" y="213"/>
                    <a:pt x="128" y="208"/>
                    <a:pt x="128" y="202"/>
                  </a:cubicBezTo>
                  <a:cubicBezTo>
                    <a:pt x="128" y="117"/>
                    <a:pt x="128" y="117"/>
                    <a:pt x="128" y="117"/>
                  </a:cubicBezTo>
                  <a:cubicBezTo>
                    <a:pt x="128" y="111"/>
                    <a:pt x="124" y="106"/>
                    <a:pt x="118" y="106"/>
                  </a:cubicBezTo>
                  <a:cubicBezTo>
                    <a:pt x="112" y="106"/>
                    <a:pt x="107" y="111"/>
                    <a:pt x="107" y="117"/>
                  </a:cubicBezTo>
                  <a:cubicBezTo>
                    <a:pt x="107" y="245"/>
                    <a:pt x="107" y="245"/>
                    <a:pt x="107" y="245"/>
                  </a:cubicBezTo>
                  <a:cubicBezTo>
                    <a:pt x="107" y="249"/>
                    <a:pt x="105" y="253"/>
                    <a:pt x="101" y="255"/>
                  </a:cubicBezTo>
                  <a:cubicBezTo>
                    <a:pt x="97" y="256"/>
                    <a:pt x="93" y="256"/>
                    <a:pt x="89" y="253"/>
                  </a:cubicBezTo>
                  <a:cubicBezTo>
                    <a:pt x="75" y="241"/>
                    <a:pt x="60" y="203"/>
                    <a:pt x="57" y="196"/>
                  </a:cubicBezTo>
                  <a:cubicBezTo>
                    <a:pt x="56" y="194"/>
                    <a:pt x="54" y="192"/>
                    <a:pt x="51" y="191"/>
                  </a:cubicBezTo>
                  <a:cubicBezTo>
                    <a:pt x="48" y="190"/>
                    <a:pt x="46" y="190"/>
                    <a:pt x="43" y="192"/>
                  </a:cubicBezTo>
                  <a:cubicBezTo>
                    <a:pt x="39" y="194"/>
                    <a:pt x="39" y="202"/>
                    <a:pt x="42" y="208"/>
                  </a:cubicBezTo>
                  <a:cubicBezTo>
                    <a:pt x="42" y="209"/>
                    <a:pt x="42" y="209"/>
                    <a:pt x="42" y="209"/>
                  </a:cubicBezTo>
                  <a:cubicBezTo>
                    <a:pt x="43" y="210"/>
                    <a:pt x="64" y="269"/>
                    <a:pt x="100" y="301"/>
                  </a:cubicBezTo>
                  <a:cubicBezTo>
                    <a:pt x="104" y="305"/>
                    <a:pt x="105" y="312"/>
                    <a:pt x="101" y="316"/>
                  </a:cubicBezTo>
                  <a:cubicBezTo>
                    <a:pt x="99" y="318"/>
                    <a:pt x="96" y="320"/>
                    <a:pt x="93" y="320"/>
                  </a:cubicBezTo>
                  <a:cubicBezTo>
                    <a:pt x="90" y="320"/>
                    <a:pt x="88" y="319"/>
                    <a:pt x="86" y="317"/>
                  </a:cubicBezTo>
                  <a:cubicBezTo>
                    <a:pt x="47" y="283"/>
                    <a:pt x="25" y="224"/>
                    <a:pt x="22" y="217"/>
                  </a:cubicBezTo>
                  <a:cubicBezTo>
                    <a:pt x="15" y="202"/>
                    <a:pt x="17" y="181"/>
                    <a:pt x="33" y="173"/>
                  </a:cubicBezTo>
                  <a:cubicBezTo>
                    <a:pt x="41" y="169"/>
                    <a:pt x="50" y="168"/>
                    <a:pt x="58" y="171"/>
                  </a:cubicBezTo>
                  <a:cubicBezTo>
                    <a:pt x="66" y="174"/>
                    <a:pt x="73" y="179"/>
                    <a:pt x="76" y="187"/>
                  </a:cubicBezTo>
                  <a:cubicBezTo>
                    <a:pt x="79" y="193"/>
                    <a:pt x="82" y="201"/>
                    <a:pt x="86" y="208"/>
                  </a:cubicBezTo>
                  <a:cubicBezTo>
                    <a:pt x="86" y="117"/>
                    <a:pt x="86" y="117"/>
                    <a:pt x="86" y="117"/>
                  </a:cubicBezTo>
                  <a:cubicBezTo>
                    <a:pt x="86" y="99"/>
                    <a:pt x="100" y="85"/>
                    <a:pt x="118" y="85"/>
                  </a:cubicBezTo>
                  <a:cubicBezTo>
                    <a:pt x="135" y="85"/>
                    <a:pt x="150" y="99"/>
                    <a:pt x="150" y="117"/>
                  </a:cubicBezTo>
                  <a:cubicBezTo>
                    <a:pt x="150" y="140"/>
                    <a:pt x="150" y="140"/>
                    <a:pt x="150" y="140"/>
                  </a:cubicBezTo>
                  <a:cubicBezTo>
                    <a:pt x="153" y="139"/>
                    <a:pt x="157" y="138"/>
                    <a:pt x="160" y="138"/>
                  </a:cubicBezTo>
                  <a:cubicBezTo>
                    <a:pt x="175" y="138"/>
                    <a:pt x="187" y="148"/>
                    <a:pt x="191" y="162"/>
                  </a:cubicBezTo>
                  <a:cubicBezTo>
                    <a:pt x="195" y="161"/>
                    <a:pt x="199" y="160"/>
                    <a:pt x="203" y="160"/>
                  </a:cubicBezTo>
                  <a:cubicBezTo>
                    <a:pt x="214" y="160"/>
                    <a:pt x="224" y="166"/>
                    <a:pt x="230" y="175"/>
                  </a:cubicBezTo>
                  <a:cubicBezTo>
                    <a:pt x="235" y="172"/>
                    <a:pt x="240" y="170"/>
                    <a:pt x="246" y="170"/>
                  </a:cubicBezTo>
                  <a:cubicBezTo>
                    <a:pt x="263" y="170"/>
                    <a:pt x="278" y="185"/>
                    <a:pt x="278" y="202"/>
                  </a:cubicBezTo>
                  <a:cubicBezTo>
                    <a:pt x="278" y="245"/>
                    <a:pt x="278" y="245"/>
                    <a:pt x="278" y="245"/>
                  </a:cubicBezTo>
                  <a:cubicBezTo>
                    <a:pt x="278" y="246"/>
                    <a:pt x="280" y="283"/>
                    <a:pt x="262" y="314"/>
                  </a:cubicBezTo>
                  <a:close/>
                  <a:moveTo>
                    <a:pt x="118" y="64"/>
                  </a:moveTo>
                  <a:cubicBezTo>
                    <a:pt x="144" y="64"/>
                    <a:pt x="166" y="82"/>
                    <a:pt x="171" y="108"/>
                  </a:cubicBezTo>
                  <a:cubicBezTo>
                    <a:pt x="172" y="114"/>
                    <a:pt x="177" y="118"/>
                    <a:pt x="183" y="117"/>
                  </a:cubicBezTo>
                  <a:cubicBezTo>
                    <a:pt x="189" y="116"/>
                    <a:pt x="193" y="110"/>
                    <a:pt x="192" y="105"/>
                  </a:cubicBezTo>
                  <a:cubicBezTo>
                    <a:pt x="186" y="68"/>
                    <a:pt x="155" y="42"/>
                    <a:pt x="118" y="42"/>
                  </a:cubicBezTo>
                  <a:cubicBezTo>
                    <a:pt x="77" y="42"/>
                    <a:pt x="43" y="76"/>
                    <a:pt x="43" y="117"/>
                  </a:cubicBezTo>
                  <a:cubicBezTo>
                    <a:pt x="43" y="121"/>
                    <a:pt x="44" y="125"/>
                    <a:pt x="44" y="129"/>
                  </a:cubicBezTo>
                  <a:cubicBezTo>
                    <a:pt x="45" y="135"/>
                    <a:pt x="50" y="138"/>
                    <a:pt x="55" y="138"/>
                  </a:cubicBezTo>
                  <a:cubicBezTo>
                    <a:pt x="56" y="138"/>
                    <a:pt x="56" y="138"/>
                    <a:pt x="57" y="138"/>
                  </a:cubicBezTo>
                  <a:cubicBezTo>
                    <a:pt x="63" y="137"/>
                    <a:pt x="67" y="132"/>
                    <a:pt x="66" y="126"/>
                  </a:cubicBezTo>
                  <a:cubicBezTo>
                    <a:pt x="65" y="123"/>
                    <a:pt x="65" y="120"/>
                    <a:pt x="65" y="117"/>
                  </a:cubicBezTo>
                  <a:cubicBezTo>
                    <a:pt x="65" y="88"/>
                    <a:pt x="89" y="64"/>
                    <a:pt x="118" y="64"/>
                  </a:cubicBezTo>
                  <a:close/>
                  <a:moveTo>
                    <a:pt x="23" y="133"/>
                  </a:moveTo>
                  <a:cubicBezTo>
                    <a:pt x="22" y="128"/>
                    <a:pt x="22" y="122"/>
                    <a:pt x="22" y="117"/>
                  </a:cubicBezTo>
                  <a:cubicBezTo>
                    <a:pt x="22" y="64"/>
                    <a:pt x="65" y="21"/>
                    <a:pt x="118" y="21"/>
                  </a:cubicBezTo>
                  <a:cubicBezTo>
                    <a:pt x="171" y="21"/>
                    <a:pt x="214" y="64"/>
                    <a:pt x="214" y="117"/>
                  </a:cubicBezTo>
                  <a:cubicBezTo>
                    <a:pt x="214" y="119"/>
                    <a:pt x="214" y="121"/>
                    <a:pt x="213" y="123"/>
                  </a:cubicBezTo>
                  <a:cubicBezTo>
                    <a:pt x="213" y="129"/>
                    <a:pt x="218" y="134"/>
                    <a:pt x="223" y="135"/>
                  </a:cubicBezTo>
                  <a:cubicBezTo>
                    <a:pt x="229" y="135"/>
                    <a:pt x="234" y="131"/>
                    <a:pt x="235" y="125"/>
                  </a:cubicBezTo>
                  <a:cubicBezTo>
                    <a:pt x="235" y="122"/>
                    <a:pt x="235" y="120"/>
                    <a:pt x="235" y="117"/>
                  </a:cubicBezTo>
                  <a:cubicBezTo>
                    <a:pt x="235" y="52"/>
                    <a:pt x="182" y="0"/>
                    <a:pt x="118" y="0"/>
                  </a:cubicBezTo>
                  <a:cubicBezTo>
                    <a:pt x="53" y="0"/>
                    <a:pt x="0" y="52"/>
                    <a:pt x="0" y="117"/>
                  </a:cubicBezTo>
                  <a:cubicBezTo>
                    <a:pt x="0" y="124"/>
                    <a:pt x="1" y="130"/>
                    <a:pt x="2" y="137"/>
                  </a:cubicBezTo>
                  <a:cubicBezTo>
                    <a:pt x="3" y="142"/>
                    <a:pt x="7" y="145"/>
                    <a:pt x="12" y="145"/>
                  </a:cubicBezTo>
                  <a:cubicBezTo>
                    <a:pt x="13" y="145"/>
                    <a:pt x="14" y="145"/>
                    <a:pt x="14" y="145"/>
                  </a:cubicBezTo>
                  <a:cubicBezTo>
                    <a:pt x="20" y="144"/>
                    <a:pt x="24" y="139"/>
                    <a:pt x="23" y="13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9" name="Group 285"/>
          <p:cNvGrpSpPr>
            <a:grpSpLocks noChangeAspect="1"/>
          </p:cNvGrpSpPr>
          <p:nvPr/>
        </p:nvGrpSpPr>
        <p:grpSpPr bwMode="auto">
          <a:xfrm>
            <a:off x="8442288" y="3520370"/>
            <a:ext cx="370763" cy="369676"/>
            <a:chOff x="388" y="758"/>
            <a:chExt cx="341" cy="340"/>
          </a:xfrm>
          <a:solidFill>
            <a:schemeClr val="accent1"/>
          </a:solidFill>
        </p:grpSpPr>
        <p:sp>
          <p:nvSpPr>
            <p:cNvPr id="40" name="Freeform 286"/>
            <p:cNvSpPr>
              <a:spLocks noEditPoints="1"/>
            </p:cNvSpPr>
            <p:nvPr/>
          </p:nvSpPr>
          <p:spPr bwMode="auto">
            <a:xfrm>
              <a:off x="462" y="834"/>
              <a:ext cx="192" cy="192"/>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1" name="Freeform 287"/>
            <p:cNvSpPr>
              <a:spLocks noEditPoints="1"/>
            </p:cNvSpPr>
            <p:nvPr/>
          </p:nvSpPr>
          <p:spPr bwMode="auto">
            <a:xfrm>
              <a:off x="388" y="75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42" name="Group 489"/>
          <p:cNvGrpSpPr>
            <a:grpSpLocks noChangeAspect="1"/>
          </p:cNvGrpSpPr>
          <p:nvPr/>
        </p:nvGrpSpPr>
        <p:grpSpPr bwMode="auto">
          <a:xfrm>
            <a:off x="8442288" y="1964674"/>
            <a:ext cx="367041" cy="367041"/>
            <a:chOff x="2920" y="2264"/>
            <a:chExt cx="340" cy="340"/>
          </a:xfrm>
          <a:solidFill>
            <a:schemeClr val="accent1"/>
          </a:solidFill>
        </p:grpSpPr>
        <p:sp>
          <p:nvSpPr>
            <p:cNvPr id="43" name="Freeform 490"/>
            <p:cNvSpPr>
              <a:spLocks noEditPoints="1"/>
            </p:cNvSpPr>
            <p:nvPr/>
          </p:nvSpPr>
          <p:spPr bwMode="auto">
            <a:xfrm>
              <a:off x="2998" y="2363"/>
              <a:ext cx="184" cy="113"/>
            </a:xfrm>
            <a:custGeom>
              <a:avLst/>
              <a:gdLst>
                <a:gd name="T0" fmla="*/ 11 w 277"/>
                <a:gd name="T1" fmla="*/ 171 h 171"/>
                <a:gd name="T2" fmla="*/ 267 w 277"/>
                <a:gd name="T3" fmla="*/ 171 h 171"/>
                <a:gd name="T4" fmla="*/ 277 w 277"/>
                <a:gd name="T5" fmla="*/ 160 h 171"/>
                <a:gd name="T6" fmla="*/ 277 w 277"/>
                <a:gd name="T7" fmla="*/ 11 h 171"/>
                <a:gd name="T8" fmla="*/ 267 w 277"/>
                <a:gd name="T9" fmla="*/ 0 h 171"/>
                <a:gd name="T10" fmla="*/ 11 w 277"/>
                <a:gd name="T11" fmla="*/ 0 h 171"/>
                <a:gd name="T12" fmla="*/ 0 w 277"/>
                <a:gd name="T13" fmla="*/ 11 h 171"/>
                <a:gd name="T14" fmla="*/ 0 w 277"/>
                <a:gd name="T15" fmla="*/ 160 h 171"/>
                <a:gd name="T16" fmla="*/ 11 w 277"/>
                <a:gd name="T17" fmla="*/ 171 h 171"/>
                <a:gd name="T18" fmla="*/ 21 w 277"/>
                <a:gd name="T19" fmla="*/ 21 h 171"/>
                <a:gd name="T20" fmla="*/ 256 w 277"/>
                <a:gd name="T21" fmla="*/ 21 h 171"/>
                <a:gd name="T22" fmla="*/ 256 w 277"/>
                <a:gd name="T23" fmla="*/ 149 h 171"/>
                <a:gd name="T24" fmla="*/ 21 w 277"/>
                <a:gd name="T25" fmla="*/ 149 h 171"/>
                <a:gd name="T26" fmla="*/ 21 w 277"/>
                <a:gd name="T2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7" h="171">
                  <a:moveTo>
                    <a:pt x="11" y="171"/>
                  </a:moveTo>
                  <a:cubicBezTo>
                    <a:pt x="267" y="171"/>
                    <a:pt x="267" y="171"/>
                    <a:pt x="267" y="171"/>
                  </a:cubicBezTo>
                  <a:cubicBezTo>
                    <a:pt x="273" y="171"/>
                    <a:pt x="277" y="166"/>
                    <a:pt x="277" y="160"/>
                  </a:cubicBezTo>
                  <a:cubicBezTo>
                    <a:pt x="277" y="11"/>
                    <a:pt x="277" y="11"/>
                    <a:pt x="277" y="11"/>
                  </a:cubicBezTo>
                  <a:cubicBezTo>
                    <a:pt x="277" y="5"/>
                    <a:pt x="273" y="0"/>
                    <a:pt x="267" y="0"/>
                  </a:cubicBezTo>
                  <a:cubicBezTo>
                    <a:pt x="11" y="0"/>
                    <a:pt x="11" y="0"/>
                    <a:pt x="11" y="0"/>
                  </a:cubicBezTo>
                  <a:cubicBezTo>
                    <a:pt x="5" y="0"/>
                    <a:pt x="0" y="5"/>
                    <a:pt x="0" y="11"/>
                  </a:cubicBezTo>
                  <a:cubicBezTo>
                    <a:pt x="0" y="160"/>
                    <a:pt x="0" y="160"/>
                    <a:pt x="0" y="160"/>
                  </a:cubicBezTo>
                  <a:cubicBezTo>
                    <a:pt x="0" y="166"/>
                    <a:pt x="5" y="171"/>
                    <a:pt x="11" y="171"/>
                  </a:cubicBezTo>
                  <a:close/>
                  <a:moveTo>
                    <a:pt x="21" y="21"/>
                  </a:moveTo>
                  <a:cubicBezTo>
                    <a:pt x="256" y="21"/>
                    <a:pt x="256" y="21"/>
                    <a:pt x="256" y="21"/>
                  </a:cubicBezTo>
                  <a:cubicBezTo>
                    <a:pt x="256" y="149"/>
                    <a:pt x="256" y="149"/>
                    <a:pt x="256" y="149"/>
                  </a:cubicBezTo>
                  <a:cubicBezTo>
                    <a:pt x="21" y="149"/>
                    <a:pt x="21" y="149"/>
                    <a:pt x="21" y="149"/>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4" name="Freeform 491"/>
            <p:cNvSpPr>
              <a:spLocks/>
            </p:cNvSpPr>
            <p:nvPr/>
          </p:nvSpPr>
          <p:spPr bwMode="auto">
            <a:xfrm>
              <a:off x="2984" y="2490"/>
              <a:ext cx="212" cy="14"/>
            </a:xfrm>
            <a:custGeom>
              <a:avLst/>
              <a:gdLst>
                <a:gd name="T0" fmla="*/ 309 w 320"/>
                <a:gd name="T1" fmla="*/ 0 h 21"/>
                <a:gd name="T2" fmla="*/ 10 w 320"/>
                <a:gd name="T3" fmla="*/ 0 h 21"/>
                <a:gd name="T4" fmla="*/ 0 w 320"/>
                <a:gd name="T5" fmla="*/ 11 h 21"/>
                <a:gd name="T6" fmla="*/ 10 w 320"/>
                <a:gd name="T7" fmla="*/ 21 h 21"/>
                <a:gd name="T8" fmla="*/ 309 w 320"/>
                <a:gd name="T9" fmla="*/ 21 h 21"/>
                <a:gd name="T10" fmla="*/ 320 w 320"/>
                <a:gd name="T11" fmla="*/ 11 h 21"/>
                <a:gd name="T12" fmla="*/ 309 w 320"/>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20" h="21">
                  <a:moveTo>
                    <a:pt x="309" y="0"/>
                  </a:moveTo>
                  <a:cubicBezTo>
                    <a:pt x="10" y="0"/>
                    <a:pt x="10" y="0"/>
                    <a:pt x="10" y="0"/>
                  </a:cubicBezTo>
                  <a:cubicBezTo>
                    <a:pt x="4" y="0"/>
                    <a:pt x="0" y="5"/>
                    <a:pt x="0" y="11"/>
                  </a:cubicBezTo>
                  <a:cubicBezTo>
                    <a:pt x="0" y="17"/>
                    <a:pt x="4" y="21"/>
                    <a:pt x="10" y="21"/>
                  </a:cubicBezTo>
                  <a:cubicBezTo>
                    <a:pt x="309" y="21"/>
                    <a:pt x="309" y="21"/>
                    <a:pt x="309" y="21"/>
                  </a:cubicBezTo>
                  <a:cubicBezTo>
                    <a:pt x="315" y="21"/>
                    <a:pt x="320" y="17"/>
                    <a:pt x="320" y="11"/>
                  </a:cubicBezTo>
                  <a:cubicBezTo>
                    <a:pt x="320" y="5"/>
                    <a:pt x="315" y="0"/>
                    <a:pt x="30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5" name="Freeform 492"/>
            <p:cNvSpPr>
              <a:spLocks noEditPoints="1"/>
            </p:cNvSpPr>
            <p:nvPr/>
          </p:nvSpPr>
          <p:spPr bwMode="auto">
            <a:xfrm>
              <a:off x="2920" y="22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46" name="Group 592"/>
          <p:cNvGrpSpPr>
            <a:grpSpLocks noChangeAspect="1"/>
          </p:cNvGrpSpPr>
          <p:nvPr/>
        </p:nvGrpSpPr>
        <p:grpSpPr bwMode="auto">
          <a:xfrm>
            <a:off x="471982" y="1964674"/>
            <a:ext cx="370763" cy="369676"/>
            <a:chOff x="373" y="1933"/>
            <a:chExt cx="341" cy="340"/>
          </a:xfrm>
          <a:solidFill>
            <a:schemeClr val="accent1"/>
          </a:solidFill>
        </p:grpSpPr>
        <p:sp>
          <p:nvSpPr>
            <p:cNvPr id="47" name="Freeform 46"/>
            <p:cNvSpPr>
              <a:spLocks/>
            </p:cNvSpPr>
            <p:nvPr/>
          </p:nvSpPr>
          <p:spPr bwMode="auto">
            <a:xfrm>
              <a:off x="436" y="2031"/>
              <a:ext cx="207" cy="157"/>
            </a:xfrm>
            <a:custGeom>
              <a:avLst/>
              <a:gdLst>
                <a:gd name="T0" fmla="*/ 307 w 311"/>
                <a:gd name="T1" fmla="*/ 4 h 236"/>
                <a:gd name="T2" fmla="*/ 292 w 311"/>
                <a:gd name="T3" fmla="*/ 4 h 236"/>
                <a:gd name="T4" fmla="*/ 86 w 311"/>
                <a:gd name="T5" fmla="*/ 210 h 236"/>
                <a:gd name="T6" fmla="*/ 19 w 311"/>
                <a:gd name="T7" fmla="*/ 143 h 236"/>
                <a:gd name="T8" fmla="*/ 4 w 311"/>
                <a:gd name="T9" fmla="*/ 143 h 236"/>
                <a:gd name="T10" fmla="*/ 4 w 311"/>
                <a:gd name="T11" fmla="*/ 158 h 236"/>
                <a:gd name="T12" fmla="*/ 78 w 311"/>
                <a:gd name="T13" fmla="*/ 233 h 236"/>
                <a:gd name="T14" fmla="*/ 86 w 311"/>
                <a:gd name="T15" fmla="*/ 236 h 236"/>
                <a:gd name="T16" fmla="*/ 94 w 311"/>
                <a:gd name="T17" fmla="*/ 233 h 236"/>
                <a:gd name="T18" fmla="*/ 307 w 311"/>
                <a:gd name="T19" fmla="*/ 19 h 236"/>
                <a:gd name="T20" fmla="*/ 307 w 311"/>
                <a:gd name="T21" fmla="*/ 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1" h="236">
                  <a:moveTo>
                    <a:pt x="307" y="4"/>
                  </a:moveTo>
                  <a:cubicBezTo>
                    <a:pt x="303" y="0"/>
                    <a:pt x="296" y="0"/>
                    <a:pt x="292" y="4"/>
                  </a:cubicBezTo>
                  <a:cubicBezTo>
                    <a:pt x="86" y="210"/>
                    <a:pt x="86" y="210"/>
                    <a:pt x="86" y="210"/>
                  </a:cubicBezTo>
                  <a:cubicBezTo>
                    <a:pt x="19" y="143"/>
                    <a:pt x="19" y="143"/>
                    <a:pt x="19" y="143"/>
                  </a:cubicBezTo>
                  <a:cubicBezTo>
                    <a:pt x="15" y="139"/>
                    <a:pt x="8" y="139"/>
                    <a:pt x="4" y="143"/>
                  </a:cubicBezTo>
                  <a:cubicBezTo>
                    <a:pt x="0" y="147"/>
                    <a:pt x="0" y="154"/>
                    <a:pt x="4" y="158"/>
                  </a:cubicBezTo>
                  <a:cubicBezTo>
                    <a:pt x="78" y="233"/>
                    <a:pt x="78" y="233"/>
                    <a:pt x="78" y="233"/>
                  </a:cubicBezTo>
                  <a:cubicBezTo>
                    <a:pt x="81" y="235"/>
                    <a:pt x="83" y="236"/>
                    <a:pt x="86" y="236"/>
                  </a:cubicBezTo>
                  <a:cubicBezTo>
                    <a:pt x="89" y="236"/>
                    <a:pt x="91" y="235"/>
                    <a:pt x="94" y="233"/>
                  </a:cubicBezTo>
                  <a:cubicBezTo>
                    <a:pt x="307" y="19"/>
                    <a:pt x="307" y="19"/>
                    <a:pt x="307" y="19"/>
                  </a:cubicBezTo>
                  <a:cubicBezTo>
                    <a:pt x="311" y="15"/>
                    <a:pt x="311" y="8"/>
                    <a:pt x="30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8" name="Freeform 47"/>
            <p:cNvSpPr>
              <a:spLocks noEditPoints="1"/>
            </p:cNvSpPr>
            <p:nvPr/>
          </p:nvSpPr>
          <p:spPr bwMode="auto">
            <a:xfrm>
              <a:off x="373" y="193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pic>
        <p:nvPicPr>
          <p:cNvPr id="49" name="Picture 48"/>
          <p:cNvPicPr>
            <a:picLocks noChangeAspect="1"/>
          </p:cNvPicPr>
          <p:nvPr/>
        </p:nvPicPr>
        <p:blipFill>
          <a:blip r:embed="rId4"/>
          <a:stretch>
            <a:fillRect/>
          </a:stretch>
        </p:blipFill>
        <p:spPr>
          <a:xfrm>
            <a:off x="4588789" y="3171781"/>
            <a:ext cx="3028962" cy="1647244"/>
          </a:xfrm>
          <a:prstGeom prst="rect">
            <a:avLst/>
          </a:prstGeom>
        </p:spPr>
      </p:pic>
      <p:sp>
        <p:nvSpPr>
          <p:cNvPr id="50" name="Title 4"/>
          <p:cNvSpPr txBox="1">
            <a:spLocks/>
          </p:cNvSpPr>
          <p:nvPr/>
        </p:nvSpPr>
        <p:spPr bwMode="gray">
          <a:xfrm>
            <a:off x="466850" y="2438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endParaRPr lang="en-US" b="1" dirty="0">
              <a:solidFill>
                <a:schemeClr val="accent1"/>
              </a:solidFill>
            </a:endParaRPr>
          </a:p>
        </p:txBody>
      </p:sp>
      <p:sp>
        <p:nvSpPr>
          <p:cNvPr id="53" name="Text Placeholder 5"/>
          <p:cNvSpPr>
            <a:spLocks noGrp="1"/>
          </p:cNvSpPr>
          <p:nvPr>
            <p:ph type="body" sz="quarter" idx="13"/>
          </p:nvPr>
        </p:nvSpPr>
        <p:spPr/>
        <p:txBody>
          <a:bodyPr/>
          <a:lstStyle/>
          <a:p>
            <a:r>
              <a:rPr lang="en-US" dirty="0"/>
              <a:t>The Deloitte RPA solution provides a significant opportunity for reduction in the testing efforts required for functional and regression testing during the frequent patching and application upgrades.</a:t>
            </a:r>
          </a:p>
          <a:p>
            <a:endParaRPr lang="en-US" dirty="0"/>
          </a:p>
        </p:txBody>
      </p:sp>
      <p:sp>
        <p:nvSpPr>
          <p:cNvPr id="3" name="Title 2"/>
          <p:cNvSpPr>
            <a:spLocks noGrp="1"/>
          </p:cNvSpPr>
          <p:nvPr>
            <p:ph type="title"/>
          </p:nvPr>
        </p:nvSpPr>
        <p:spPr/>
        <p:txBody>
          <a:bodyPr/>
          <a:lstStyle/>
          <a:p>
            <a:r>
              <a:rPr lang="en-US" dirty="0"/>
              <a:t>Deloitte RPA Solution for Cloud ERP Functional Test Automation</a:t>
            </a:r>
            <a:br>
              <a:rPr lang="en-US" dirty="0"/>
            </a:br>
            <a:endParaRPr lang="en-US" dirty="0"/>
          </a:p>
        </p:txBody>
      </p:sp>
    </p:spTree>
    <p:extLst>
      <p:ext uri="{BB962C8B-B14F-4D97-AF65-F5344CB8AC3E}">
        <p14:creationId xmlns:p14="http://schemas.microsoft.com/office/powerpoint/2010/main" val="46881010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
          <p:cNvSpPr txBox="1">
            <a:spLocks/>
          </p:cNvSpPr>
          <p:nvPr/>
        </p:nvSpPr>
        <p:spPr bwMode="gray">
          <a:xfrm>
            <a:off x="466850" y="2438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endParaRPr lang="en-US" sz="800" dirty="0">
              <a:solidFill>
                <a:srgbClr val="FF0000"/>
              </a:solidFill>
            </a:endParaRPr>
          </a:p>
        </p:txBody>
      </p:sp>
      <p:grpSp>
        <p:nvGrpSpPr>
          <p:cNvPr id="2" name="Group 1"/>
          <p:cNvGrpSpPr/>
          <p:nvPr/>
        </p:nvGrpSpPr>
        <p:grpSpPr>
          <a:xfrm>
            <a:off x="469900" y="1029741"/>
            <a:ext cx="11249150" cy="5297714"/>
            <a:chOff x="469900" y="1029741"/>
            <a:chExt cx="11249150" cy="5297714"/>
          </a:xfrm>
        </p:grpSpPr>
        <p:grpSp>
          <p:nvGrpSpPr>
            <p:cNvPr id="3" name="Group 2"/>
            <p:cNvGrpSpPr/>
            <p:nvPr/>
          </p:nvGrpSpPr>
          <p:grpSpPr>
            <a:xfrm>
              <a:off x="469900" y="1029741"/>
              <a:ext cx="4251695" cy="5297714"/>
              <a:chOff x="464811" y="1288867"/>
              <a:chExt cx="4179413" cy="4518929"/>
            </a:xfrm>
          </p:grpSpPr>
          <p:cxnSp>
            <p:nvCxnSpPr>
              <p:cNvPr id="117" name="AutoShape 8"/>
              <p:cNvCxnSpPr>
                <a:cxnSpLocks noChangeShapeType="1"/>
                <a:stCxn id="122" idx="1"/>
                <a:endCxn id="121" idx="3"/>
              </p:cNvCxnSpPr>
              <p:nvPr/>
            </p:nvCxnSpPr>
            <p:spPr bwMode="auto">
              <a:xfrm rot="10800000" flipV="1">
                <a:off x="1933394" y="1654627"/>
                <a:ext cx="797743" cy="1898127"/>
              </a:xfrm>
              <a:prstGeom prst="bentConnector3">
                <a:avLst>
                  <a:gd name="adj1" fmla="val 50000"/>
                </a:avLst>
              </a:prstGeom>
              <a:noFill/>
              <a:ln w="6350">
                <a:solidFill>
                  <a:srgbClr val="BBBCBC"/>
                </a:solidFill>
                <a:miter lim="800000"/>
                <a:headEnd type="none" w="sm" len="sm"/>
                <a:tailEnd type="none" w="med" len="lg"/>
              </a:ln>
            </p:spPr>
          </p:cxnSp>
          <p:cxnSp>
            <p:nvCxnSpPr>
              <p:cNvPr id="118" name="AutoShape 9"/>
              <p:cNvCxnSpPr>
                <a:cxnSpLocks noChangeShapeType="1"/>
                <a:stCxn id="121" idx="3"/>
                <a:endCxn id="123" idx="1"/>
              </p:cNvCxnSpPr>
              <p:nvPr/>
            </p:nvCxnSpPr>
            <p:spPr bwMode="auto">
              <a:xfrm flipV="1">
                <a:off x="1933394" y="2602047"/>
                <a:ext cx="797743" cy="950708"/>
              </a:xfrm>
              <a:prstGeom prst="bentConnector3">
                <a:avLst>
                  <a:gd name="adj1" fmla="val 50000"/>
                </a:avLst>
              </a:prstGeom>
              <a:noFill/>
              <a:ln w="6350">
                <a:solidFill>
                  <a:srgbClr val="BBBCBC"/>
                </a:solidFill>
                <a:miter lim="800000"/>
                <a:headEnd type="none" w="sm" len="sm"/>
                <a:tailEnd type="none" w="med" len="lg"/>
              </a:ln>
            </p:spPr>
          </p:cxnSp>
          <p:cxnSp>
            <p:nvCxnSpPr>
              <p:cNvPr id="119" name="AutoShape 10"/>
              <p:cNvCxnSpPr>
                <a:cxnSpLocks noChangeShapeType="1"/>
                <a:stCxn id="121" idx="3"/>
                <a:endCxn id="124" idx="1"/>
              </p:cNvCxnSpPr>
              <p:nvPr/>
            </p:nvCxnSpPr>
            <p:spPr bwMode="auto">
              <a:xfrm flipV="1">
                <a:off x="1933394" y="3549465"/>
                <a:ext cx="797743" cy="3289"/>
              </a:xfrm>
              <a:prstGeom prst="bentConnector3">
                <a:avLst>
                  <a:gd name="adj1" fmla="val 50000"/>
                </a:avLst>
              </a:prstGeom>
              <a:noFill/>
              <a:ln w="6350">
                <a:solidFill>
                  <a:srgbClr val="BBBCBC"/>
                </a:solidFill>
                <a:miter lim="800000"/>
                <a:headEnd type="none" w="sm" len="sm"/>
                <a:tailEnd type="none" w="med" len="lg"/>
              </a:ln>
            </p:spPr>
          </p:cxnSp>
          <p:cxnSp>
            <p:nvCxnSpPr>
              <p:cNvPr id="120" name="AutoShape 11"/>
              <p:cNvCxnSpPr>
                <a:cxnSpLocks noChangeShapeType="1"/>
                <a:stCxn id="121" idx="3"/>
                <a:endCxn id="125" idx="1"/>
              </p:cNvCxnSpPr>
              <p:nvPr/>
            </p:nvCxnSpPr>
            <p:spPr bwMode="auto">
              <a:xfrm>
                <a:off x="1933394" y="3552754"/>
                <a:ext cx="797743" cy="944130"/>
              </a:xfrm>
              <a:prstGeom prst="bentConnector3">
                <a:avLst>
                  <a:gd name="adj1" fmla="val 50000"/>
                </a:avLst>
              </a:prstGeom>
              <a:noFill/>
              <a:ln w="6350">
                <a:solidFill>
                  <a:srgbClr val="BBBCBC"/>
                </a:solidFill>
                <a:miter lim="800000"/>
                <a:headEnd type="none" w="sm" len="sm"/>
                <a:tailEnd type="none" w="med" len="lg"/>
              </a:ln>
            </p:spPr>
          </p:cxnSp>
          <p:sp>
            <p:nvSpPr>
              <p:cNvPr id="121" name="Rectangle 120"/>
              <p:cNvSpPr>
                <a:spLocks noChangeArrowheads="1"/>
              </p:cNvSpPr>
              <p:nvPr/>
            </p:nvSpPr>
            <p:spPr bwMode="auto">
              <a:xfrm>
                <a:off x="464811" y="3186994"/>
                <a:ext cx="1468583" cy="731520"/>
              </a:xfrm>
              <a:prstGeom prst="rect">
                <a:avLst/>
              </a:prstGeom>
              <a:noFill/>
              <a:ln w="12700" algn="ctr">
                <a:noFill/>
                <a:miter lim="800000"/>
                <a:headEnd type="none" w="sm" len="sm"/>
                <a:tailEnd type="none" w="med" len="lg"/>
              </a:ln>
            </p:spPr>
            <p:txBody>
              <a:bodyPr lIns="88900" tIns="88900" rIns="88900" bIns="88900" anchor="ctr"/>
              <a:lstStyle/>
              <a:p>
                <a:pPr algn="ctr">
                  <a:defRPr/>
                </a:pPr>
                <a:r>
                  <a:rPr lang="en-US" altLang="ja-JP" sz="1200" b="1" dirty="0">
                    <a:ea typeface="ＭＳ Ｐゴシック" pitchFamily="50" charset="-128"/>
                  </a:rPr>
                  <a:t>Business Process Areas covered within Testing Automation</a:t>
                </a:r>
              </a:p>
            </p:txBody>
          </p:sp>
          <p:sp>
            <p:nvSpPr>
              <p:cNvPr id="122" name="Rectangle 121"/>
              <p:cNvSpPr>
                <a:spLocks noChangeArrowheads="1"/>
              </p:cNvSpPr>
              <p:nvPr/>
            </p:nvSpPr>
            <p:spPr bwMode="auto">
              <a:xfrm>
                <a:off x="2731137" y="1288867"/>
                <a:ext cx="1913087" cy="731520"/>
              </a:xfrm>
              <a:prstGeom prst="rect">
                <a:avLst/>
              </a:prstGeom>
              <a:solidFill>
                <a:srgbClr val="86BC25"/>
              </a:solidFill>
              <a:ln w="12700" algn="ctr">
                <a:noFill/>
                <a:miter lim="800000"/>
                <a:headEnd type="none" w="sm" len="sm"/>
                <a:tailEnd type="none" w="med" len="lg"/>
              </a:ln>
            </p:spPr>
            <p:txBody>
              <a:bodyPr lIns="88900" tIns="88900" rIns="88900" bIns="88900" anchor="ctr"/>
              <a:lstStyle/>
              <a:p>
                <a:pPr algn="ctr">
                  <a:defRPr/>
                </a:pPr>
                <a:r>
                  <a:rPr lang="en-US" altLang="ja-JP" sz="1050" b="1" dirty="0">
                    <a:solidFill>
                      <a:schemeClr val="bg1"/>
                    </a:solidFill>
                  </a:rPr>
                  <a:t>Plan to Manufacture</a:t>
                </a:r>
                <a:endParaRPr lang="en-US" altLang="ja-JP" sz="1050" b="1" dirty="0">
                  <a:solidFill>
                    <a:schemeClr val="bg1"/>
                  </a:solidFill>
                  <a:ea typeface="ＭＳ Ｐゴシック" pitchFamily="50" charset="-128"/>
                </a:endParaRPr>
              </a:p>
            </p:txBody>
          </p:sp>
          <p:sp>
            <p:nvSpPr>
              <p:cNvPr id="123" name="Rectangle 122"/>
              <p:cNvSpPr>
                <a:spLocks noChangeArrowheads="1"/>
              </p:cNvSpPr>
              <p:nvPr/>
            </p:nvSpPr>
            <p:spPr bwMode="auto">
              <a:xfrm>
                <a:off x="2731137" y="2236286"/>
                <a:ext cx="1913087" cy="731520"/>
              </a:xfrm>
              <a:prstGeom prst="rect">
                <a:avLst/>
              </a:prstGeom>
              <a:solidFill>
                <a:srgbClr val="046A38"/>
              </a:solidFill>
              <a:ln w="12700" algn="ctr">
                <a:noFill/>
                <a:miter lim="800000"/>
                <a:headEnd type="none" w="sm" len="sm"/>
                <a:tailEnd type="none" w="med" len="lg"/>
              </a:ln>
            </p:spPr>
            <p:txBody>
              <a:bodyPr lIns="88900" tIns="88900" rIns="88900" bIns="88900" anchor="ctr"/>
              <a:lstStyle/>
              <a:p>
                <a:pPr algn="ctr">
                  <a:defRPr/>
                </a:pPr>
                <a:r>
                  <a:rPr lang="en-US" altLang="ja-JP" sz="1050" b="1" dirty="0">
                    <a:solidFill>
                      <a:schemeClr val="bg1"/>
                    </a:solidFill>
                    <a:ea typeface="ＭＳ Ｐゴシック" pitchFamily="50" charset="-128"/>
                  </a:rPr>
                  <a:t>Order to Deliver</a:t>
                </a:r>
              </a:p>
            </p:txBody>
          </p:sp>
          <p:sp>
            <p:nvSpPr>
              <p:cNvPr id="124" name="Rectangle 123"/>
              <p:cNvSpPr>
                <a:spLocks noChangeArrowheads="1"/>
              </p:cNvSpPr>
              <p:nvPr/>
            </p:nvSpPr>
            <p:spPr bwMode="auto">
              <a:xfrm>
                <a:off x="2731137" y="3183705"/>
                <a:ext cx="1913087" cy="731520"/>
              </a:xfrm>
              <a:prstGeom prst="rect">
                <a:avLst/>
              </a:prstGeom>
              <a:solidFill>
                <a:srgbClr val="62B5E5"/>
              </a:solidFill>
              <a:ln w="12700" algn="ctr">
                <a:noFill/>
                <a:miter lim="800000"/>
                <a:headEnd type="none" w="sm" len="sm"/>
                <a:tailEnd type="none" w="med" len="lg"/>
              </a:ln>
            </p:spPr>
            <p:txBody>
              <a:bodyPr lIns="88900" tIns="88900" rIns="88900" bIns="88900" anchor="ctr"/>
              <a:lstStyle/>
              <a:p>
                <a:pPr algn="ctr">
                  <a:defRPr/>
                </a:pPr>
                <a:r>
                  <a:rPr lang="en-US" altLang="ja-JP" sz="1050" b="1" dirty="0">
                    <a:solidFill>
                      <a:schemeClr val="bg1"/>
                    </a:solidFill>
                    <a:ea typeface="ＭＳ Ｐゴシック" pitchFamily="50" charset="-128"/>
                  </a:rPr>
                  <a:t>Procure to Pay</a:t>
                </a:r>
              </a:p>
            </p:txBody>
          </p:sp>
          <p:sp>
            <p:nvSpPr>
              <p:cNvPr id="125" name="Rectangle 124"/>
              <p:cNvSpPr>
                <a:spLocks noChangeArrowheads="1"/>
              </p:cNvSpPr>
              <p:nvPr/>
            </p:nvSpPr>
            <p:spPr bwMode="auto">
              <a:xfrm>
                <a:off x="2731137" y="4131124"/>
                <a:ext cx="1913087" cy="731520"/>
              </a:xfrm>
              <a:prstGeom prst="rect">
                <a:avLst/>
              </a:prstGeom>
              <a:solidFill>
                <a:srgbClr val="012169"/>
              </a:solidFill>
              <a:ln w="12700" algn="ctr">
                <a:noFill/>
                <a:miter lim="800000"/>
                <a:headEnd type="none" w="sm" len="sm"/>
                <a:tailEnd type="none" w="med" len="lg"/>
              </a:ln>
            </p:spPr>
            <p:txBody>
              <a:bodyPr lIns="88900" tIns="88900" rIns="88900" bIns="88900" anchor="ctr"/>
              <a:lstStyle/>
              <a:p>
                <a:pPr algn="ctr">
                  <a:defRPr/>
                </a:pPr>
                <a:r>
                  <a:rPr lang="en-US" altLang="ja-JP" sz="1050" b="1" dirty="0">
                    <a:solidFill>
                      <a:schemeClr val="bg1"/>
                    </a:solidFill>
                    <a:ea typeface="ＭＳ Ｐゴシック" pitchFamily="50" charset="-128"/>
                  </a:rPr>
                  <a:t>Account to Report</a:t>
                </a:r>
              </a:p>
            </p:txBody>
          </p:sp>
          <p:sp>
            <p:nvSpPr>
              <p:cNvPr id="126" name="Rectangle 125"/>
              <p:cNvSpPr>
                <a:spLocks noChangeArrowheads="1"/>
              </p:cNvSpPr>
              <p:nvPr/>
            </p:nvSpPr>
            <p:spPr bwMode="auto">
              <a:xfrm>
                <a:off x="2731137" y="5076276"/>
                <a:ext cx="1913087" cy="731520"/>
              </a:xfrm>
              <a:prstGeom prst="rect">
                <a:avLst/>
              </a:prstGeom>
              <a:solidFill>
                <a:srgbClr val="0097A9"/>
              </a:solidFill>
              <a:ln w="12700" algn="ctr">
                <a:noFill/>
                <a:miter lim="800000"/>
                <a:headEnd type="none" w="sm" len="sm"/>
                <a:tailEnd type="none" w="med" len="lg"/>
              </a:ln>
            </p:spPr>
            <p:txBody>
              <a:bodyPr lIns="88900" tIns="88900" rIns="88900" bIns="88900" anchor="ctr"/>
              <a:lstStyle/>
              <a:p>
                <a:pPr algn="ctr">
                  <a:defRPr/>
                </a:pPr>
                <a:r>
                  <a:rPr lang="en-US" altLang="ja-JP" sz="1050" b="1" dirty="0">
                    <a:solidFill>
                      <a:schemeClr val="bg1"/>
                    </a:solidFill>
                    <a:ea typeface="ＭＳ Ｐゴシック" pitchFamily="50" charset="-128"/>
                  </a:rPr>
                  <a:t>Project to Close</a:t>
                </a:r>
              </a:p>
            </p:txBody>
          </p:sp>
          <p:cxnSp>
            <p:nvCxnSpPr>
              <p:cNvPr id="127" name="AutoShape 11"/>
              <p:cNvCxnSpPr>
                <a:cxnSpLocks noChangeShapeType="1"/>
                <a:stCxn id="121" idx="3"/>
                <a:endCxn id="126" idx="1"/>
              </p:cNvCxnSpPr>
              <p:nvPr/>
            </p:nvCxnSpPr>
            <p:spPr bwMode="auto">
              <a:xfrm>
                <a:off x="1933394" y="3552754"/>
                <a:ext cx="797743" cy="1889282"/>
              </a:xfrm>
              <a:prstGeom prst="bentConnector3">
                <a:avLst>
                  <a:gd name="adj1" fmla="val 50000"/>
                </a:avLst>
              </a:prstGeom>
              <a:noFill/>
              <a:ln w="6350">
                <a:solidFill>
                  <a:srgbClr val="BBBCBC"/>
                </a:solidFill>
                <a:miter lim="800000"/>
                <a:headEnd type="none" w="sm" len="sm"/>
                <a:tailEnd type="none" w="med" len="lg"/>
              </a:ln>
            </p:spPr>
          </p:cxnSp>
        </p:grpSp>
        <p:sp>
          <p:nvSpPr>
            <p:cNvPr id="4" name="TextBox 3"/>
            <p:cNvSpPr txBox="1"/>
            <p:nvPr/>
          </p:nvSpPr>
          <p:spPr>
            <a:xfrm>
              <a:off x="4863393" y="1048977"/>
              <a:ext cx="6855657" cy="820738"/>
            </a:xfrm>
            <a:prstGeom prst="rect">
              <a:avLst/>
            </a:prstGeom>
            <a:noFill/>
          </p:spPr>
          <p:txBody>
            <a:bodyPr vert="horz" wrap="square" lIns="0" tIns="0" rIns="0" bIns="0" rtlCol="0" anchor="ctr">
              <a:spAutoFit/>
            </a:bodyPr>
            <a:lstStyle/>
            <a:p>
              <a:pPr>
                <a:spcBef>
                  <a:spcPts val="200"/>
                </a:spcBef>
                <a:buSzPct val="100000"/>
              </a:pPr>
              <a:r>
                <a:rPr lang="en-US" sz="1000" dirty="0"/>
                <a:t>Plan to Manufacture process area covers key processes like Defining Items,  Defining Category Sets &amp; Structure, Demand Planning, Supply Planning, Manufacturing Execution, Defining &amp; Maintaining Costs, Managing Inventory, Cycle Counts &amp; Physical Inventory Counts</a:t>
              </a:r>
            </a:p>
            <a:p>
              <a:pPr>
                <a:spcBef>
                  <a:spcPts val="200"/>
                </a:spcBef>
                <a:buSzPct val="100000"/>
              </a:pPr>
              <a:endParaRPr lang="en-US" sz="1000" b="1" dirty="0"/>
            </a:p>
            <a:p>
              <a:pPr>
                <a:spcBef>
                  <a:spcPts val="200"/>
                </a:spcBef>
                <a:buSzPct val="100000"/>
              </a:pPr>
              <a:r>
                <a:rPr lang="en-US" sz="1000" b="1" dirty="0"/>
                <a:t>No. of Automated Scripts available </a:t>
              </a:r>
              <a:r>
                <a:rPr lang="en-US" sz="1000" dirty="0"/>
                <a:t>: </a:t>
              </a:r>
              <a:r>
                <a:rPr lang="en-US" sz="1000" b="1" dirty="0"/>
                <a:t>38</a:t>
              </a:r>
            </a:p>
          </p:txBody>
        </p:sp>
        <p:sp>
          <p:nvSpPr>
            <p:cNvPr id="42" name="TextBox 41"/>
            <p:cNvSpPr txBox="1"/>
            <p:nvPr/>
          </p:nvSpPr>
          <p:spPr>
            <a:xfrm>
              <a:off x="4863392" y="2140437"/>
              <a:ext cx="6855658" cy="666849"/>
            </a:xfrm>
            <a:prstGeom prst="rect">
              <a:avLst/>
            </a:prstGeom>
            <a:noFill/>
          </p:spPr>
          <p:txBody>
            <a:bodyPr vert="horz" wrap="square" lIns="0" tIns="0" rIns="0" bIns="0" rtlCol="0">
              <a:spAutoFit/>
            </a:bodyPr>
            <a:lstStyle/>
            <a:p>
              <a:pPr>
                <a:spcBef>
                  <a:spcPts val="200"/>
                </a:spcBef>
                <a:buSzPct val="100000"/>
              </a:pPr>
              <a:r>
                <a:rPr lang="en-US" sz="1000" dirty="0"/>
                <a:t>Quote to Deliver process area covers key processes like Creating Customers, Creating Quotes,  Entering &amp; Booking Sales Order, Picking, Shipping, Managing Returns &amp; Exchanges etc.</a:t>
              </a:r>
            </a:p>
            <a:p>
              <a:pPr>
                <a:spcBef>
                  <a:spcPts val="200"/>
                </a:spcBef>
                <a:buSzPct val="100000"/>
              </a:pPr>
              <a:endParaRPr lang="en-US" sz="1000" b="1" dirty="0"/>
            </a:p>
            <a:p>
              <a:pPr>
                <a:spcBef>
                  <a:spcPts val="200"/>
                </a:spcBef>
                <a:buSzPct val="100000"/>
              </a:pPr>
              <a:r>
                <a:rPr lang="en-US" sz="1000" b="1" dirty="0"/>
                <a:t>No. of Automated Scripts available </a:t>
              </a:r>
              <a:r>
                <a:rPr lang="en-US" sz="1000" dirty="0"/>
                <a:t>: </a:t>
              </a:r>
              <a:r>
                <a:rPr lang="en-US" sz="1000" b="1" dirty="0"/>
                <a:t>25</a:t>
              </a:r>
            </a:p>
          </p:txBody>
        </p:sp>
        <p:sp>
          <p:nvSpPr>
            <p:cNvPr id="43" name="TextBox 42"/>
            <p:cNvSpPr txBox="1"/>
            <p:nvPr/>
          </p:nvSpPr>
          <p:spPr>
            <a:xfrm>
              <a:off x="4863392" y="3245830"/>
              <a:ext cx="6855658" cy="820738"/>
            </a:xfrm>
            <a:prstGeom prst="rect">
              <a:avLst/>
            </a:prstGeom>
            <a:noFill/>
          </p:spPr>
          <p:txBody>
            <a:bodyPr vert="horz" wrap="square" lIns="0" tIns="0" rIns="0" bIns="0" rtlCol="0">
              <a:spAutoFit/>
            </a:bodyPr>
            <a:lstStyle/>
            <a:p>
              <a:pPr>
                <a:spcBef>
                  <a:spcPts val="200"/>
                </a:spcBef>
                <a:buSzPct val="100000"/>
              </a:pPr>
              <a:r>
                <a:rPr lang="en-US" sz="1000" dirty="0"/>
                <a:t>Procure to Pay process area covers the processes like Creating Internal / Purchase Requisition, Creating / Approving Purchase Order, Receiving of Inventory Items, Creating AP Invoices, Making Payments and finally transferring to GL. </a:t>
              </a:r>
            </a:p>
            <a:p>
              <a:pPr>
                <a:spcBef>
                  <a:spcPts val="200"/>
                </a:spcBef>
                <a:buSzPct val="100000"/>
              </a:pPr>
              <a:endParaRPr lang="en-US" sz="1000" dirty="0"/>
            </a:p>
            <a:p>
              <a:pPr>
                <a:spcBef>
                  <a:spcPts val="200"/>
                </a:spcBef>
                <a:buSzPct val="100000"/>
              </a:pPr>
              <a:r>
                <a:rPr lang="en-US" sz="1000" b="1" dirty="0"/>
                <a:t>No. of Automated Scripts available </a:t>
              </a:r>
              <a:r>
                <a:rPr lang="en-US" sz="1000" dirty="0"/>
                <a:t>: </a:t>
              </a:r>
              <a:r>
                <a:rPr lang="en-US" sz="1000" b="1" dirty="0"/>
                <a:t>15</a:t>
              </a:r>
            </a:p>
          </p:txBody>
        </p:sp>
        <p:sp>
          <p:nvSpPr>
            <p:cNvPr id="44" name="TextBox 43"/>
            <p:cNvSpPr txBox="1"/>
            <p:nvPr/>
          </p:nvSpPr>
          <p:spPr>
            <a:xfrm>
              <a:off x="4863392" y="4364473"/>
              <a:ext cx="6855658" cy="820738"/>
            </a:xfrm>
            <a:prstGeom prst="rect">
              <a:avLst/>
            </a:prstGeom>
            <a:noFill/>
          </p:spPr>
          <p:txBody>
            <a:bodyPr vert="horz" wrap="square" lIns="0" tIns="0" rIns="0" bIns="0" rtlCol="0">
              <a:spAutoFit/>
            </a:bodyPr>
            <a:lstStyle/>
            <a:p>
              <a:pPr>
                <a:spcBef>
                  <a:spcPts val="200"/>
                </a:spcBef>
                <a:buSzPct val="100000"/>
              </a:pPr>
              <a:r>
                <a:rPr lang="en-US" sz="1000" dirty="0"/>
                <a:t>Account to Report process area covers business processes like Creating &amp; Managing Journal Entries, AP / AR Invoice Creation, Managing Receipts &amp; Payments, Recording Bank Statements, Managing Reconciliations and Period Closure.</a:t>
              </a:r>
            </a:p>
            <a:p>
              <a:pPr>
                <a:spcBef>
                  <a:spcPts val="200"/>
                </a:spcBef>
                <a:buSzPct val="100000"/>
              </a:pPr>
              <a:r>
                <a:rPr lang="en-US" sz="1000" dirty="0"/>
                <a:t> </a:t>
              </a:r>
            </a:p>
            <a:p>
              <a:pPr>
                <a:spcBef>
                  <a:spcPts val="200"/>
                </a:spcBef>
                <a:buSzPct val="100000"/>
              </a:pPr>
              <a:r>
                <a:rPr lang="en-US" sz="1000" b="1" dirty="0"/>
                <a:t>No. of Automated Scripts available </a:t>
              </a:r>
              <a:r>
                <a:rPr lang="en-US" sz="1000" dirty="0"/>
                <a:t>: </a:t>
              </a:r>
              <a:r>
                <a:rPr lang="en-US" sz="1000" b="1" dirty="0"/>
                <a:t>51</a:t>
              </a:r>
            </a:p>
          </p:txBody>
        </p:sp>
        <p:sp>
          <p:nvSpPr>
            <p:cNvPr id="45" name="TextBox 44"/>
            <p:cNvSpPr txBox="1"/>
            <p:nvPr/>
          </p:nvSpPr>
          <p:spPr>
            <a:xfrm>
              <a:off x="4863392" y="5469866"/>
              <a:ext cx="6855658" cy="666849"/>
            </a:xfrm>
            <a:prstGeom prst="rect">
              <a:avLst/>
            </a:prstGeom>
            <a:noFill/>
          </p:spPr>
          <p:txBody>
            <a:bodyPr vert="horz" wrap="square" lIns="0" tIns="0" rIns="0" bIns="0" rtlCol="0">
              <a:spAutoFit/>
            </a:bodyPr>
            <a:lstStyle/>
            <a:p>
              <a:pPr>
                <a:spcBef>
                  <a:spcPts val="200"/>
                </a:spcBef>
                <a:buSzPct val="100000"/>
              </a:pPr>
              <a:r>
                <a:rPr lang="en-US" sz="1000" dirty="0"/>
                <a:t>Project to Close process area covers key business processes related to Projects like Project Initiation and Planning, Defining &amp; Managing Project Costs, Managing Billing &amp; Invoices &amp; Closing the projects.</a:t>
              </a:r>
            </a:p>
            <a:p>
              <a:pPr>
                <a:spcBef>
                  <a:spcPts val="200"/>
                </a:spcBef>
                <a:buSzPct val="100000"/>
              </a:pPr>
              <a:endParaRPr lang="en-US" sz="1000" dirty="0"/>
            </a:p>
            <a:p>
              <a:pPr>
                <a:spcBef>
                  <a:spcPts val="200"/>
                </a:spcBef>
                <a:buSzPct val="100000"/>
              </a:pPr>
              <a:r>
                <a:rPr lang="en-US" sz="1000" b="1" dirty="0"/>
                <a:t>No. of Automated Scripts available </a:t>
              </a:r>
              <a:r>
                <a:rPr lang="en-US" sz="1000" dirty="0"/>
                <a:t>: </a:t>
              </a:r>
              <a:r>
                <a:rPr lang="en-US" sz="1000" b="1" dirty="0"/>
                <a:t>10</a:t>
              </a:r>
              <a:r>
                <a:rPr lang="en-US" sz="1000" dirty="0"/>
                <a:t> </a:t>
              </a:r>
            </a:p>
          </p:txBody>
        </p:sp>
      </p:grpSp>
      <p:sp>
        <p:nvSpPr>
          <p:cNvPr id="5" name="Title 4"/>
          <p:cNvSpPr>
            <a:spLocks noGrp="1"/>
          </p:cNvSpPr>
          <p:nvPr>
            <p:ph type="title"/>
          </p:nvPr>
        </p:nvSpPr>
        <p:spPr/>
        <p:txBody>
          <a:bodyPr/>
          <a:lstStyle/>
          <a:p>
            <a:r>
              <a:rPr lang="en-US" dirty="0"/>
              <a:t>Testing Automation Scenarios: Process Summary</a:t>
            </a:r>
            <a:br>
              <a:rPr lang="en-US" dirty="0"/>
            </a:br>
            <a:endParaRPr lang="en-US" dirty="0"/>
          </a:p>
        </p:txBody>
      </p:sp>
    </p:spTree>
    <p:extLst>
      <p:ext uri="{BB962C8B-B14F-4D97-AF65-F5344CB8AC3E}">
        <p14:creationId xmlns:p14="http://schemas.microsoft.com/office/powerpoint/2010/main" val="170876192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a:t>Deloitte’s approach for managing release or patch using Testing Automation is kept in sync with Oracle’s patching and environment strategy. </a:t>
            </a:r>
          </a:p>
        </p:txBody>
      </p:sp>
      <p:sp>
        <p:nvSpPr>
          <p:cNvPr id="96" name="Title 4"/>
          <p:cNvSpPr>
            <a:spLocks noGrp="1"/>
          </p:cNvSpPr>
          <p:nvPr>
            <p:ph type="title"/>
          </p:nvPr>
        </p:nvSpPr>
        <p:spPr/>
        <p:txBody>
          <a:bodyPr/>
          <a:lstStyle/>
          <a:p>
            <a:r>
              <a:rPr lang="en-US"/>
              <a:t>Testing Automation Approach: Upgrades and Patching</a:t>
            </a:r>
            <a:endParaRPr lang="en-US" dirty="0"/>
          </a:p>
        </p:txBody>
      </p:sp>
      <p:grpSp>
        <p:nvGrpSpPr>
          <p:cNvPr id="16" name="Group 15"/>
          <p:cNvGrpSpPr/>
          <p:nvPr/>
        </p:nvGrpSpPr>
        <p:grpSpPr>
          <a:xfrm>
            <a:off x="469900" y="1549103"/>
            <a:ext cx="11035612" cy="5098167"/>
            <a:chOff x="469900" y="1549103"/>
            <a:chExt cx="11035612" cy="5098167"/>
          </a:xfrm>
        </p:grpSpPr>
        <p:grpSp>
          <p:nvGrpSpPr>
            <p:cNvPr id="13" name="Group 12"/>
            <p:cNvGrpSpPr/>
            <p:nvPr/>
          </p:nvGrpSpPr>
          <p:grpSpPr>
            <a:xfrm>
              <a:off x="469900" y="4086950"/>
              <a:ext cx="11035612" cy="2560320"/>
              <a:chOff x="373989" y="4054675"/>
              <a:chExt cx="11035612" cy="2560320"/>
            </a:xfrm>
          </p:grpSpPr>
          <p:sp>
            <p:nvSpPr>
              <p:cNvPr id="132" name="Rectangle 131"/>
              <p:cNvSpPr/>
              <p:nvPr/>
            </p:nvSpPr>
            <p:spPr>
              <a:xfrm>
                <a:off x="373989" y="4054675"/>
                <a:ext cx="1920240" cy="1292662"/>
              </a:xfrm>
              <a:prstGeom prst="rect">
                <a:avLst/>
              </a:prstGeom>
            </p:spPr>
            <p:txBody>
              <a:bodyPr wrap="square" lIns="0" tIns="0" rIns="0" bIns="0">
                <a:spAutoFit/>
              </a:bodyPr>
              <a:lstStyle/>
              <a:p>
                <a:pPr marL="171450" lvl="0" indent="-171450" eaLnBrk="0" fontAlgn="base" hangingPunct="0">
                  <a:spcBef>
                    <a:spcPct val="0"/>
                  </a:spcBef>
                  <a:spcAft>
                    <a:spcPct val="0"/>
                  </a:spcAft>
                  <a:buFont typeface="Arial" panose="020B0604020202020204" pitchFamily="34" charset="0"/>
                  <a:buChar char="•"/>
                  <a:defRPr/>
                </a:pPr>
                <a:r>
                  <a:rPr lang="en-US" altLang="en-US" sz="1200" dirty="0"/>
                  <a:t>Deloitte’s automation support executive reviews patch/release upgrade documents, assesses impacted modules and processes</a:t>
                </a:r>
              </a:p>
            </p:txBody>
          </p:sp>
          <p:sp>
            <p:nvSpPr>
              <p:cNvPr id="133" name="Rectangle 132"/>
              <p:cNvSpPr/>
              <p:nvPr/>
            </p:nvSpPr>
            <p:spPr>
              <a:xfrm>
                <a:off x="2652832" y="4054675"/>
                <a:ext cx="1920240" cy="2560320"/>
              </a:xfrm>
              <a:prstGeom prst="rect">
                <a:avLst/>
              </a:prstGeom>
            </p:spPr>
            <p:txBody>
              <a:bodyPr wrap="square" lIns="0" tIns="0" rIns="0" bIns="0">
                <a:spAutoFit/>
              </a:bodyPr>
              <a:lstStyle/>
              <a:p>
                <a:pPr marL="171450" lvl="0" indent="-171450" eaLnBrk="0" fontAlgn="base" hangingPunct="0">
                  <a:spcBef>
                    <a:spcPct val="0"/>
                  </a:spcBef>
                  <a:spcAft>
                    <a:spcPct val="0"/>
                  </a:spcAft>
                  <a:buFont typeface="Arial" panose="020B0604020202020204" pitchFamily="34" charset="0"/>
                  <a:buChar char="•"/>
                  <a:defRPr/>
                </a:pPr>
                <a:r>
                  <a:rPr lang="en-US" altLang="en-US" sz="1200" dirty="0"/>
                  <a:t>Automation support executive shares automation execution plan for the impacted scripts with client’s IT/Business leads</a:t>
                </a:r>
              </a:p>
              <a:p>
                <a:pPr marL="171450" lvl="0" indent="-171450" eaLnBrk="0" fontAlgn="base" hangingPunct="0">
                  <a:spcBef>
                    <a:spcPct val="0"/>
                  </a:spcBef>
                  <a:spcAft>
                    <a:spcPct val="0"/>
                  </a:spcAft>
                  <a:buFont typeface="Arial" panose="020B0604020202020204" pitchFamily="34" charset="0"/>
                  <a:buChar char="•"/>
                  <a:defRPr/>
                </a:pPr>
                <a:endParaRPr lang="en-US" altLang="en-US" sz="1200" dirty="0"/>
              </a:p>
              <a:p>
                <a:pPr marL="171450" lvl="0" indent="-171450" eaLnBrk="0" fontAlgn="base" hangingPunct="0">
                  <a:spcBef>
                    <a:spcPct val="0"/>
                  </a:spcBef>
                  <a:spcAft>
                    <a:spcPct val="0"/>
                  </a:spcAft>
                  <a:buFont typeface="Arial" panose="020B0604020202020204" pitchFamily="34" charset="0"/>
                  <a:buChar char="•"/>
                  <a:defRPr/>
                </a:pPr>
                <a:r>
                  <a:rPr lang="en-US" altLang="en-US" sz="1200" dirty="0"/>
                  <a:t>Plan is reviewed, modified as applicable and approved by client</a:t>
                </a:r>
              </a:p>
            </p:txBody>
          </p:sp>
          <p:sp>
            <p:nvSpPr>
              <p:cNvPr id="134" name="Rectangle 133"/>
              <p:cNvSpPr/>
              <p:nvPr/>
            </p:nvSpPr>
            <p:spPr>
              <a:xfrm>
                <a:off x="4931675" y="4054675"/>
                <a:ext cx="1920240" cy="2560320"/>
              </a:xfrm>
              <a:prstGeom prst="rect">
                <a:avLst/>
              </a:prstGeom>
            </p:spPr>
            <p:txBody>
              <a:bodyPr wrap="square" lIns="0" tIns="0" rIns="0" bIns="0">
                <a:spAutoFit/>
              </a:bodyPr>
              <a:lstStyle/>
              <a:p>
                <a:pPr marL="171450" lvl="0" indent="-171450" eaLnBrk="0" fontAlgn="base" hangingPunct="0">
                  <a:spcBef>
                    <a:spcPct val="0"/>
                  </a:spcBef>
                  <a:spcAft>
                    <a:spcPct val="0"/>
                  </a:spcAft>
                  <a:buFont typeface="Arial" panose="020B0604020202020204" pitchFamily="34" charset="0"/>
                  <a:buChar char="•"/>
                  <a:defRPr/>
                </a:pPr>
                <a:r>
                  <a:rPr lang="en-US" altLang="en-US" sz="1200" dirty="0"/>
                  <a:t>Post approval from client, Automation bots  will execute testing scripts in patched/ upgraded testing environments as per plan</a:t>
                </a:r>
              </a:p>
            </p:txBody>
          </p:sp>
          <p:sp>
            <p:nvSpPr>
              <p:cNvPr id="135" name="Rectangle 134"/>
              <p:cNvSpPr/>
              <p:nvPr/>
            </p:nvSpPr>
            <p:spPr>
              <a:xfrm>
                <a:off x="7210518" y="4054675"/>
                <a:ext cx="1920240" cy="2560320"/>
              </a:xfrm>
              <a:prstGeom prst="rect">
                <a:avLst/>
              </a:prstGeom>
            </p:spPr>
            <p:txBody>
              <a:bodyPr wrap="square" lIns="0" tIns="0" rIns="0" bIns="0">
                <a:spAutoFit/>
              </a:bodyPr>
              <a:lstStyle/>
              <a:p>
                <a:pPr marL="171450" lvl="0" indent="-171450" eaLnBrk="0" fontAlgn="base" hangingPunct="0">
                  <a:spcBef>
                    <a:spcPct val="0"/>
                  </a:spcBef>
                  <a:spcAft>
                    <a:spcPct val="0"/>
                  </a:spcAft>
                  <a:buFont typeface="Arial" panose="020B0604020202020204" pitchFamily="34" charset="0"/>
                  <a:buChar char="•"/>
                  <a:defRPr/>
                </a:pPr>
                <a:r>
                  <a:rPr lang="en-US" altLang="en-US" sz="1200" dirty="0"/>
                  <a:t>Automation bot test execution outcomes and associated impacts are shared with client stakeholders for review</a:t>
                </a:r>
              </a:p>
              <a:p>
                <a:pPr marL="171450" lvl="0" indent="-171450" eaLnBrk="0" fontAlgn="base" hangingPunct="0">
                  <a:spcBef>
                    <a:spcPct val="0"/>
                  </a:spcBef>
                  <a:spcAft>
                    <a:spcPct val="0"/>
                  </a:spcAft>
                  <a:buFont typeface="Arial" panose="020B0604020202020204" pitchFamily="34" charset="0"/>
                  <a:buChar char="•"/>
                  <a:defRPr/>
                </a:pPr>
                <a:endParaRPr lang="en-US" altLang="en-US" sz="1200" dirty="0"/>
              </a:p>
              <a:p>
                <a:pPr marL="171450" lvl="0" indent="-171450" eaLnBrk="0" fontAlgn="base" hangingPunct="0">
                  <a:spcBef>
                    <a:spcPct val="0"/>
                  </a:spcBef>
                  <a:spcAft>
                    <a:spcPct val="0"/>
                  </a:spcAft>
                  <a:buFont typeface="Arial" panose="020B0604020202020204" pitchFamily="34" charset="0"/>
                  <a:buChar char="•"/>
                  <a:defRPr/>
                </a:pPr>
                <a:r>
                  <a:rPr lang="en-US" altLang="en-US" sz="1200" dirty="0"/>
                  <a:t>Post analysis, any changes required to existing configurations are performed and testing is re-executed</a:t>
                </a:r>
              </a:p>
            </p:txBody>
          </p:sp>
          <p:sp>
            <p:nvSpPr>
              <p:cNvPr id="136" name="Rectangle 135"/>
              <p:cNvSpPr/>
              <p:nvPr/>
            </p:nvSpPr>
            <p:spPr>
              <a:xfrm>
                <a:off x="9489361" y="4054675"/>
                <a:ext cx="1920240" cy="2560320"/>
              </a:xfrm>
              <a:prstGeom prst="rect">
                <a:avLst/>
              </a:prstGeom>
            </p:spPr>
            <p:txBody>
              <a:bodyPr wrap="square" lIns="0" tIns="0" rIns="0" bIns="0">
                <a:spAutoFit/>
              </a:bodyPr>
              <a:lstStyle/>
              <a:p>
                <a:pPr marL="171450" indent="-171450" eaLnBrk="0" fontAlgn="base" hangingPunct="0">
                  <a:spcBef>
                    <a:spcPct val="0"/>
                  </a:spcBef>
                  <a:spcAft>
                    <a:spcPct val="0"/>
                  </a:spcAft>
                  <a:buFont typeface="Arial" panose="020B0604020202020204" pitchFamily="34" charset="0"/>
                  <a:buChar char="•"/>
                  <a:defRPr/>
                </a:pPr>
                <a:r>
                  <a:rPr lang="en-US" sz="1200" dirty="0">
                    <a:ea typeface="Verdana" panose="020B0604030504040204" pitchFamily="34" charset="0"/>
                    <a:cs typeface="Verdana" panose="020B0604030504040204" pitchFamily="34" charset="0"/>
                  </a:rPr>
                  <a:t>For scripts that require enhancements as a result of UX/Patch impact are updated by automation support team</a:t>
                </a:r>
              </a:p>
              <a:p>
                <a:pPr marL="171450" indent="-171450" eaLnBrk="0" fontAlgn="base" hangingPunct="0">
                  <a:spcBef>
                    <a:spcPct val="0"/>
                  </a:spcBef>
                  <a:spcAft>
                    <a:spcPct val="0"/>
                  </a:spcAft>
                  <a:buFont typeface="Arial" panose="020B0604020202020204" pitchFamily="34" charset="0"/>
                  <a:buChar char="•"/>
                  <a:defRPr/>
                </a:pPr>
                <a:endParaRPr lang="en-US" sz="1200" dirty="0">
                  <a:ea typeface="Verdana" panose="020B0604030504040204" pitchFamily="34" charset="0"/>
                  <a:cs typeface="Verdana" panose="020B0604030504040204" pitchFamily="34" charset="0"/>
                </a:endParaRPr>
              </a:p>
              <a:p>
                <a:pPr marL="171450" indent="-171450" eaLnBrk="0" fontAlgn="base" hangingPunct="0">
                  <a:spcBef>
                    <a:spcPct val="0"/>
                  </a:spcBef>
                  <a:spcAft>
                    <a:spcPct val="0"/>
                  </a:spcAft>
                  <a:buFont typeface="Arial" panose="020B0604020202020204" pitchFamily="34" charset="0"/>
                  <a:buChar char="•"/>
                  <a:defRPr/>
                </a:pPr>
                <a:r>
                  <a:rPr lang="en-US" sz="1200" dirty="0">
                    <a:ea typeface="Verdana" panose="020B0604030504040204" pitchFamily="34" charset="0"/>
                    <a:cs typeface="Verdana" panose="020B0604030504040204" pitchFamily="34" charset="0"/>
                  </a:rPr>
                  <a:t>Scripts fine tuned and enhanced are approved by client and tested in the patched / upgraded testing environments</a:t>
                </a:r>
              </a:p>
              <a:p>
                <a:pPr marR="0" lvl="0" defTabSz="1219170" rtl="0" eaLnBrk="0" fontAlgn="base" latinLnBrk="0" hangingPunct="0">
                  <a:lnSpc>
                    <a:spcPct val="100000"/>
                  </a:lnSpc>
                  <a:spcBef>
                    <a:spcPct val="0"/>
                  </a:spcBef>
                  <a:spcAft>
                    <a:spcPct val="0"/>
                  </a:spcAft>
                  <a:buClrTx/>
                  <a:buSzTx/>
                  <a:tabLst/>
                  <a:defRPr/>
                </a:pPr>
                <a:endParaRPr lang="en-US" altLang="en-US" sz="1200" dirty="0"/>
              </a:p>
            </p:txBody>
          </p:sp>
        </p:grpSp>
        <p:grpSp>
          <p:nvGrpSpPr>
            <p:cNvPr id="14" name="Group 13"/>
            <p:cNvGrpSpPr/>
            <p:nvPr/>
          </p:nvGrpSpPr>
          <p:grpSpPr>
            <a:xfrm>
              <a:off x="561340" y="1549103"/>
              <a:ext cx="10761292" cy="2371805"/>
              <a:chOff x="465429" y="1420008"/>
              <a:chExt cx="10761292" cy="2371805"/>
            </a:xfrm>
          </p:grpSpPr>
          <p:grpSp>
            <p:nvGrpSpPr>
              <p:cNvPr id="10" name="Group 9"/>
              <p:cNvGrpSpPr/>
              <p:nvPr/>
            </p:nvGrpSpPr>
            <p:grpSpPr>
              <a:xfrm>
                <a:off x="465429" y="1420008"/>
                <a:ext cx="1737360" cy="1737360"/>
                <a:chOff x="474250" y="1871438"/>
                <a:chExt cx="1737360" cy="1737360"/>
              </a:xfrm>
            </p:grpSpPr>
            <p:sp>
              <p:nvSpPr>
                <p:cNvPr id="125" name="Freeform 124"/>
                <p:cNvSpPr/>
                <p:nvPr/>
              </p:nvSpPr>
              <p:spPr bwMode="gray">
                <a:xfrm>
                  <a:off x="474250" y="1871438"/>
                  <a:ext cx="1737360" cy="1737360"/>
                </a:xfrm>
                <a:custGeom>
                  <a:avLst/>
                  <a:gdLst>
                    <a:gd name="connsiteX0" fmla="*/ 1027020 w 2054040"/>
                    <a:gd name="connsiteY0" fmla="*/ 382963 h 1997836"/>
                    <a:gd name="connsiteX1" fmla="*/ 401662 w 2054040"/>
                    <a:gd name="connsiteY1" fmla="*/ 998919 h 1997836"/>
                    <a:gd name="connsiteX2" fmla="*/ 1027020 w 2054040"/>
                    <a:gd name="connsiteY2" fmla="*/ 1614875 h 1997836"/>
                    <a:gd name="connsiteX3" fmla="*/ 1652378 w 2054040"/>
                    <a:gd name="connsiteY3" fmla="*/ 998919 h 1997836"/>
                    <a:gd name="connsiteX4" fmla="*/ 1027020 w 2054040"/>
                    <a:gd name="connsiteY4" fmla="*/ 382963 h 1997836"/>
                    <a:gd name="connsiteX5" fmla="*/ 1027020 w 2054040"/>
                    <a:gd name="connsiteY5" fmla="*/ 0 h 1997836"/>
                    <a:gd name="connsiteX6" fmla="*/ 1092810 w 2054040"/>
                    <a:gd name="connsiteY6" fmla="*/ 3231 h 1997836"/>
                    <a:gd name="connsiteX7" fmla="*/ 1157385 w 2054040"/>
                    <a:gd name="connsiteY7" fmla="*/ 112136 h 1997836"/>
                    <a:gd name="connsiteX8" fmla="*/ 1212079 w 2054040"/>
                    <a:gd name="connsiteY8" fmla="*/ 120289 h 1997836"/>
                    <a:gd name="connsiteX9" fmla="*/ 1268386 w 2054040"/>
                    <a:gd name="connsiteY9" fmla="*/ 134430 h 1997836"/>
                    <a:gd name="connsiteX10" fmla="*/ 1370546 w 2054040"/>
                    <a:gd name="connsiteY10" fmla="*/ 58480 h 1997836"/>
                    <a:gd name="connsiteX11" fmla="*/ 1426783 w 2054040"/>
                    <a:gd name="connsiteY11" fmla="*/ 78500 h 1997836"/>
                    <a:gd name="connsiteX12" fmla="*/ 1497706 w 2054040"/>
                    <a:gd name="connsiteY12" fmla="*/ 115943 h 1997836"/>
                    <a:gd name="connsiteX13" fmla="*/ 1512603 w 2054040"/>
                    <a:gd name="connsiteY13" fmla="*/ 238731 h 1997836"/>
                    <a:gd name="connsiteX14" fmla="*/ 1540419 w 2054040"/>
                    <a:gd name="connsiteY14" fmla="*/ 255236 h 1997836"/>
                    <a:gd name="connsiteX15" fmla="*/ 1585473 w 2054040"/>
                    <a:gd name="connsiteY15" fmla="*/ 291543 h 1997836"/>
                    <a:gd name="connsiteX16" fmla="*/ 1710231 w 2054040"/>
                    <a:gd name="connsiteY16" fmla="*/ 258066 h 1997836"/>
                    <a:gd name="connsiteX17" fmla="*/ 1753233 w 2054040"/>
                    <a:gd name="connsiteY17" fmla="*/ 292576 h 1997836"/>
                    <a:gd name="connsiteX18" fmla="*/ 1818368 w 2054040"/>
                    <a:gd name="connsiteY18" fmla="*/ 369360 h 1997836"/>
                    <a:gd name="connsiteX19" fmla="*/ 1781447 w 2054040"/>
                    <a:gd name="connsiteY19" fmla="*/ 489200 h 1997836"/>
                    <a:gd name="connsiteX20" fmla="*/ 1788442 w 2054040"/>
                    <a:gd name="connsiteY20" fmla="*/ 497481 h 1997836"/>
                    <a:gd name="connsiteX21" fmla="*/ 1816835 w 2054040"/>
                    <a:gd name="connsiteY21" fmla="*/ 543129 h 1997836"/>
                    <a:gd name="connsiteX22" fmla="*/ 1943426 w 2054040"/>
                    <a:gd name="connsiteY22" fmla="*/ 556505 h 1997836"/>
                    <a:gd name="connsiteX23" fmla="*/ 1973332 w 2054040"/>
                    <a:gd name="connsiteY23" fmla="*/ 610094 h 1997836"/>
                    <a:gd name="connsiteX24" fmla="*/ 2007868 w 2054040"/>
                    <a:gd name="connsiteY24" fmla="*/ 701871 h 1997836"/>
                    <a:gd name="connsiteX25" fmla="*/ 2009461 w 2054040"/>
                    <a:gd name="connsiteY25" fmla="*/ 707899 h 1997836"/>
                    <a:gd name="connsiteX26" fmla="*/ 1923950 w 2054040"/>
                    <a:gd name="connsiteY26" fmla="*/ 808078 h 1997836"/>
                    <a:gd name="connsiteX27" fmla="*/ 1926608 w 2054040"/>
                    <a:gd name="connsiteY27" fmla="*/ 818172 h 1997836"/>
                    <a:gd name="connsiteX28" fmla="*/ 1932207 w 2054040"/>
                    <a:gd name="connsiteY28" fmla="*/ 854010 h 1997836"/>
                    <a:gd name="connsiteX29" fmla="*/ 2049666 w 2054040"/>
                    <a:gd name="connsiteY29" fmla="*/ 914671 h 1997836"/>
                    <a:gd name="connsiteX30" fmla="*/ 2054040 w 2054040"/>
                    <a:gd name="connsiteY30" fmla="*/ 998918 h 1997836"/>
                    <a:gd name="connsiteX31" fmla="*/ 2049666 w 2054040"/>
                    <a:gd name="connsiteY31" fmla="*/ 1083163 h 1997836"/>
                    <a:gd name="connsiteX32" fmla="*/ 1932208 w 2054040"/>
                    <a:gd name="connsiteY32" fmla="*/ 1143824 h 1997836"/>
                    <a:gd name="connsiteX33" fmla="*/ 1926608 w 2054040"/>
                    <a:gd name="connsiteY33" fmla="*/ 1179666 h 1997836"/>
                    <a:gd name="connsiteX34" fmla="*/ 1923951 w 2054040"/>
                    <a:gd name="connsiteY34" fmla="*/ 1189756 h 1997836"/>
                    <a:gd name="connsiteX35" fmla="*/ 2009462 w 2054040"/>
                    <a:gd name="connsiteY35" fmla="*/ 1289936 h 1997836"/>
                    <a:gd name="connsiteX36" fmla="*/ 2007868 w 2054040"/>
                    <a:gd name="connsiteY36" fmla="*/ 1295966 h 1997836"/>
                    <a:gd name="connsiteX37" fmla="*/ 1973332 w 2054040"/>
                    <a:gd name="connsiteY37" fmla="*/ 1387742 h 1997836"/>
                    <a:gd name="connsiteX38" fmla="*/ 1943428 w 2054040"/>
                    <a:gd name="connsiteY38" fmla="*/ 1441330 h 1997836"/>
                    <a:gd name="connsiteX39" fmla="*/ 1816837 w 2054040"/>
                    <a:gd name="connsiteY39" fmla="*/ 1454705 h 1997836"/>
                    <a:gd name="connsiteX40" fmla="*/ 1788442 w 2054040"/>
                    <a:gd name="connsiteY40" fmla="*/ 1500357 h 1997836"/>
                    <a:gd name="connsiteX41" fmla="*/ 1781447 w 2054040"/>
                    <a:gd name="connsiteY41" fmla="*/ 1508637 h 1997836"/>
                    <a:gd name="connsiteX42" fmla="*/ 1818368 w 2054040"/>
                    <a:gd name="connsiteY42" fmla="*/ 1628475 h 1997836"/>
                    <a:gd name="connsiteX43" fmla="*/ 1753233 w 2054040"/>
                    <a:gd name="connsiteY43" fmla="*/ 1705260 h 1997836"/>
                    <a:gd name="connsiteX44" fmla="*/ 1710232 w 2054040"/>
                    <a:gd name="connsiteY44" fmla="*/ 1739768 h 1997836"/>
                    <a:gd name="connsiteX45" fmla="*/ 1585477 w 2054040"/>
                    <a:gd name="connsiteY45" fmla="*/ 1706292 h 1997836"/>
                    <a:gd name="connsiteX46" fmla="*/ 1540419 w 2054040"/>
                    <a:gd name="connsiteY46" fmla="*/ 1742602 h 1997836"/>
                    <a:gd name="connsiteX47" fmla="*/ 1512603 w 2054040"/>
                    <a:gd name="connsiteY47" fmla="*/ 1759107 h 1997836"/>
                    <a:gd name="connsiteX48" fmla="*/ 1497706 w 2054040"/>
                    <a:gd name="connsiteY48" fmla="*/ 1881894 h 1997836"/>
                    <a:gd name="connsiteX49" fmla="*/ 1426783 w 2054040"/>
                    <a:gd name="connsiteY49" fmla="*/ 1919336 h 1997836"/>
                    <a:gd name="connsiteX50" fmla="*/ 1370548 w 2054040"/>
                    <a:gd name="connsiteY50" fmla="*/ 1939356 h 1997836"/>
                    <a:gd name="connsiteX51" fmla="*/ 1268390 w 2054040"/>
                    <a:gd name="connsiteY51" fmla="*/ 1863407 h 1997836"/>
                    <a:gd name="connsiteX52" fmla="*/ 1212079 w 2054040"/>
                    <a:gd name="connsiteY52" fmla="*/ 1877549 h 1997836"/>
                    <a:gd name="connsiteX53" fmla="*/ 1157382 w 2054040"/>
                    <a:gd name="connsiteY53" fmla="*/ 1885703 h 1997836"/>
                    <a:gd name="connsiteX54" fmla="*/ 1092809 w 2054040"/>
                    <a:gd name="connsiteY54" fmla="*/ 1994605 h 1997836"/>
                    <a:gd name="connsiteX55" fmla="*/ 1027020 w 2054040"/>
                    <a:gd name="connsiteY55" fmla="*/ 1997836 h 1997836"/>
                    <a:gd name="connsiteX56" fmla="*/ 961235 w 2054040"/>
                    <a:gd name="connsiteY56" fmla="*/ 1994605 h 1997836"/>
                    <a:gd name="connsiteX57" fmla="*/ 896660 w 2054040"/>
                    <a:gd name="connsiteY57" fmla="*/ 1885703 h 1997836"/>
                    <a:gd name="connsiteX58" fmla="*/ 841963 w 2054040"/>
                    <a:gd name="connsiteY58" fmla="*/ 1877549 h 1997836"/>
                    <a:gd name="connsiteX59" fmla="*/ 785652 w 2054040"/>
                    <a:gd name="connsiteY59" fmla="*/ 1863407 h 1997836"/>
                    <a:gd name="connsiteX60" fmla="*/ 683494 w 2054040"/>
                    <a:gd name="connsiteY60" fmla="*/ 1939356 h 1997836"/>
                    <a:gd name="connsiteX61" fmla="*/ 627258 w 2054040"/>
                    <a:gd name="connsiteY61" fmla="*/ 1919336 h 1997836"/>
                    <a:gd name="connsiteX62" fmla="*/ 556335 w 2054040"/>
                    <a:gd name="connsiteY62" fmla="*/ 1881894 h 1997836"/>
                    <a:gd name="connsiteX63" fmla="*/ 541439 w 2054040"/>
                    <a:gd name="connsiteY63" fmla="*/ 1759107 h 1997836"/>
                    <a:gd name="connsiteX64" fmla="*/ 513623 w 2054040"/>
                    <a:gd name="connsiteY64" fmla="*/ 1742602 h 1997836"/>
                    <a:gd name="connsiteX65" fmla="*/ 468565 w 2054040"/>
                    <a:gd name="connsiteY65" fmla="*/ 1706292 h 1997836"/>
                    <a:gd name="connsiteX66" fmla="*/ 343808 w 2054040"/>
                    <a:gd name="connsiteY66" fmla="*/ 1739769 h 1997836"/>
                    <a:gd name="connsiteX67" fmla="*/ 300808 w 2054040"/>
                    <a:gd name="connsiteY67" fmla="*/ 1705260 h 1997836"/>
                    <a:gd name="connsiteX68" fmla="*/ 235673 w 2054040"/>
                    <a:gd name="connsiteY68" fmla="*/ 1628476 h 1997836"/>
                    <a:gd name="connsiteX69" fmla="*/ 272594 w 2054040"/>
                    <a:gd name="connsiteY69" fmla="*/ 1508636 h 1997836"/>
                    <a:gd name="connsiteX70" fmla="*/ 265601 w 2054040"/>
                    <a:gd name="connsiteY70" fmla="*/ 1500357 h 1997836"/>
                    <a:gd name="connsiteX71" fmla="*/ 237205 w 2054040"/>
                    <a:gd name="connsiteY71" fmla="*/ 1454705 h 1997836"/>
                    <a:gd name="connsiteX72" fmla="*/ 110613 w 2054040"/>
                    <a:gd name="connsiteY72" fmla="*/ 1441329 h 1997836"/>
                    <a:gd name="connsiteX73" fmla="*/ 80708 w 2054040"/>
                    <a:gd name="connsiteY73" fmla="*/ 1387742 h 1997836"/>
                    <a:gd name="connsiteX74" fmla="*/ 46173 w 2054040"/>
                    <a:gd name="connsiteY74" fmla="*/ 1295966 h 1997836"/>
                    <a:gd name="connsiteX75" fmla="*/ 44579 w 2054040"/>
                    <a:gd name="connsiteY75" fmla="*/ 1289937 h 1997836"/>
                    <a:gd name="connsiteX76" fmla="*/ 130091 w 2054040"/>
                    <a:gd name="connsiteY76" fmla="*/ 1189756 h 1997836"/>
                    <a:gd name="connsiteX77" fmla="*/ 127435 w 2054040"/>
                    <a:gd name="connsiteY77" fmla="*/ 1179666 h 1997836"/>
                    <a:gd name="connsiteX78" fmla="*/ 121834 w 2054040"/>
                    <a:gd name="connsiteY78" fmla="*/ 1143824 h 1997836"/>
                    <a:gd name="connsiteX79" fmla="*/ 4373 w 2054040"/>
                    <a:gd name="connsiteY79" fmla="*/ 1083162 h 1997836"/>
                    <a:gd name="connsiteX80" fmla="*/ 0 w 2054040"/>
                    <a:gd name="connsiteY80" fmla="*/ 998918 h 1997836"/>
                    <a:gd name="connsiteX81" fmla="*/ 4373 w 2054040"/>
                    <a:gd name="connsiteY81" fmla="*/ 914672 h 1997836"/>
                    <a:gd name="connsiteX82" fmla="*/ 121835 w 2054040"/>
                    <a:gd name="connsiteY82" fmla="*/ 854009 h 1997836"/>
                    <a:gd name="connsiteX83" fmla="*/ 127435 w 2054040"/>
                    <a:gd name="connsiteY83" fmla="*/ 818172 h 1997836"/>
                    <a:gd name="connsiteX84" fmla="*/ 130092 w 2054040"/>
                    <a:gd name="connsiteY84" fmla="*/ 808079 h 1997836"/>
                    <a:gd name="connsiteX85" fmla="*/ 44580 w 2054040"/>
                    <a:gd name="connsiteY85" fmla="*/ 707898 h 1997836"/>
                    <a:gd name="connsiteX86" fmla="*/ 46173 w 2054040"/>
                    <a:gd name="connsiteY86" fmla="*/ 701871 h 1997836"/>
                    <a:gd name="connsiteX87" fmla="*/ 80708 w 2054040"/>
                    <a:gd name="connsiteY87" fmla="*/ 610094 h 1997836"/>
                    <a:gd name="connsiteX88" fmla="*/ 110614 w 2054040"/>
                    <a:gd name="connsiteY88" fmla="*/ 556505 h 1997836"/>
                    <a:gd name="connsiteX89" fmla="*/ 237208 w 2054040"/>
                    <a:gd name="connsiteY89" fmla="*/ 543129 h 1997836"/>
                    <a:gd name="connsiteX90" fmla="*/ 265601 w 2054040"/>
                    <a:gd name="connsiteY90" fmla="*/ 497481 h 1997836"/>
                    <a:gd name="connsiteX91" fmla="*/ 272595 w 2054040"/>
                    <a:gd name="connsiteY91" fmla="*/ 489201 h 1997836"/>
                    <a:gd name="connsiteX92" fmla="*/ 235673 w 2054040"/>
                    <a:gd name="connsiteY92" fmla="*/ 369359 h 1997836"/>
                    <a:gd name="connsiteX93" fmla="*/ 300808 w 2054040"/>
                    <a:gd name="connsiteY93" fmla="*/ 292576 h 1997836"/>
                    <a:gd name="connsiteX94" fmla="*/ 343811 w 2054040"/>
                    <a:gd name="connsiteY94" fmla="*/ 258066 h 1997836"/>
                    <a:gd name="connsiteX95" fmla="*/ 468569 w 2054040"/>
                    <a:gd name="connsiteY95" fmla="*/ 291544 h 1997836"/>
                    <a:gd name="connsiteX96" fmla="*/ 513623 w 2054040"/>
                    <a:gd name="connsiteY96" fmla="*/ 255236 h 1997836"/>
                    <a:gd name="connsiteX97" fmla="*/ 541438 w 2054040"/>
                    <a:gd name="connsiteY97" fmla="*/ 238732 h 1997836"/>
                    <a:gd name="connsiteX98" fmla="*/ 556335 w 2054040"/>
                    <a:gd name="connsiteY98" fmla="*/ 115942 h 1997836"/>
                    <a:gd name="connsiteX99" fmla="*/ 627258 w 2054040"/>
                    <a:gd name="connsiteY99" fmla="*/ 78500 h 1997836"/>
                    <a:gd name="connsiteX100" fmla="*/ 683496 w 2054040"/>
                    <a:gd name="connsiteY100" fmla="*/ 58479 h 1997836"/>
                    <a:gd name="connsiteX101" fmla="*/ 785656 w 2054040"/>
                    <a:gd name="connsiteY101" fmla="*/ 134430 h 1997836"/>
                    <a:gd name="connsiteX102" fmla="*/ 841963 w 2054040"/>
                    <a:gd name="connsiteY102" fmla="*/ 120289 h 1997836"/>
                    <a:gd name="connsiteX103" fmla="*/ 896657 w 2054040"/>
                    <a:gd name="connsiteY103" fmla="*/ 112136 h 1997836"/>
                    <a:gd name="connsiteX104" fmla="*/ 961233 w 2054040"/>
                    <a:gd name="connsiteY104" fmla="*/ 3231 h 199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054040" h="1997836">
                      <a:moveTo>
                        <a:pt x="1027020" y="382963"/>
                      </a:moveTo>
                      <a:cubicBezTo>
                        <a:pt x="681644" y="382963"/>
                        <a:pt x="401662" y="658736"/>
                        <a:pt x="401662" y="998919"/>
                      </a:cubicBezTo>
                      <a:cubicBezTo>
                        <a:pt x="401662" y="1339102"/>
                        <a:pt x="681644" y="1614875"/>
                        <a:pt x="1027020" y="1614875"/>
                      </a:cubicBezTo>
                      <a:cubicBezTo>
                        <a:pt x="1372396" y="1614875"/>
                        <a:pt x="1652378" y="1339102"/>
                        <a:pt x="1652378" y="998919"/>
                      </a:cubicBezTo>
                      <a:cubicBezTo>
                        <a:pt x="1652378" y="658736"/>
                        <a:pt x="1372396" y="382963"/>
                        <a:pt x="1027020" y="382963"/>
                      </a:cubicBezTo>
                      <a:close/>
                      <a:moveTo>
                        <a:pt x="1027020" y="0"/>
                      </a:moveTo>
                      <a:lnTo>
                        <a:pt x="1092810" y="3231"/>
                      </a:lnTo>
                      <a:lnTo>
                        <a:pt x="1157385" y="112136"/>
                      </a:lnTo>
                      <a:lnTo>
                        <a:pt x="1212079" y="120289"/>
                      </a:lnTo>
                      <a:lnTo>
                        <a:pt x="1268386" y="134430"/>
                      </a:lnTo>
                      <a:lnTo>
                        <a:pt x="1370546" y="58480"/>
                      </a:lnTo>
                      <a:lnTo>
                        <a:pt x="1426783" y="78500"/>
                      </a:lnTo>
                      <a:lnTo>
                        <a:pt x="1497706" y="115943"/>
                      </a:lnTo>
                      <a:lnTo>
                        <a:pt x="1512603" y="238731"/>
                      </a:lnTo>
                      <a:lnTo>
                        <a:pt x="1540419" y="255236"/>
                      </a:lnTo>
                      <a:lnTo>
                        <a:pt x="1585473" y="291543"/>
                      </a:lnTo>
                      <a:lnTo>
                        <a:pt x="1710231" y="258066"/>
                      </a:lnTo>
                      <a:lnTo>
                        <a:pt x="1753233" y="292576"/>
                      </a:lnTo>
                      <a:lnTo>
                        <a:pt x="1818368" y="369360"/>
                      </a:lnTo>
                      <a:lnTo>
                        <a:pt x="1781447" y="489200"/>
                      </a:lnTo>
                      <a:lnTo>
                        <a:pt x="1788442" y="497481"/>
                      </a:lnTo>
                      <a:lnTo>
                        <a:pt x="1816835" y="543129"/>
                      </a:lnTo>
                      <a:lnTo>
                        <a:pt x="1943426" y="556505"/>
                      </a:lnTo>
                      <a:lnTo>
                        <a:pt x="1973332" y="610094"/>
                      </a:lnTo>
                      <a:cubicBezTo>
                        <a:pt x="1986324" y="639971"/>
                        <a:pt x="1997865" y="670591"/>
                        <a:pt x="2007868" y="701871"/>
                      </a:cubicBezTo>
                      <a:lnTo>
                        <a:pt x="2009461" y="707899"/>
                      </a:lnTo>
                      <a:lnTo>
                        <a:pt x="1923950" y="808078"/>
                      </a:lnTo>
                      <a:lnTo>
                        <a:pt x="1926608" y="818172"/>
                      </a:lnTo>
                      <a:lnTo>
                        <a:pt x="1932207" y="854010"/>
                      </a:lnTo>
                      <a:lnTo>
                        <a:pt x="2049666" y="914671"/>
                      </a:lnTo>
                      <a:lnTo>
                        <a:pt x="2054040" y="998918"/>
                      </a:lnTo>
                      <a:lnTo>
                        <a:pt x="2049666" y="1083163"/>
                      </a:lnTo>
                      <a:lnTo>
                        <a:pt x="1932208" y="1143824"/>
                      </a:lnTo>
                      <a:lnTo>
                        <a:pt x="1926608" y="1179666"/>
                      </a:lnTo>
                      <a:lnTo>
                        <a:pt x="1923951" y="1189756"/>
                      </a:lnTo>
                      <a:lnTo>
                        <a:pt x="2009462" y="1289936"/>
                      </a:lnTo>
                      <a:lnTo>
                        <a:pt x="2007868" y="1295966"/>
                      </a:lnTo>
                      <a:cubicBezTo>
                        <a:pt x="1997865" y="1327245"/>
                        <a:pt x="1986324" y="1357865"/>
                        <a:pt x="1973332" y="1387742"/>
                      </a:cubicBezTo>
                      <a:lnTo>
                        <a:pt x="1943428" y="1441330"/>
                      </a:lnTo>
                      <a:lnTo>
                        <a:pt x="1816837" y="1454705"/>
                      </a:lnTo>
                      <a:lnTo>
                        <a:pt x="1788442" y="1500357"/>
                      </a:lnTo>
                      <a:lnTo>
                        <a:pt x="1781447" y="1508637"/>
                      </a:lnTo>
                      <a:lnTo>
                        <a:pt x="1818368" y="1628475"/>
                      </a:lnTo>
                      <a:lnTo>
                        <a:pt x="1753233" y="1705260"/>
                      </a:lnTo>
                      <a:lnTo>
                        <a:pt x="1710232" y="1739768"/>
                      </a:lnTo>
                      <a:lnTo>
                        <a:pt x="1585477" y="1706292"/>
                      </a:lnTo>
                      <a:lnTo>
                        <a:pt x="1540419" y="1742602"/>
                      </a:lnTo>
                      <a:lnTo>
                        <a:pt x="1512603" y="1759107"/>
                      </a:lnTo>
                      <a:lnTo>
                        <a:pt x="1497706" y="1881894"/>
                      </a:lnTo>
                      <a:lnTo>
                        <a:pt x="1426783" y="1919336"/>
                      </a:lnTo>
                      <a:lnTo>
                        <a:pt x="1370548" y="1939356"/>
                      </a:lnTo>
                      <a:lnTo>
                        <a:pt x="1268390" y="1863407"/>
                      </a:lnTo>
                      <a:lnTo>
                        <a:pt x="1212079" y="1877549"/>
                      </a:lnTo>
                      <a:lnTo>
                        <a:pt x="1157382" y="1885703"/>
                      </a:lnTo>
                      <a:lnTo>
                        <a:pt x="1092809" y="1994605"/>
                      </a:lnTo>
                      <a:lnTo>
                        <a:pt x="1027020" y="1997836"/>
                      </a:lnTo>
                      <a:lnTo>
                        <a:pt x="961235" y="1994605"/>
                      </a:lnTo>
                      <a:lnTo>
                        <a:pt x="896660" y="1885703"/>
                      </a:lnTo>
                      <a:lnTo>
                        <a:pt x="841963" y="1877549"/>
                      </a:lnTo>
                      <a:lnTo>
                        <a:pt x="785652" y="1863407"/>
                      </a:lnTo>
                      <a:lnTo>
                        <a:pt x="683494" y="1939356"/>
                      </a:lnTo>
                      <a:lnTo>
                        <a:pt x="627258" y="1919336"/>
                      </a:lnTo>
                      <a:lnTo>
                        <a:pt x="556335" y="1881894"/>
                      </a:lnTo>
                      <a:lnTo>
                        <a:pt x="541439" y="1759107"/>
                      </a:lnTo>
                      <a:lnTo>
                        <a:pt x="513623" y="1742602"/>
                      </a:lnTo>
                      <a:lnTo>
                        <a:pt x="468565" y="1706292"/>
                      </a:lnTo>
                      <a:lnTo>
                        <a:pt x="343808" y="1739769"/>
                      </a:lnTo>
                      <a:lnTo>
                        <a:pt x="300808" y="1705260"/>
                      </a:lnTo>
                      <a:lnTo>
                        <a:pt x="235673" y="1628476"/>
                      </a:lnTo>
                      <a:lnTo>
                        <a:pt x="272594" y="1508636"/>
                      </a:lnTo>
                      <a:lnTo>
                        <a:pt x="265601" y="1500357"/>
                      </a:lnTo>
                      <a:lnTo>
                        <a:pt x="237205" y="1454705"/>
                      </a:lnTo>
                      <a:lnTo>
                        <a:pt x="110613" y="1441329"/>
                      </a:lnTo>
                      <a:lnTo>
                        <a:pt x="80708" y="1387742"/>
                      </a:lnTo>
                      <a:cubicBezTo>
                        <a:pt x="67716" y="1357865"/>
                        <a:pt x="56175" y="1327245"/>
                        <a:pt x="46173" y="1295966"/>
                      </a:cubicBezTo>
                      <a:lnTo>
                        <a:pt x="44579" y="1289937"/>
                      </a:lnTo>
                      <a:lnTo>
                        <a:pt x="130091" y="1189756"/>
                      </a:lnTo>
                      <a:lnTo>
                        <a:pt x="127435" y="1179666"/>
                      </a:lnTo>
                      <a:lnTo>
                        <a:pt x="121834" y="1143824"/>
                      </a:lnTo>
                      <a:lnTo>
                        <a:pt x="4373" y="1083162"/>
                      </a:lnTo>
                      <a:lnTo>
                        <a:pt x="0" y="998918"/>
                      </a:lnTo>
                      <a:lnTo>
                        <a:pt x="4373" y="914672"/>
                      </a:lnTo>
                      <a:lnTo>
                        <a:pt x="121835" y="854009"/>
                      </a:lnTo>
                      <a:lnTo>
                        <a:pt x="127435" y="818172"/>
                      </a:lnTo>
                      <a:lnTo>
                        <a:pt x="130092" y="808079"/>
                      </a:lnTo>
                      <a:lnTo>
                        <a:pt x="44580" y="707898"/>
                      </a:lnTo>
                      <a:lnTo>
                        <a:pt x="46173" y="701871"/>
                      </a:lnTo>
                      <a:cubicBezTo>
                        <a:pt x="56175" y="670591"/>
                        <a:pt x="67716" y="639971"/>
                        <a:pt x="80708" y="610094"/>
                      </a:cubicBezTo>
                      <a:lnTo>
                        <a:pt x="110614" y="556505"/>
                      </a:lnTo>
                      <a:lnTo>
                        <a:pt x="237208" y="543129"/>
                      </a:lnTo>
                      <a:lnTo>
                        <a:pt x="265601" y="497481"/>
                      </a:lnTo>
                      <a:lnTo>
                        <a:pt x="272595" y="489201"/>
                      </a:lnTo>
                      <a:lnTo>
                        <a:pt x="235673" y="369359"/>
                      </a:lnTo>
                      <a:lnTo>
                        <a:pt x="300808" y="292576"/>
                      </a:lnTo>
                      <a:lnTo>
                        <a:pt x="343811" y="258066"/>
                      </a:lnTo>
                      <a:lnTo>
                        <a:pt x="468569" y="291544"/>
                      </a:lnTo>
                      <a:lnTo>
                        <a:pt x="513623" y="255236"/>
                      </a:lnTo>
                      <a:lnTo>
                        <a:pt x="541438" y="238732"/>
                      </a:lnTo>
                      <a:lnTo>
                        <a:pt x="556335" y="115942"/>
                      </a:lnTo>
                      <a:lnTo>
                        <a:pt x="627258" y="78500"/>
                      </a:lnTo>
                      <a:lnTo>
                        <a:pt x="683496" y="58479"/>
                      </a:lnTo>
                      <a:lnTo>
                        <a:pt x="785656" y="134430"/>
                      </a:lnTo>
                      <a:lnTo>
                        <a:pt x="841963" y="120289"/>
                      </a:lnTo>
                      <a:lnTo>
                        <a:pt x="896657" y="112136"/>
                      </a:lnTo>
                      <a:lnTo>
                        <a:pt x="961233" y="3231"/>
                      </a:lnTo>
                      <a:close/>
                    </a:path>
                  </a:pathLst>
                </a:cu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37" name="Group 336"/>
                <p:cNvGrpSpPr>
                  <a:grpSpLocks/>
                </p:cNvGrpSpPr>
                <p:nvPr/>
              </p:nvGrpSpPr>
              <p:grpSpPr bwMode="auto">
                <a:xfrm>
                  <a:off x="977170" y="2366749"/>
                  <a:ext cx="731520" cy="731520"/>
                  <a:chOff x="4220" y="1197"/>
                  <a:chExt cx="340" cy="340"/>
                </a:xfrm>
                <a:solidFill>
                  <a:schemeClr val="accent1"/>
                </a:solidFill>
              </p:grpSpPr>
              <p:sp>
                <p:nvSpPr>
                  <p:cNvPr id="138" name="Freeform 337"/>
                  <p:cNvSpPr>
                    <a:spLocks noEditPoints="1"/>
                  </p:cNvSpPr>
                  <p:nvPr/>
                </p:nvSpPr>
                <p:spPr bwMode="auto">
                  <a:xfrm>
                    <a:off x="4220" y="119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accent1"/>
                      </a:solidFill>
                    </a:endParaRPr>
                  </a:p>
                </p:txBody>
              </p:sp>
              <p:sp>
                <p:nvSpPr>
                  <p:cNvPr id="139" name="Freeform 338"/>
                  <p:cNvSpPr>
                    <a:spLocks noEditPoints="1"/>
                  </p:cNvSpPr>
                  <p:nvPr/>
                </p:nvSpPr>
                <p:spPr bwMode="auto">
                  <a:xfrm>
                    <a:off x="4312" y="1261"/>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accent1"/>
                      </a:solidFill>
                    </a:endParaRPr>
                  </a:p>
                </p:txBody>
              </p:sp>
              <p:sp>
                <p:nvSpPr>
                  <p:cNvPr id="140" name="Freeform 339"/>
                  <p:cNvSpPr>
                    <a:spLocks/>
                  </p:cNvSpPr>
                  <p:nvPr/>
                </p:nvSpPr>
                <p:spPr bwMode="auto">
                  <a:xfrm>
                    <a:off x="4340" y="1431"/>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accent1"/>
                      </a:solidFill>
                    </a:endParaRPr>
                  </a:p>
                </p:txBody>
              </p:sp>
              <p:sp>
                <p:nvSpPr>
                  <p:cNvPr id="141" name="Freeform 340"/>
                  <p:cNvSpPr>
                    <a:spLocks/>
                  </p:cNvSpPr>
                  <p:nvPr/>
                </p:nvSpPr>
                <p:spPr bwMode="auto">
                  <a:xfrm>
                    <a:off x="4340" y="1402"/>
                    <a:ext cx="99" cy="14"/>
                  </a:xfrm>
                  <a:custGeom>
                    <a:avLst/>
                    <a:gdLst>
                      <a:gd name="T0" fmla="*/ 139 w 149"/>
                      <a:gd name="T1" fmla="*/ 0 h 21"/>
                      <a:gd name="T2" fmla="*/ 11 w 149"/>
                      <a:gd name="T3" fmla="*/ 0 h 21"/>
                      <a:gd name="T4" fmla="*/ 0 w 149"/>
                      <a:gd name="T5" fmla="*/ 11 h 21"/>
                      <a:gd name="T6" fmla="*/ 11 w 149"/>
                      <a:gd name="T7" fmla="*/ 21 h 21"/>
                      <a:gd name="T8" fmla="*/ 139 w 149"/>
                      <a:gd name="T9" fmla="*/ 21 h 21"/>
                      <a:gd name="T10" fmla="*/ 149 w 149"/>
                      <a:gd name="T11" fmla="*/ 11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5"/>
                          <a:pt x="0" y="11"/>
                        </a:cubicBezTo>
                        <a:cubicBezTo>
                          <a:pt x="0" y="17"/>
                          <a:pt x="5" y="21"/>
                          <a:pt x="11" y="21"/>
                        </a:cubicBezTo>
                        <a:cubicBezTo>
                          <a:pt x="139" y="21"/>
                          <a:pt x="139" y="21"/>
                          <a:pt x="139" y="21"/>
                        </a:cubicBezTo>
                        <a:cubicBezTo>
                          <a:pt x="145" y="21"/>
                          <a:pt x="149" y="17"/>
                          <a:pt x="149" y="11"/>
                        </a:cubicBezTo>
                        <a:cubicBezTo>
                          <a:pt x="149" y="5"/>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accent1"/>
                      </a:solidFill>
                    </a:endParaRPr>
                  </a:p>
                </p:txBody>
              </p:sp>
              <p:sp>
                <p:nvSpPr>
                  <p:cNvPr id="142" name="Freeform 341"/>
                  <p:cNvSpPr>
                    <a:spLocks/>
                  </p:cNvSpPr>
                  <p:nvPr/>
                </p:nvSpPr>
                <p:spPr bwMode="auto">
                  <a:xfrm>
                    <a:off x="4340" y="1374"/>
                    <a:ext cx="99" cy="14"/>
                  </a:xfrm>
                  <a:custGeom>
                    <a:avLst/>
                    <a:gdLst>
                      <a:gd name="T0" fmla="*/ 139 w 149"/>
                      <a:gd name="T1" fmla="*/ 0 h 22"/>
                      <a:gd name="T2" fmla="*/ 11 w 149"/>
                      <a:gd name="T3" fmla="*/ 0 h 22"/>
                      <a:gd name="T4" fmla="*/ 0 w 149"/>
                      <a:gd name="T5" fmla="*/ 11 h 22"/>
                      <a:gd name="T6" fmla="*/ 11 w 149"/>
                      <a:gd name="T7" fmla="*/ 22 h 22"/>
                      <a:gd name="T8" fmla="*/ 139 w 149"/>
                      <a:gd name="T9" fmla="*/ 22 h 22"/>
                      <a:gd name="T10" fmla="*/ 149 w 149"/>
                      <a:gd name="T11" fmla="*/ 11 h 22"/>
                      <a:gd name="T12" fmla="*/ 139 w 149"/>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49" h="22">
                        <a:moveTo>
                          <a:pt x="139" y="0"/>
                        </a:moveTo>
                        <a:cubicBezTo>
                          <a:pt x="11" y="0"/>
                          <a:pt x="11" y="0"/>
                          <a:pt x="11" y="0"/>
                        </a:cubicBezTo>
                        <a:cubicBezTo>
                          <a:pt x="5" y="0"/>
                          <a:pt x="0" y="5"/>
                          <a:pt x="0" y="11"/>
                        </a:cubicBezTo>
                        <a:cubicBezTo>
                          <a:pt x="0" y="17"/>
                          <a:pt x="5" y="22"/>
                          <a:pt x="11" y="22"/>
                        </a:cubicBezTo>
                        <a:cubicBezTo>
                          <a:pt x="139" y="22"/>
                          <a:pt x="139" y="22"/>
                          <a:pt x="139" y="22"/>
                        </a:cubicBezTo>
                        <a:cubicBezTo>
                          <a:pt x="145" y="22"/>
                          <a:pt x="149" y="17"/>
                          <a:pt x="149" y="11"/>
                        </a:cubicBezTo>
                        <a:cubicBezTo>
                          <a:pt x="149" y="5"/>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accent1"/>
                      </a:solidFill>
                    </a:endParaRPr>
                  </a:p>
                </p:txBody>
              </p:sp>
              <p:sp>
                <p:nvSpPr>
                  <p:cNvPr id="143" name="Freeform 342"/>
                  <p:cNvSpPr>
                    <a:spLocks/>
                  </p:cNvSpPr>
                  <p:nvPr/>
                </p:nvSpPr>
                <p:spPr bwMode="auto">
                  <a:xfrm>
                    <a:off x="4340" y="1346"/>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accent1"/>
                      </a:solidFill>
                    </a:endParaRPr>
                  </a:p>
                </p:txBody>
              </p:sp>
            </p:grpSp>
          </p:grpSp>
          <p:grpSp>
            <p:nvGrpSpPr>
              <p:cNvPr id="12" name="Group 11"/>
              <p:cNvGrpSpPr/>
              <p:nvPr/>
            </p:nvGrpSpPr>
            <p:grpSpPr>
              <a:xfrm>
                <a:off x="7210518" y="2051323"/>
                <a:ext cx="1737360" cy="1737360"/>
                <a:chOff x="7082688" y="1863830"/>
                <a:chExt cx="1737360" cy="1737360"/>
              </a:xfrm>
            </p:grpSpPr>
            <p:sp>
              <p:nvSpPr>
                <p:cNvPr id="130" name="Freeform 129"/>
                <p:cNvSpPr/>
                <p:nvPr/>
              </p:nvSpPr>
              <p:spPr bwMode="gray">
                <a:xfrm>
                  <a:off x="7082688" y="1863830"/>
                  <a:ext cx="1737360" cy="1737360"/>
                </a:xfrm>
                <a:custGeom>
                  <a:avLst/>
                  <a:gdLst>
                    <a:gd name="connsiteX0" fmla="*/ 1027020 w 2054040"/>
                    <a:gd name="connsiteY0" fmla="*/ 382963 h 1997836"/>
                    <a:gd name="connsiteX1" fmla="*/ 401662 w 2054040"/>
                    <a:gd name="connsiteY1" fmla="*/ 998919 h 1997836"/>
                    <a:gd name="connsiteX2" fmla="*/ 1027020 w 2054040"/>
                    <a:gd name="connsiteY2" fmla="*/ 1614875 h 1997836"/>
                    <a:gd name="connsiteX3" fmla="*/ 1652378 w 2054040"/>
                    <a:gd name="connsiteY3" fmla="*/ 998919 h 1997836"/>
                    <a:gd name="connsiteX4" fmla="*/ 1027020 w 2054040"/>
                    <a:gd name="connsiteY4" fmla="*/ 382963 h 1997836"/>
                    <a:gd name="connsiteX5" fmla="*/ 1027020 w 2054040"/>
                    <a:gd name="connsiteY5" fmla="*/ 0 h 1997836"/>
                    <a:gd name="connsiteX6" fmla="*/ 1092810 w 2054040"/>
                    <a:gd name="connsiteY6" fmla="*/ 3231 h 1997836"/>
                    <a:gd name="connsiteX7" fmla="*/ 1157385 w 2054040"/>
                    <a:gd name="connsiteY7" fmla="*/ 112136 h 1997836"/>
                    <a:gd name="connsiteX8" fmla="*/ 1212079 w 2054040"/>
                    <a:gd name="connsiteY8" fmla="*/ 120289 h 1997836"/>
                    <a:gd name="connsiteX9" fmla="*/ 1268386 w 2054040"/>
                    <a:gd name="connsiteY9" fmla="*/ 134430 h 1997836"/>
                    <a:gd name="connsiteX10" fmla="*/ 1370546 w 2054040"/>
                    <a:gd name="connsiteY10" fmla="*/ 58480 h 1997836"/>
                    <a:gd name="connsiteX11" fmla="*/ 1426783 w 2054040"/>
                    <a:gd name="connsiteY11" fmla="*/ 78500 h 1997836"/>
                    <a:gd name="connsiteX12" fmla="*/ 1497706 w 2054040"/>
                    <a:gd name="connsiteY12" fmla="*/ 115943 h 1997836"/>
                    <a:gd name="connsiteX13" fmla="*/ 1512603 w 2054040"/>
                    <a:gd name="connsiteY13" fmla="*/ 238731 h 1997836"/>
                    <a:gd name="connsiteX14" fmla="*/ 1540419 w 2054040"/>
                    <a:gd name="connsiteY14" fmla="*/ 255236 h 1997836"/>
                    <a:gd name="connsiteX15" fmla="*/ 1585473 w 2054040"/>
                    <a:gd name="connsiteY15" fmla="*/ 291543 h 1997836"/>
                    <a:gd name="connsiteX16" fmla="*/ 1710231 w 2054040"/>
                    <a:gd name="connsiteY16" fmla="*/ 258066 h 1997836"/>
                    <a:gd name="connsiteX17" fmla="*/ 1753233 w 2054040"/>
                    <a:gd name="connsiteY17" fmla="*/ 292576 h 1997836"/>
                    <a:gd name="connsiteX18" fmla="*/ 1818368 w 2054040"/>
                    <a:gd name="connsiteY18" fmla="*/ 369360 h 1997836"/>
                    <a:gd name="connsiteX19" fmla="*/ 1781447 w 2054040"/>
                    <a:gd name="connsiteY19" fmla="*/ 489200 h 1997836"/>
                    <a:gd name="connsiteX20" fmla="*/ 1788442 w 2054040"/>
                    <a:gd name="connsiteY20" fmla="*/ 497481 h 1997836"/>
                    <a:gd name="connsiteX21" fmla="*/ 1816835 w 2054040"/>
                    <a:gd name="connsiteY21" fmla="*/ 543129 h 1997836"/>
                    <a:gd name="connsiteX22" fmla="*/ 1943426 w 2054040"/>
                    <a:gd name="connsiteY22" fmla="*/ 556505 h 1997836"/>
                    <a:gd name="connsiteX23" fmla="*/ 1973332 w 2054040"/>
                    <a:gd name="connsiteY23" fmla="*/ 610094 h 1997836"/>
                    <a:gd name="connsiteX24" fmla="*/ 2007868 w 2054040"/>
                    <a:gd name="connsiteY24" fmla="*/ 701871 h 1997836"/>
                    <a:gd name="connsiteX25" fmla="*/ 2009461 w 2054040"/>
                    <a:gd name="connsiteY25" fmla="*/ 707899 h 1997836"/>
                    <a:gd name="connsiteX26" fmla="*/ 1923950 w 2054040"/>
                    <a:gd name="connsiteY26" fmla="*/ 808078 h 1997836"/>
                    <a:gd name="connsiteX27" fmla="*/ 1926608 w 2054040"/>
                    <a:gd name="connsiteY27" fmla="*/ 818172 h 1997836"/>
                    <a:gd name="connsiteX28" fmla="*/ 1932207 w 2054040"/>
                    <a:gd name="connsiteY28" fmla="*/ 854010 h 1997836"/>
                    <a:gd name="connsiteX29" fmla="*/ 2049666 w 2054040"/>
                    <a:gd name="connsiteY29" fmla="*/ 914671 h 1997836"/>
                    <a:gd name="connsiteX30" fmla="*/ 2054040 w 2054040"/>
                    <a:gd name="connsiteY30" fmla="*/ 998918 h 1997836"/>
                    <a:gd name="connsiteX31" fmla="*/ 2049666 w 2054040"/>
                    <a:gd name="connsiteY31" fmla="*/ 1083163 h 1997836"/>
                    <a:gd name="connsiteX32" fmla="*/ 1932208 w 2054040"/>
                    <a:gd name="connsiteY32" fmla="*/ 1143824 h 1997836"/>
                    <a:gd name="connsiteX33" fmla="*/ 1926608 w 2054040"/>
                    <a:gd name="connsiteY33" fmla="*/ 1179666 h 1997836"/>
                    <a:gd name="connsiteX34" fmla="*/ 1923951 w 2054040"/>
                    <a:gd name="connsiteY34" fmla="*/ 1189756 h 1997836"/>
                    <a:gd name="connsiteX35" fmla="*/ 2009462 w 2054040"/>
                    <a:gd name="connsiteY35" fmla="*/ 1289936 h 1997836"/>
                    <a:gd name="connsiteX36" fmla="*/ 2007868 w 2054040"/>
                    <a:gd name="connsiteY36" fmla="*/ 1295966 h 1997836"/>
                    <a:gd name="connsiteX37" fmla="*/ 1973332 w 2054040"/>
                    <a:gd name="connsiteY37" fmla="*/ 1387742 h 1997836"/>
                    <a:gd name="connsiteX38" fmla="*/ 1943428 w 2054040"/>
                    <a:gd name="connsiteY38" fmla="*/ 1441330 h 1997836"/>
                    <a:gd name="connsiteX39" fmla="*/ 1816837 w 2054040"/>
                    <a:gd name="connsiteY39" fmla="*/ 1454705 h 1997836"/>
                    <a:gd name="connsiteX40" fmla="*/ 1788442 w 2054040"/>
                    <a:gd name="connsiteY40" fmla="*/ 1500357 h 1997836"/>
                    <a:gd name="connsiteX41" fmla="*/ 1781447 w 2054040"/>
                    <a:gd name="connsiteY41" fmla="*/ 1508637 h 1997836"/>
                    <a:gd name="connsiteX42" fmla="*/ 1818368 w 2054040"/>
                    <a:gd name="connsiteY42" fmla="*/ 1628475 h 1997836"/>
                    <a:gd name="connsiteX43" fmla="*/ 1753233 w 2054040"/>
                    <a:gd name="connsiteY43" fmla="*/ 1705260 h 1997836"/>
                    <a:gd name="connsiteX44" fmla="*/ 1710232 w 2054040"/>
                    <a:gd name="connsiteY44" fmla="*/ 1739768 h 1997836"/>
                    <a:gd name="connsiteX45" fmla="*/ 1585477 w 2054040"/>
                    <a:gd name="connsiteY45" fmla="*/ 1706292 h 1997836"/>
                    <a:gd name="connsiteX46" fmla="*/ 1540419 w 2054040"/>
                    <a:gd name="connsiteY46" fmla="*/ 1742602 h 1997836"/>
                    <a:gd name="connsiteX47" fmla="*/ 1512603 w 2054040"/>
                    <a:gd name="connsiteY47" fmla="*/ 1759107 h 1997836"/>
                    <a:gd name="connsiteX48" fmla="*/ 1497706 w 2054040"/>
                    <a:gd name="connsiteY48" fmla="*/ 1881894 h 1997836"/>
                    <a:gd name="connsiteX49" fmla="*/ 1426783 w 2054040"/>
                    <a:gd name="connsiteY49" fmla="*/ 1919336 h 1997836"/>
                    <a:gd name="connsiteX50" fmla="*/ 1370548 w 2054040"/>
                    <a:gd name="connsiteY50" fmla="*/ 1939356 h 1997836"/>
                    <a:gd name="connsiteX51" fmla="*/ 1268390 w 2054040"/>
                    <a:gd name="connsiteY51" fmla="*/ 1863407 h 1997836"/>
                    <a:gd name="connsiteX52" fmla="*/ 1212079 w 2054040"/>
                    <a:gd name="connsiteY52" fmla="*/ 1877549 h 1997836"/>
                    <a:gd name="connsiteX53" fmla="*/ 1157382 w 2054040"/>
                    <a:gd name="connsiteY53" fmla="*/ 1885703 h 1997836"/>
                    <a:gd name="connsiteX54" fmla="*/ 1092809 w 2054040"/>
                    <a:gd name="connsiteY54" fmla="*/ 1994605 h 1997836"/>
                    <a:gd name="connsiteX55" fmla="*/ 1027020 w 2054040"/>
                    <a:gd name="connsiteY55" fmla="*/ 1997836 h 1997836"/>
                    <a:gd name="connsiteX56" fmla="*/ 961235 w 2054040"/>
                    <a:gd name="connsiteY56" fmla="*/ 1994605 h 1997836"/>
                    <a:gd name="connsiteX57" fmla="*/ 896660 w 2054040"/>
                    <a:gd name="connsiteY57" fmla="*/ 1885703 h 1997836"/>
                    <a:gd name="connsiteX58" fmla="*/ 841963 w 2054040"/>
                    <a:gd name="connsiteY58" fmla="*/ 1877549 h 1997836"/>
                    <a:gd name="connsiteX59" fmla="*/ 785652 w 2054040"/>
                    <a:gd name="connsiteY59" fmla="*/ 1863407 h 1997836"/>
                    <a:gd name="connsiteX60" fmla="*/ 683494 w 2054040"/>
                    <a:gd name="connsiteY60" fmla="*/ 1939356 h 1997836"/>
                    <a:gd name="connsiteX61" fmla="*/ 627258 w 2054040"/>
                    <a:gd name="connsiteY61" fmla="*/ 1919336 h 1997836"/>
                    <a:gd name="connsiteX62" fmla="*/ 556335 w 2054040"/>
                    <a:gd name="connsiteY62" fmla="*/ 1881894 h 1997836"/>
                    <a:gd name="connsiteX63" fmla="*/ 541439 w 2054040"/>
                    <a:gd name="connsiteY63" fmla="*/ 1759107 h 1997836"/>
                    <a:gd name="connsiteX64" fmla="*/ 513623 w 2054040"/>
                    <a:gd name="connsiteY64" fmla="*/ 1742602 h 1997836"/>
                    <a:gd name="connsiteX65" fmla="*/ 468565 w 2054040"/>
                    <a:gd name="connsiteY65" fmla="*/ 1706292 h 1997836"/>
                    <a:gd name="connsiteX66" fmla="*/ 343808 w 2054040"/>
                    <a:gd name="connsiteY66" fmla="*/ 1739769 h 1997836"/>
                    <a:gd name="connsiteX67" fmla="*/ 300808 w 2054040"/>
                    <a:gd name="connsiteY67" fmla="*/ 1705260 h 1997836"/>
                    <a:gd name="connsiteX68" fmla="*/ 235673 w 2054040"/>
                    <a:gd name="connsiteY68" fmla="*/ 1628476 h 1997836"/>
                    <a:gd name="connsiteX69" fmla="*/ 272594 w 2054040"/>
                    <a:gd name="connsiteY69" fmla="*/ 1508636 h 1997836"/>
                    <a:gd name="connsiteX70" fmla="*/ 265601 w 2054040"/>
                    <a:gd name="connsiteY70" fmla="*/ 1500357 h 1997836"/>
                    <a:gd name="connsiteX71" fmla="*/ 237205 w 2054040"/>
                    <a:gd name="connsiteY71" fmla="*/ 1454705 h 1997836"/>
                    <a:gd name="connsiteX72" fmla="*/ 110613 w 2054040"/>
                    <a:gd name="connsiteY72" fmla="*/ 1441329 h 1997836"/>
                    <a:gd name="connsiteX73" fmla="*/ 80708 w 2054040"/>
                    <a:gd name="connsiteY73" fmla="*/ 1387742 h 1997836"/>
                    <a:gd name="connsiteX74" fmla="*/ 46173 w 2054040"/>
                    <a:gd name="connsiteY74" fmla="*/ 1295966 h 1997836"/>
                    <a:gd name="connsiteX75" fmla="*/ 44579 w 2054040"/>
                    <a:gd name="connsiteY75" fmla="*/ 1289937 h 1997836"/>
                    <a:gd name="connsiteX76" fmla="*/ 130091 w 2054040"/>
                    <a:gd name="connsiteY76" fmla="*/ 1189756 h 1997836"/>
                    <a:gd name="connsiteX77" fmla="*/ 127435 w 2054040"/>
                    <a:gd name="connsiteY77" fmla="*/ 1179666 h 1997836"/>
                    <a:gd name="connsiteX78" fmla="*/ 121834 w 2054040"/>
                    <a:gd name="connsiteY78" fmla="*/ 1143824 h 1997836"/>
                    <a:gd name="connsiteX79" fmla="*/ 4373 w 2054040"/>
                    <a:gd name="connsiteY79" fmla="*/ 1083162 h 1997836"/>
                    <a:gd name="connsiteX80" fmla="*/ 0 w 2054040"/>
                    <a:gd name="connsiteY80" fmla="*/ 998918 h 1997836"/>
                    <a:gd name="connsiteX81" fmla="*/ 4373 w 2054040"/>
                    <a:gd name="connsiteY81" fmla="*/ 914672 h 1997836"/>
                    <a:gd name="connsiteX82" fmla="*/ 121835 w 2054040"/>
                    <a:gd name="connsiteY82" fmla="*/ 854009 h 1997836"/>
                    <a:gd name="connsiteX83" fmla="*/ 127435 w 2054040"/>
                    <a:gd name="connsiteY83" fmla="*/ 818172 h 1997836"/>
                    <a:gd name="connsiteX84" fmla="*/ 130092 w 2054040"/>
                    <a:gd name="connsiteY84" fmla="*/ 808079 h 1997836"/>
                    <a:gd name="connsiteX85" fmla="*/ 44580 w 2054040"/>
                    <a:gd name="connsiteY85" fmla="*/ 707898 h 1997836"/>
                    <a:gd name="connsiteX86" fmla="*/ 46173 w 2054040"/>
                    <a:gd name="connsiteY86" fmla="*/ 701871 h 1997836"/>
                    <a:gd name="connsiteX87" fmla="*/ 80708 w 2054040"/>
                    <a:gd name="connsiteY87" fmla="*/ 610094 h 1997836"/>
                    <a:gd name="connsiteX88" fmla="*/ 110614 w 2054040"/>
                    <a:gd name="connsiteY88" fmla="*/ 556505 h 1997836"/>
                    <a:gd name="connsiteX89" fmla="*/ 237208 w 2054040"/>
                    <a:gd name="connsiteY89" fmla="*/ 543129 h 1997836"/>
                    <a:gd name="connsiteX90" fmla="*/ 265601 w 2054040"/>
                    <a:gd name="connsiteY90" fmla="*/ 497481 h 1997836"/>
                    <a:gd name="connsiteX91" fmla="*/ 272595 w 2054040"/>
                    <a:gd name="connsiteY91" fmla="*/ 489201 h 1997836"/>
                    <a:gd name="connsiteX92" fmla="*/ 235673 w 2054040"/>
                    <a:gd name="connsiteY92" fmla="*/ 369359 h 1997836"/>
                    <a:gd name="connsiteX93" fmla="*/ 300808 w 2054040"/>
                    <a:gd name="connsiteY93" fmla="*/ 292576 h 1997836"/>
                    <a:gd name="connsiteX94" fmla="*/ 343811 w 2054040"/>
                    <a:gd name="connsiteY94" fmla="*/ 258066 h 1997836"/>
                    <a:gd name="connsiteX95" fmla="*/ 468569 w 2054040"/>
                    <a:gd name="connsiteY95" fmla="*/ 291544 h 1997836"/>
                    <a:gd name="connsiteX96" fmla="*/ 513623 w 2054040"/>
                    <a:gd name="connsiteY96" fmla="*/ 255236 h 1997836"/>
                    <a:gd name="connsiteX97" fmla="*/ 541438 w 2054040"/>
                    <a:gd name="connsiteY97" fmla="*/ 238732 h 1997836"/>
                    <a:gd name="connsiteX98" fmla="*/ 556335 w 2054040"/>
                    <a:gd name="connsiteY98" fmla="*/ 115942 h 1997836"/>
                    <a:gd name="connsiteX99" fmla="*/ 627258 w 2054040"/>
                    <a:gd name="connsiteY99" fmla="*/ 78500 h 1997836"/>
                    <a:gd name="connsiteX100" fmla="*/ 683496 w 2054040"/>
                    <a:gd name="connsiteY100" fmla="*/ 58479 h 1997836"/>
                    <a:gd name="connsiteX101" fmla="*/ 785656 w 2054040"/>
                    <a:gd name="connsiteY101" fmla="*/ 134430 h 1997836"/>
                    <a:gd name="connsiteX102" fmla="*/ 841963 w 2054040"/>
                    <a:gd name="connsiteY102" fmla="*/ 120289 h 1997836"/>
                    <a:gd name="connsiteX103" fmla="*/ 896657 w 2054040"/>
                    <a:gd name="connsiteY103" fmla="*/ 112136 h 1997836"/>
                    <a:gd name="connsiteX104" fmla="*/ 961233 w 2054040"/>
                    <a:gd name="connsiteY104" fmla="*/ 3231 h 199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054040" h="1997836">
                      <a:moveTo>
                        <a:pt x="1027020" y="382963"/>
                      </a:moveTo>
                      <a:cubicBezTo>
                        <a:pt x="681644" y="382963"/>
                        <a:pt x="401662" y="658736"/>
                        <a:pt x="401662" y="998919"/>
                      </a:cubicBezTo>
                      <a:cubicBezTo>
                        <a:pt x="401662" y="1339102"/>
                        <a:pt x="681644" y="1614875"/>
                        <a:pt x="1027020" y="1614875"/>
                      </a:cubicBezTo>
                      <a:cubicBezTo>
                        <a:pt x="1372396" y="1614875"/>
                        <a:pt x="1652378" y="1339102"/>
                        <a:pt x="1652378" y="998919"/>
                      </a:cubicBezTo>
                      <a:cubicBezTo>
                        <a:pt x="1652378" y="658736"/>
                        <a:pt x="1372396" y="382963"/>
                        <a:pt x="1027020" y="382963"/>
                      </a:cubicBezTo>
                      <a:close/>
                      <a:moveTo>
                        <a:pt x="1027020" y="0"/>
                      </a:moveTo>
                      <a:lnTo>
                        <a:pt x="1092810" y="3231"/>
                      </a:lnTo>
                      <a:lnTo>
                        <a:pt x="1157385" y="112136"/>
                      </a:lnTo>
                      <a:lnTo>
                        <a:pt x="1212079" y="120289"/>
                      </a:lnTo>
                      <a:lnTo>
                        <a:pt x="1268386" y="134430"/>
                      </a:lnTo>
                      <a:lnTo>
                        <a:pt x="1370546" y="58480"/>
                      </a:lnTo>
                      <a:lnTo>
                        <a:pt x="1426783" y="78500"/>
                      </a:lnTo>
                      <a:lnTo>
                        <a:pt x="1497706" y="115943"/>
                      </a:lnTo>
                      <a:lnTo>
                        <a:pt x="1512603" y="238731"/>
                      </a:lnTo>
                      <a:lnTo>
                        <a:pt x="1540419" y="255236"/>
                      </a:lnTo>
                      <a:lnTo>
                        <a:pt x="1585473" y="291543"/>
                      </a:lnTo>
                      <a:lnTo>
                        <a:pt x="1710231" y="258066"/>
                      </a:lnTo>
                      <a:lnTo>
                        <a:pt x="1753233" y="292576"/>
                      </a:lnTo>
                      <a:lnTo>
                        <a:pt x="1818368" y="369360"/>
                      </a:lnTo>
                      <a:lnTo>
                        <a:pt x="1781447" y="489200"/>
                      </a:lnTo>
                      <a:lnTo>
                        <a:pt x="1788442" y="497481"/>
                      </a:lnTo>
                      <a:lnTo>
                        <a:pt x="1816835" y="543129"/>
                      </a:lnTo>
                      <a:lnTo>
                        <a:pt x="1943426" y="556505"/>
                      </a:lnTo>
                      <a:lnTo>
                        <a:pt x="1973332" y="610094"/>
                      </a:lnTo>
                      <a:cubicBezTo>
                        <a:pt x="1986324" y="639971"/>
                        <a:pt x="1997865" y="670591"/>
                        <a:pt x="2007868" y="701871"/>
                      </a:cubicBezTo>
                      <a:lnTo>
                        <a:pt x="2009461" y="707899"/>
                      </a:lnTo>
                      <a:lnTo>
                        <a:pt x="1923950" y="808078"/>
                      </a:lnTo>
                      <a:lnTo>
                        <a:pt x="1926608" y="818172"/>
                      </a:lnTo>
                      <a:lnTo>
                        <a:pt x="1932207" y="854010"/>
                      </a:lnTo>
                      <a:lnTo>
                        <a:pt x="2049666" y="914671"/>
                      </a:lnTo>
                      <a:lnTo>
                        <a:pt x="2054040" y="998918"/>
                      </a:lnTo>
                      <a:lnTo>
                        <a:pt x="2049666" y="1083163"/>
                      </a:lnTo>
                      <a:lnTo>
                        <a:pt x="1932208" y="1143824"/>
                      </a:lnTo>
                      <a:lnTo>
                        <a:pt x="1926608" y="1179666"/>
                      </a:lnTo>
                      <a:lnTo>
                        <a:pt x="1923951" y="1189756"/>
                      </a:lnTo>
                      <a:lnTo>
                        <a:pt x="2009462" y="1289936"/>
                      </a:lnTo>
                      <a:lnTo>
                        <a:pt x="2007868" y="1295966"/>
                      </a:lnTo>
                      <a:cubicBezTo>
                        <a:pt x="1997865" y="1327245"/>
                        <a:pt x="1986324" y="1357865"/>
                        <a:pt x="1973332" y="1387742"/>
                      </a:cubicBezTo>
                      <a:lnTo>
                        <a:pt x="1943428" y="1441330"/>
                      </a:lnTo>
                      <a:lnTo>
                        <a:pt x="1816837" y="1454705"/>
                      </a:lnTo>
                      <a:lnTo>
                        <a:pt x="1788442" y="1500357"/>
                      </a:lnTo>
                      <a:lnTo>
                        <a:pt x="1781447" y="1508637"/>
                      </a:lnTo>
                      <a:lnTo>
                        <a:pt x="1818368" y="1628475"/>
                      </a:lnTo>
                      <a:lnTo>
                        <a:pt x="1753233" y="1705260"/>
                      </a:lnTo>
                      <a:lnTo>
                        <a:pt x="1710232" y="1739768"/>
                      </a:lnTo>
                      <a:lnTo>
                        <a:pt x="1585477" y="1706292"/>
                      </a:lnTo>
                      <a:lnTo>
                        <a:pt x="1540419" y="1742602"/>
                      </a:lnTo>
                      <a:lnTo>
                        <a:pt x="1512603" y="1759107"/>
                      </a:lnTo>
                      <a:lnTo>
                        <a:pt x="1497706" y="1881894"/>
                      </a:lnTo>
                      <a:lnTo>
                        <a:pt x="1426783" y="1919336"/>
                      </a:lnTo>
                      <a:lnTo>
                        <a:pt x="1370548" y="1939356"/>
                      </a:lnTo>
                      <a:lnTo>
                        <a:pt x="1268390" y="1863407"/>
                      </a:lnTo>
                      <a:lnTo>
                        <a:pt x="1212079" y="1877549"/>
                      </a:lnTo>
                      <a:lnTo>
                        <a:pt x="1157382" y="1885703"/>
                      </a:lnTo>
                      <a:lnTo>
                        <a:pt x="1092809" y="1994605"/>
                      </a:lnTo>
                      <a:lnTo>
                        <a:pt x="1027020" y="1997836"/>
                      </a:lnTo>
                      <a:lnTo>
                        <a:pt x="961235" y="1994605"/>
                      </a:lnTo>
                      <a:lnTo>
                        <a:pt x="896660" y="1885703"/>
                      </a:lnTo>
                      <a:lnTo>
                        <a:pt x="841963" y="1877549"/>
                      </a:lnTo>
                      <a:lnTo>
                        <a:pt x="785652" y="1863407"/>
                      </a:lnTo>
                      <a:lnTo>
                        <a:pt x="683494" y="1939356"/>
                      </a:lnTo>
                      <a:lnTo>
                        <a:pt x="627258" y="1919336"/>
                      </a:lnTo>
                      <a:lnTo>
                        <a:pt x="556335" y="1881894"/>
                      </a:lnTo>
                      <a:lnTo>
                        <a:pt x="541439" y="1759107"/>
                      </a:lnTo>
                      <a:lnTo>
                        <a:pt x="513623" y="1742602"/>
                      </a:lnTo>
                      <a:lnTo>
                        <a:pt x="468565" y="1706292"/>
                      </a:lnTo>
                      <a:lnTo>
                        <a:pt x="343808" y="1739769"/>
                      </a:lnTo>
                      <a:lnTo>
                        <a:pt x="300808" y="1705260"/>
                      </a:lnTo>
                      <a:lnTo>
                        <a:pt x="235673" y="1628476"/>
                      </a:lnTo>
                      <a:lnTo>
                        <a:pt x="272594" y="1508636"/>
                      </a:lnTo>
                      <a:lnTo>
                        <a:pt x="265601" y="1500357"/>
                      </a:lnTo>
                      <a:lnTo>
                        <a:pt x="237205" y="1454705"/>
                      </a:lnTo>
                      <a:lnTo>
                        <a:pt x="110613" y="1441329"/>
                      </a:lnTo>
                      <a:lnTo>
                        <a:pt x="80708" y="1387742"/>
                      </a:lnTo>
                      <a:cubicBezTo>
                        <a:pt x="67716" y="1357865"/>
                        <a:pt x="56175" y="1327245"/>
                        <a:pt x="46173" y="1295966"/>
                      </a:cubicBezTo>
                      <a:lnTo>
                        <a:pt x="44579" y="1289937"/>
                      </a:lnTo>
                      <a:lnTo>
                        <a:pt x="130091" y="1189756"/>
                      </a:lnTo>
                      <a:lnTo>
                        <a:pt x="127435" y="1179666"/>
                      </a:lnTo>
                      <a:lnTo>
                        <a:pt x="121834" y="1143824"/>
                      </a:lnTo>
                      <a:lnTo>
                        <a:pt x="4373" y="1083162"/>
                      </a:lnTo>
                      <a:lnTo>
                        <a:pt x="0" y="998918"/>
                      </a:lnTo>
                      <a:lnTo>
                        <a:pt x="4373" y="914672"/>
                      </a:lnTo>
                      <a:lnTo>
                        <a:pt x="121835" y="854009"/>
                      </a:lnTo>
                      <a:lnTo>
                        <a:pt x="127435" y="818172"/>
                      </a:lnTo>
                      <a:lnTo>
                        <a:pt x="130092" y="808079"/>
                      </a:lnTo>
                      <a:lnTo>
                        <a:pt x="44580" y="707898"/>
                      </a:lnTo>
                      <a:lnTo>
                        <a:pt x="46173" y="701871"/>
                      </a:lnTo>
                      <a:cubicBezTo>
                        <a:pt x="56175" y="670591"/>
                        <a:pt x="67716" y="639971"/>
                        <a:pt x="80708" y="610094"/>
                      </a:cubicBezTo>
                      <a:lnTo>
                        <a:pt x="110614" y="556505"/>
                      </a:lnTo>
                      <a:lnTo>
                        <a:pt x="237208" y="543129"/>
                      </a:lnTo>
                      <a:lnTo>
                        <a:pt x="265601" y="497481"/>
                      </a:lnTo>
                      <a:lnTo>
                        <a:pt x="272595" y="489201"/>
                      </a:lnTo>
                      <a:lnTo>
                        <a:pt x="235673" y="369359"/>
                      </a:lnTo>
                      <a:lnTo>
                        <a:pt x="300808" y="292576"/>
                      </a:lnTo>
                      <a:lnTo>
                        <a:pt x="343811" y="258066"/>
                      </a:lnTo>
                      <a:lnTo>
                        <a:pt x="468569" y="291544"/>
                      </a:lnTo>
                      <a:lnTo>
                        <a:pt x="513623" y="255236"/>
                      </a:lnTo>
                      <a:lnTo>
                        <a:pt x="541438" y="238732"/>
                      </a:lnTo>
                      <a:lnTo>
                        <a:pt x="556335" y="115942"/>
                      </a:lnTo>
                      <a:lnTo>
                        <a:pt x="627258" y="78500"/>
                      </a:lnTo>
                      <a:lnTo>
                        <a:pt x="683496" y="58479"/>
                      </a:lnTo>
                      <a:lnTo>
                        <a:pt x="785656" y="134430"/>
                      </a:lnTo>
                      <a:lnTo>
                        <a:pt x="841963" y="120289"/>
                      </a:lnTo>
                      <a:lnTo>
                        <a:pt x="896657" y="112136"/>
                      </a:lnTo>
                      <a:lnTo>
                        <a:pt x="961233" y="3231"/>
                      </a:lnTo>
                      <a:close/>
                    </a:path>
                  </a:pathLst>
                </a:cu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c</a:t>
                  </a:r>
                </a:p>
              </p:txBody>
            </p:sp>
            <p:grpSp>
              <p:nvGrpSpPr>
                <p:cNvPr id="144" name="Group 902"/>
                <p:cNvGrpSpPr>
                  <a:grpSpLocks/>
                </p:cNvGrpSpPr>
                <p:nvPr/>
              </p:nvGrpSpPr>
              <p:grpSpPr bwMode="auto">
                <a:xfrm>
                  <a:off x="7585608" y="2336627"/>
                  <a:ext cx="731520" cy="731520"/>
                  <a:chOff x="4880" y="3759"/>
                  <a:chExt cx="340" cy="340"/>
                </a:xfrm>
                <a:solidFill>
                  <a:schemeClr val="accent4"/>
                </a:solidFill>
              </p:grpSpPr>
              <p:sp>
                <p:nvSpPr>
                  <p:cNvPr id="145" name="Freeform 903"/>
                  <p:cNvSpPr>
                    <a:spLocks noEditPoints="1"/>
                  </p:cNvSpPr>
                  <p:nvPr/>
                </p:nvSpPr>
                <p:spPr bwMode="auto">
                  <a:xfrm>
                    <a:off x="4880" y="375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6" name="Freeform 904"/>
                  <p:cNvSpPr>
                    <a:spLocks noEditPoints="1"/>
                  </p:cNvSpPr>
                  <p:nvPr/>
                </p:nvSpPr>
                <p:spPr bwMode="auto">
                  <a:xfrm>
                    <a:off x="4958" y="3851"/>
                    <a:ext cx="199" cy="163"/>
                  </a:xfrm>
                  <a:custGeom>
                    <a:avLst/>
                    <a:gdLst>
                      <a:gd name="T0" fmla="*/ 296 w 300"/>
                      <a:gd name="T1" fmla="*/ 25 h 246"/>
                      <a:gd name="T2" fmla="*/ 281 w 300"/>
                      <a:gd name="T3" fmla="*/ 24 h 246"/>
                      <a:gd name="T4" fmla="*/ 245 w 300"/>
                      <a:gd name="T5" fmla="*/ 55 h 246"/>
                      <a:gd name="T6" fmla="*/ 245 w 300"/>
                      <a:gd name="T7" fmla="*/ 11 h 246"/>
                      <a:gd name="T8" fmla="*/ 235 w 300"/>
                      <a:gd name="T9" fmla="*/ 0 h 246"/>
                      <a:gd name="T10" fmla="*/ 11 w 300"/>
                      <a:gd name="T11" fmla="*/ 0 h 246"/>
                      <a:gd name="T12" fmla="*/ 0 w 300"/>
                      <a:gd name="T13" fmla="*/ 11 h 246"/>
                      <a:gd name="T14" fmla="*/ 0 w 300"/>
                      <a:gd name="T15" fmla="*/ 235 h 246"/>
                      <a:gd name="T16" fmla="*/ 11 w 300"/>
                      <a:gd name="T17" fmla="*/ 246 h 246"/>
                      <a:gd name="T18" fmla="*/ 235 w 300"/>
                      <a:gd name="T19" fmla="*/ 246 h 246"/>
                      <a:gd name="T20" fmla="*/ 245 w 300"/>
                      <a:gd name="T21" fmla="*/ 235 h 246"/>
                      <a:gd name="T22" fmla="*/ 245 w 300"/>
                      <a:gd name="T23" fmla="*/ 84 h 246"/>
                      <a:gd name="T24" fmla="*/ 295 w 300"/>
                      <a:gd name="T25" fmla="*/ 40 h 246"/>
                      <a:gd name="T26" fmla="*/ 296 w 300"/>
                      <a:gd name="T27" fmla="*/ 25 h 246"/>
                      <a:gd name="T28" fmla="*/ 224 w 300"/>
                      <a:gd name="T29" fmla="*/ 224 h 246"/>
                      <a:gd name="T30" fmla="*/ 21 w 300"/>
                      <a:gd name="T31" fmla="*/ 224 h 246"/>
                      <a:gd name="T32" fmla="*/ 21 w 300"/>
                      <a:gd name="T33" fmla="*/ 22 h 246"/>
                      <a:gd name="T34" fmla="*/ 224 w 300"/>
                      <a:gd name="T35" fmla="*/ 22 h 246"/>
                      <a:gd name="T36" fmla="*/ 224 w 300"/>
                      <a:gd name="T37" fmla="*/ 74 h 246"/>
                      <a:gd name="T38" fmla="*/ 119 w 300"/>
                      <a:gd name="T39" fmla="*/ 166 h 246"/>
                      <a:gd name="T40" fmla="*/ 72 w 300"/>
                      <a:gd name="T41" fmla="*/ 111 h 246"/>
                      <a:gd name="T42" fmla="*/ 57 w 300"/>
                      <a:gd name="T43" fmla="*/ 109 h 246"/>
                      <a:gd name="T44" fmla="*/ 56 w 300"/>
                      <a:gd name="T45" fmla="*/ 125 h 246"/>
                      <a:gd name="T46" fmla="*/ 109 w 300"/>
                      <a:gd name="T47" fmla="*/ 189 h 246"/>
                      <a:gd name="T48" fmla="*/ 109 w 300"/>
                      <a:gd name="T49" fmla="*/ 189 h 246"/>
                      <a:gd name="T50" fmla="*/ 117 w 300"/>
                      <a:gd name="T51" fmla="*/ 192 h 246"/>
                      <a:gd name="T52" fmla="*/ 124 w 300"/>
                      <a:gd name="T53" fmla="*/ 190 h 246"/>
                      <a:gd name="T54" fmla="*/ 224 w 300"/>
                      <a:gd name="T55" fmla="*/ 103 h 246"/>
                      <a:gd name="T56" fmla="*/ 224 w 300"/>
                      <a:gd name="T57" fmla="*/ 2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0" h="246">
                        <a:moveTo>
                          <a:pt x="296" y="25"/>
                        </a:moveTo>
                        <a:cubicBezTo>
                          <a:pt x="292" y="21"/>
                          <a:pt x="285" y="20"/>
                          <a:pt x="281" y="24"/>
                        </a:cubicBezTo>
                        <a:cubicBezTo>
                          <a:pt x="245" y="55"/>
                          <a:pt x="245" y="55"/>
                          <a:pt x="245" y="55"/>
                        </a:cubicBezTo>
                        <a:cubicBezTo>
                          <a:pt x="245" y="11"/>
                          <a:pt x="245" y="11"/>
                          <a:pt x="245" y="11"/>
                        </a:cubicBezTo>
                        <a:cubicBezTo>
                          <a:pt x="245" y="5"/>
                          <a:pt x="241" y="0"/>
                          <a:pt x="235" y="0"/>
                        </a:cubicBezTo>
                        <a:cubicBezTo>
                          <a:pt x="11" y="0"/>
                          <a:pt x="11" y="0"/>
                          <a:pt x="11" y="0"/>
                        </a:cubicBezTo>
                        <a:cubicBezTo>
                          <a:pt x="5" y="0"/>
                          <a:pt x="0" y="5"/>
                          <a:pt x="0" y="11"/>
                        </a:cubicBezTo>
                        <a:cubicBezTo>
                          <a:pt x="0" y="235"/>
                          <a:pt x="0" y="235"/>
                          <a:pt x="0" y="235"/>
                        </a:cubicBezTo>
                        <a:cubicBezTo>
                          <a:pt x="0" y="241"/>
                          <a:pt x="5" y="246"/>
                          <a:pt x="11" y="246"/>
                        </a:cubicBezTo>
                        <a:cubicBezTo>
                          <a:pt x="235" y="246"/>
                          <a:pt x="235" y="246"/>
                          <a:pt x="235" y="246"/>
                        </a:cubicBezTo>
                        <a:cubicBezTo>
                          <a:pt x="241" y="246"/>
                          <a:pt x="245" y="241"/>
                          <a:pt x="245" y="235"/>
                        </a:cubicBezTo>
                        <a:cubicBezTo>
                          <a:pt x="245" y="84"/>
                          <a:pt x="245" y="84"/>
                          <a:pt x="245" y="84"/>
                        </a:cubicBezTo>
                        <a:cubicBezTo>
                          <a:pt x="295" y="40"/>
                          <a:pt x="295" y="40"/>
                          <a:pt x="295" y="40"/>
                        </a:cubicBezTo>
                        <a:cubicBezTo>
                          <a:pt x="299" y="36"/>
                          <a:pt x="300" y="30"/>
                          <a:pt x="296" y="25"/>
                        </a:cubicBezTo>
                        <a:close/>
                        <a:moveTo>
                          <a:pt x="224" y="224"/>
                        </a:moveTo>
                        <a:cubicBezTo>
                          <a:pt x="21" y="224"/>
                          <a:pt x="21" y="224"/>
                          <a:pt x="21" y="224"/>
                        </a:cubicBezTo>
                        <a:cubicBezTo>
                          <a:pt x="21" y="22"/>
                          <a:pt x="21" y="22"/>
                          <a:pt x="21" y="22"/>
                        </a:cubicBezTo>
                        <a:cubicBezTo>
                          <a:pt x="224" y="22"/>
                          <a:pt x="224" y="22"/>
                          <a:pt x="224" y="22"/>
                        </a:cubicBezTo>
                        <a:cubicBezTo>
                          <a:pt x="224" y="74"/>
                          <a:pt x="224" y="74"/>
                          <a:pt x="224" y="74"/>
                        </a:cubicBezTo>
                        <a:cubicBezTo>
                          <a:pt x="119" y="166"/>
                          <a:pt x="119" y="166"/>
                          <a:pt x="119" y="166"/>
                        </a:cubicBezTo>
                        <a:cubicBezTo>
                          <a:pt x="72" y="111"/>
                          <a:pt x="72" y="111"/>
                          <a:pt x="72" y="111"/>
                        </a:cubicBezTo>
                        <a:cubicBezTo>
                          <a:pt x="68" y="106"/>
                          <a:pt x="62" y="106"/>
                          <a:pt x="57" y="109"/>
                        </a:cubicBezTo>
                        <a:cubicBezTo>
                          <a:pt x="53" y="113"/>
                          <a:pt x="52" y="120"/>
                          <a:pt x="56" y="125"/>
                        </a:cubicBezTo>
                        <a:cubicBezTo>
                          <a:pt x="109" y="189"/>
                          <a:pt x="109" y="189"/>
                          <a:pt x="109" y="189"/>
                        </a:cubicBezTo>
                        <a:cubicBezTo>
                          <a:pt x="109" y="189"/>
                          <a:pt x="109" y="189"/>
                          <a:pt x="109" y="189"/>
                        </a:cubicBezTo>
                        <a:cubicBezTo>
                          <a:pt x="111" y="191"/>
                          <a:pt x="114" y="192"/>
                          <a:pt x="117" y="192"/>
                        </a:cubicBezTo>
                        <a:cubicBezTo>
                          <a:pt x="120" y="192"/>
                          <a:pt x="122" y="191"/>
                          <a:pt x="124" y="190"/>
                        </a:cubicBezTo>
                        <a:cubicBezTo>
                          <a:pt x="224" y="103"/>
                          <a:pt x="224" y="103"/>
                          <a:pt x="224" y="103"/>
                        </a:cubicBezTo>
                        <a:lnTo>
                          <a:pt x="224" y="2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nvGrpSpPr>
              <p:cNvPr id="8" name="Group 7"/>
              <p:cNvGrpSpPr/>
              <p:nvPr/>
            </p:nvGrpSpPr>
            <p:grpSpPr>
              <a:xfrm>
                <a:off x="9489361" y="1420008"/>
                <a:ext cx="1737360" cy="1737360"/>
                <a:chOff x="9543542" y="1797790"/>
                <a:chExt cx="1737360" cy="1737360"/>
              </a:xfrm>
            </p:grpSpPr>
            <p:sp>
              <p:nvSpPr>
                <p:cNvPr id="131" name="Freeform 130"/>
                <p:cNvSpPr/>
                <p:nvPr/>
              </p:nvSpPr>
              <p:spPr bwMode="gray">
                <a:xfrm>
                  <a:off x="9543542" y="1797790"/>
                  <a:ext cx="1737360" cy="1737360"/>
                </a:xfrm>
                <a:custGeom>
                  <a:avLst/>
                  <a:gdLst>
                    <a:gd name="connsiteX0" fmla="*/ 1027020 w 2054040"/>
                    <a:gd name="connsiteY0" fmla="*/ 382963 h 1997836"/>
                    <a:gd name="connsiteX1" fmla="*/ 401662 w 2054040"/>
                    <a:gd name="connsiteY1" fmla="*/ 998919 h 1997836"/>
                    <a:gd name="connsiteX2" fmla="*/ 1027020 w 2054040"/>
                    <a:gd name="connsiteY2" fmla="*/ 1614875 h 1997836"/>
                    <a:gd name="connsiteX3" fmla="*/ 1652378 w 2054040"/>
                    <a:gd name="connsiteY3" fmla="*/ 998919 h 1997836"/>
                    <a:gd name="connsiteX4" fmla="*/ 1027020 w 2054040"/>
                    <a:gd name="connsiteY4" fmla="*/ 382963 h 1997836"/>
                    <a:gd name="connsiteX5" fmla="*/ 1027020 w 2054040"/>
                    <a:gd name="connsiteY5" fmla="*/ 0 h 1997836"/>
                    <a:gd name="connsiteX6" fmla="*/ 1092810 w 2054040"/>
                    <a:gd name="connsiteY6" fmla="*/ 3231 h 1997836"/>
                    <a:gd name="connsiteX7" fmla="*/ 1157385 w 2054040"/>
                    <a:gd name="connsiteY7" fmla="*/ 112136 h 1997836"/>
                    <a:gd name="connsiteX8" fmla="*/ 1212079 w 2054040"/>
                    <a:gd name="connsiteY8" fmla="*/ 120289 h 1997836"/>
                    <a:gd name="connsiteX9" fmla="*/ 1268386 w 2054040"/>
                    <a:gd name="connsiteY9" fmla="*/ 134430 h 1997836"/>
                    <a:gd name="connsiteX10" fmla="*/ 1370546 w 2054040"/>
                    <a:gd name="connsiteY10" fmla="*/ 58480 h 1997836"/>
                    <a:gd name="connsiteX11" fmla="*/ 1426783 w 2054040"/>
                    <a:gd name="connsiteY11" fmla="*/ 78500 h 1997836"/>
                    <a:gd name="connsiteX12" fmla="*/ 1497706 w 2054040"/>
                    <a:gd name="connsiteY12" fmla="*/ 115943 h 1997836"/>
                    <a:gd name="connsiteX13" fmla="*/ 1512603 w 2054040"/>
                    <a:gd name="connsiteY13" fmla="*/ 238731 h 1997836"/>
                    <a:gd name="connsiteX14" fmla="*/ 1540419 w 2054040"/>
                    <a:gd name="connsiteY14" fmla="*/ 255236 h 1997836"/>
                    <a:gd name="connsiteX15" fmla="*/ 1585473 w 2054040"/>
                    <a:gd name="connsiteY15" fmla="*/ 291543 h 1997836"/>
                    <a:gd name="connsiteX16" fmla="*/ 1710231 w 2054040"/>
                    <a:gd name="connsiteY16" fmla="*/ 258066 h 1997836"/>
                    <a:gd name="connsiteX17" fmla="*/ 1753233 w 2054040"/>
                    <a:gd name="connsiteY17" fmla="*/ 292576 h 1997836"/>
                    <a:gd name="connsiteX18" fmla="*/ 1818368 w 2054040"/>
                    <a:gd name="connsiteY18" fmla="*/ 369360 h 1997836"/>
                    <a:gd name="connsiteX19" fmla="*/ 1781447 w 2054040"/>
                    <a:gd name="connsiteY19" fmla="*/ 489200 h 1997836"/>
                    <a:gd name="connsiteX20" fmla="*/ 1788442 w 2054040"/>
                    <a:gd name="connsiteY20" fmla="*/ 497481 h 1997836"/>
                    <a:gd name="connsiteX21" fmla="*/ 1816835 w 2054040"/>
                    <a:gd name="connsiteY21" fmla="*/ 543129 h 1997836"/>
                    <a:gd name="connsiteX22" fmla="*/ 1943426 w 2054040"/>
                    <a:gd name="connsiteY22" fmla="*/ 556505 h 1997836"/>
                    <a:gd name="connsiteX23" fmla="*/ 1973332 w 2054040"/>
                    <a:gd name="connsiteY23" fmla="*/ 610094 h 1997836"/>
                    <a:gd name="connsiteX24" fmla="*/ 2007868 w 2054040"/>
                    <a:gd name="connsiteY24" fmla="*/ 701871 h 1997836"/>
                    <a:gd name="connsiteX25" fmla="*/ 2009461 w 2054040"/>
                    <a:gd name="connsiteY25" fmla="*/ 707899 h 1997836"/>
                    <a:gd name="connsiteX26" fmla="*/ 1923950 w 2054040"/>
                    <a:gd name="connsiteY26" fmla="*/ 808078 h 1997836"/>
                    <a:gd name="connsiteX27" fmla="*/ 1926608 w 2054040"/>
                    <a:gd name="connsiteY27" fmla="*/ 818172 h 1997836"/>
                    <a:gd name="connsiteX28" fmla="*/ 1932207 w 2054040"/>
                    <a:gd name="connsiteY28" fmla="*/ 854010 h 1997836"/>
                    <a:gd name="connsiteX29" fmla="*/ 2049666 w 2054040"/>
                    <a:gd name="connsiteY29" fmla="*/ 914671 h 1997836"/>
                    <a:gd name="connsiteX30" fmla="*/ 2054040 w 2054040"/>
                    <a:gd name="connsiteY30" fmla="*/ 998918 h 1997836"/>
                    <a:gd name="connsiteX31" fmla="*/ 2049666 w 2054040"/>
                    <a:gd name="connsiteY31" fmla="*/ 1083163 h 1997836"/>
                    <a:gd name="connsiteX32" fmla="*/ 1932208 w 2054040"/>
                    <a:gd name="connsiteY32" fmla="*/ 1143824 h 1997836"/>
                    <a:gd name="connsiteX33" fmla="*/ 1926608 w 2054040"/>
                    <a:gd name="connsiteY33" fmla="*/ 1179666 h 1997836"/>
                    <a:gd name="connsiteX34" fmla="*/ 1923951 w 2054040"/>
                    <a:gd name="connsiteY34" fmla="*/ 1189756 h 1997836"/>
                    <a:gd name="connsiteX35" fmla="*/ 2009462 w 2054040"/>
                    <a:gd name="connsiteY35" fmla="*/ 1289936 h 1997836"/>
                    <a:gd name="connsiteX36" fmla="*/ 2007868 w 2054040"/>
                    <a:gd name="connsiteY36" fmla="*/ 1295966 h 1997836"/>
                    <a:gd name="connsiteX37" fmla="*/ 1973332 w 2054040"/>
                    <a:gd name="connsiteY37" fmla="*/ 1387742 h 1997836"/>
                    <a:gd name="connsiteX38" fmla="*/ 1943428 w 2054040"/>
                    <a:gd name="connsiteY38" fmla="*/ 1441330 h 1997836"/>
                    <a:gd name="connsiteX39" fmla="*/ 1816837 w 2054040"/>
                    <a:gd name="connsiteY39" fmla="*/ 1454705 h 1997836"/>
                    <a:gd name="connsiteX40" fmla="*/ 1788442 w 2054040"/>
                    <a:gd name="connsiteY40" fmla="*/ 1500357 h 1997836"/>
                    <a:gd name="connsiteX41" fmla="*/ 1781447 w 2054040"/>
                    <a:gd name="connsiteY41" fmla="*/ 1508637 h 1997836"/>
                    <a:gd name="connsiteX42" fmla="*/ 1818368 w 2054040"/>
                    <a:gd name="connsiteY42" fmla="*/ 1628475 h 1997836"/>
                    <a:gd name="connsiteX43" fmla="*/ 1753233 w 2054040"/>
                    <a:gd name="connsiteY43" fmla="*/ 1705260 h 1997836"/>
                    <a:gd name="connsiteX44" fmla="*/ 1710232 w 2054040"/>
                    <a:gd name="connsiteY44" fmla="*/ 1739768 h 1997836"/>
                    <a:gd name="connsiteX45" fmla="*/ 1585477 w 2054040"/>
                    <a:gd name="connsiteY45" fmla="*/ 1706292 h 1997836"/>
                    <a:gd name="connsiteX46" fmla="*/ 1540419 w 2054040"/>
                    <a:gd name="connsiteY46" fmla="*/ 1742602 h 1997836"/>
                    <a:gd name="connsiteX47" fmla="*/ 1512603 w 2054040"/>
                    <a:gd name="connsiteY47" fmla="*/ 1759107 h 1997836"/>
                    <a:gd name="connsiteX48" fmla="*/ 1497706 w 2054040"/>
                    <a:gd name="connsiteY48" fmla="*/ 1881894 h 1997836"/>
                    <a:gd name="connsiteX49" fmla="*/ 1426783 w 2054040"/>
                    <a:gd name="connsiteY49" fmla="*/ 1919336 h 1997836"/>
                    <a:gd name="connsiteX50" fmla="*/ 1370548 w 2054040"/>
                    <a:gd name="connsiteY50" fmla="*/ 1939356 h 1997836"/>
                    <a:gd name="connsiteX51" fmla="*/ 1268390 w 2054040"/>
                    <a:gd name="connsiteY51" fmla="*/ 1863407 h 1997836"/>
                    <a:gd name="connsiteX52" fmla="*/ 1212079 w 2054040"/>
                    <a:gd name="connsiteY52" fmla="*/ 1877549 h 1997836"/>
                    <a:gd name="connsiteX53" fmla="*/ 1157382 w 2054040"/>
                    <a:gd name="connsiteY53" fmla="*/ 1885703 h 1997836"/>
                    <a:gd name="connsiteX54" fmla="*/ 1092809 w 2054040"/>
                    <a:gd name="connsiteY54" fmla="*/ 1994605 h 1997836"/>
                    <a:gd name="connsiteX55" fmla="*/ 1027020 w 2054040"/>
                    <a:gd name="connsiteY55" fmla="*/ 1997836 h 1997836"/>
                    <a:gd name="connsiteX56" fmla="*/ 961235 w 2054040"/>
                    <a:gd name="connsiteY56" fmla="*/ 1994605 h 1997836"/>
                    <a:gd name="connsiteX57" fmla="*/ 896660 w 2054040"/>
                    <a:gd name="connsiteY57" fmla="*/ 1885703 h 1997836"/>
                    <a:gd name="connsiteX58" fmla="*/ 841963 w 2054040"/>
                    <a:gd name="connsiteY58" fmla="*/ 1877549 h 1997836"/>
                    <a:gd name="connsiteX59" fmla="*/ 785652 w 2054040"/>
                    <a:gd name="connsiteY59" fmla="*/ 1863407 h 1997836"/>
                    <a:gd name="connsiteX60" fmla="*/ 683494 w 2054040"/>
                    <a:gd name="connsiteY60" fmla="*/ 1939356 h 1997836"/>
                    <a:gd name="connsiteX61" fmla="*/ 627258 w 2054040"/>
                    <a:gd name="connsiteY61" fmla="*/ 1919336 h 1997836"/>
                    <a:gd name="connsiteX62" fmla="*/ 556335 w 2054040"/>
                    <a:gd name="connsiteY62" fmla="*/ 1881894 h 1997836"/>
                    <a:gd name="connsiteX63" fmla="*/ 541439 w 2054040"/>
                    <a:gd name="connsiteY63" fmla="*/ 1759107 h 1997836"/>
                    <a:gd name="connsiteX64" fmla="*/ 513623 w 2054040"/>
                    <a:gd name="connsiteY64" fmla="*/ 1742602 h 1997836"/>
                    <a:gd name="connsiteX65" fmla="*/ 468565 w 2054040"/>
                    <a:gd name="connsiteY65" fmla="*/ 1706292 h 1997836"/>
                    <a:gd name="connsiteX66" fmla="*/ 343808 w 2054040"/>
                    <a:gd name="connsiteY66" fmla="*/ 1739769 h 1997836"/>
                    <a:gd name="connsiteX67" fmla="*/ 300808 w 2054040"/>
                    <a:gd name="connsiteY67" fmla="*/ 1705260 h 1997836"/>
                    <a:gd name="connsiteX68" fmla="*/ 235673 w 2054040"/>
                    <a:gd name="connsiteY68" fmla="*/ 1628476 h 1997836"/>
                    <a:gd name="connsiteX69" fmla="*/ 272594 w 2054040"/>
                    <a:gd name="connsiteY69" fmla="*/ 1508636 h 1997836"/>
                    <a:gd name="connsiteX70" fmla="*/ 265601 w 2054040"/>
                    <a:gd name="connsiteY70" fmla="*/ 1500357 h 1997836"/>
                    <a:gd name="connsiteX71" fmla="*/ 237205 w 2054040"/>
                    <a:gd name="connsiteY71" fmla="*/ 1454705 h 1997836"/>
                    <a:gd name="connsiteX72" fmla="*/ 110613 w 2054040"/>
                    <a:gd name="connsiteY72" fmla="*/ 1441329 h 1997836"/>
                    <a:gd name="connsiteX73" fmla="*/ 80708 w 2054040"/>
                    <a:gd name="connsiteY73" fmla="*/ 1387742 h 1997836"/>
                    <a:gd name="connsiteX74" fmla="*/ 46173 w 2054040"/>
                    <a:gd name="connsiteY74" fmla="*/ 1295966 h 1997836"/>
                    <a:gd name="connsiteX75" fmla="*/ 44579 w 2054040"/>
                    <a:gd name="connsiteY75" fmla="*/ 1289937 h 1997836"/>
                    <a:gd name="connsiteX76" fmla="*/ 130091 w 2054040"/>
                    <a:gd name="connsiteY76" fmla="*/ 1189756 h 1997836"/>
                    <a:gd name="connsiteX77" fmla="*/ 127435 w 2054040"/>
                    <a:gd name="connsiteY77" fmla="*/ 1179666 h 1997836"/>
                    <a:gd name="connsiteX78" fmla="*/ 121834 w 2054040"/>
                    <a:gd name="connsiteY78" fmla="*/ 1143824 h 1997836"/>
                    <a:gd name="connsiteX79" fmla="*/ 4373 w 2054040"/>
                    <a:gd name="connsiteY79" fmla="*/ 1083162 h 1997836"/>
                    <a:gd name="connsiteX80" fmla="*/ 0 w 2054040"/>
                    <a:gd name="connsiteY80" fmla="*/ 998918 h 1997836"/>
                    <a:gd name="connsiteX81" fmla="*/ 4373 w 2054040"/>
                    <a:gd name="connsiteY81" fmla="*/ 914672 h 1997836"/>
                    <a:gd name="connsiteX82" fmla="*/ 121835 w 2054040"/>
                    <a:gd name="connsiteY82" fmla="*/ 854009 h 1997836"/>
                    <a:gd name="connsiteX83" fmla="*/ 127435 w 2054040"/>
                    <a:gd name="connsiteY83" fmla="*/ 818172 h 1997836"/>
                    <a:gd name="connsiteX84" fmla="*/ 130092 w 2054040"/>
                    <a:gd name="connsiteY84" fmla="*/ 808079 h 1997836"/>
                    <a:gd name="connsiteX85" fmla="*/ 44580 w 2054040"/>
                    <a:gd name="connsiteY85" fmla="*/ 707898 h 1997836"/>
                    <a:gd name="connsiteX86" fmla="*/ 46173 w 2054040"/>
                    <a:gd name="connsiteY86" fmla="*/ 701871 h 1997836"/>
                    <a:gd name="connsiteX87" fmla="*/ 80708 w 2054040"/>
                    <a:gd name="connsiteY87" fmla="*/ 610094 h 1997836"/>
                    <a:gd name="connsiteX88" fmla="*/ 110614 w 2054040"/>
                    <a:gd name="connsiteY88" fmla="*/ 556505 h 1997836"/>
                    <a:gd name="connsiteX89" fmla="*/ 237208 w 2054040"/>
                    <a:gd name="connsiteY89" fmla="*/ 543129 h 1997836"/>
                    <a:gd name="connsiteX90" fmla="*/ 265601 w 2054040"/>
                    <a:gd name="connsiteY90" fmla="*/ 497481 h 1997836"/>
                    <a:gd name="connsiteX91" fmla="*/ 272595 w 2054040"/>
                    <a:gd name="connsiteY91" fmla="*/ 489201 h 1997836"/>
                    <a:gd name="connsiteX92" fmla="*/ 235673 w 2054040"/>
                    <a:gd name="connsiteY92" fmla="*/ 369359 h 1997836"/>
                    <a:gd name="connsiteX93" fmla="*/ 300808 w 2054040"/>
                    <a:gd name="connsiteY93" fmla="*/ 292576 h 1997836"/>
                    <a:gd name="connsiteX94" fmla="*/ 343811 w 2054040"/>
                    <a:gd name="connsiteY94" fmla="*/ 258066 h 1997836"/>
                    <a:gd name="connsiteX95" fmla="*/ 468569 w 2054040"/>
                    <a:gd name="connsiteY95" fmla="*/ 291544 h 1997836"/>
                    <a:gd name="connsiteX96" fmla="*/ 513623 w 2054040"/>
                    <a:gd name="connsiteY96" fmla="*/ 255236 h 1997836"/>
                    <a:gd name="connsiteX97" fmla="*/ 541438 w 2054040"/>
                    <a:gd name="connsiteY97" fmla="*/ 238732 h 1997836"/>
                    <a:gd name="connsiteX98" fmla="*/ 556335 w 2054040"/>
                    <a:gd name="connsiteY98" fmla="*/ 115942 h 1997836"/>
                    <a:gd name="connsiteX99" fmla="*/ 627258 w 2054040"/>
                    <a:gd name="connsiteY99" fmla="*/ 78500 h 1997836"/>
                    <a:gd name="connsiteX100" fmla="*/ 683496 w 2054040"/>
                    <a:gd name="connsiteY100" fmla="*/ 58479 h 1997836"/>
                    <a:gd name="connsiteX101" fmla="*/ 785656 w 2054040"/>
                    <a:gd name="connsiteY101" fmla="*/ 134430 h 1997836"/>
                    <a:gd name="connsiteX102" fmla="*/ 841963 w 2054040"/>
                    <a:gd name="connsiteY102" fmla="*/ 120289 h 1997836"/>
                    <a:gd name="connsiteX103" fmla="*/ 896657 w 2054040"/>
                    <a:gd name="connsiteY103" fmla="*/ 112136 h 1997836"/>
                    <a:gd name="connsiteX104" fmla="*/ 961233 w 2054040"/>
                    <a:gd name="connsiteY104" fmla="*/ 3231 h 199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054040" h="1997836">
                      <a:moveTo>
                        <a:pt x="1027020" y="382963"/>
                      </a:moveTo>
                      <a:cubicBezTo>
                        <a:pt x="681644" y="382963"/>
                        <a:pt x="401662" y="658736"/>
                        <a:pt x="401662" y="998919"/>
                      </a:cubicBezTo>
                      <a:cubicBezTo>
                        <a:pt x="401662" y="1339102"/>
                        <a:pt x="681644" y="1614875"/>
                        <a:pt x="1027020" y="1614875"/>
                      </a:cubicBezTo>
                      <a:cubicBezTo>
                        <a:pt x="1372396" y="1614875"/>
                        <a:pt x="1652378" y="1339102"/>
                        <a:pt x="1652378" y="998919"/>
                      </a:cubicBezTo>
                      <a:cubicBezTo>
                        <a:pt x="1652378" y="658736"/>
                        <a:pt x="1372396" y="382963"/>
                        <a:pt x="1027020" y="382963"/>
                      </a:cubicBezTo>
                      <a:close/>
                      <a:moveTo>
                        <a:pt x="1027020" y="0"/>
                      </a:moveTo>
                      <a:lnTo>
                        <a:pt x="1092810" y="3231"/>
                      </a:lnTo>
                      <a:lnTo>
                        <a:pt x="1157385" y="112136"/>
                      </a:lnTo>
                      <a:lnTo>
                        <a:pt x="1212079" y="120289"/>
                      </a:lnTo>
                      <a:lnTo>
                        <a:pt x="1268386" y="134430"/>
                      </a:lnTo>
                      <a:lnTo>
                        <a:pt x="1370546" y="58480"/>
                      </a:lnTo>
                      <a:lnTo>
                        <a:pt x="1426783" y="78500"/>
                      </a:lnTo>
                      <a:lnTo>
                        <a:pt x="1497706" y="115943"/>
                      </a:lnTo>
                      <a:lnTo>
                        <a:pt x="1512603" y="238731"/>
                      </a:lnTo>
                      <a:lnTo>
                        <a:pt x="1540419" y="255236"/>
                      </a:lnTo>
                      <a:lnTo>
                        <a:pt x="1585473" y="291543"/>
                      </a:lnTo>
                      <a:lnTo>
                        <a:pt x="1710231" y="258066"/>
                      </a:lnTo>
                      <a:lnTo>
                        <a:pt x="1753233" y="292576"/>
                      </a:lnTo>
                      <a:lnTo>
                        <a:pt x="1818368" y="369360"/>
                      </a:lnTo>
                      <a:lnTo>
                        <a:pt x="1781447" y="489200"/>
                      </a:lnTo>
                      <a:lnTo>
                        <a:pt x="1788442" y="497481"/>
                      </a:lnTo>
                      <a:lnTo>
                        <a:pt x="1816835" y="543129"/>
                      </a:lnTo>
                      <a:lnTo>
                        <a:pt x="1943426" y="556505"/>
                      </a:lnTo>
                      <a:lnTo>
                        <a:pt x="1973332" y="610094"/>
                      </a:lnTo>
                      <a:cubicBezTo>
                        <a:pt x="1986324" y="639971"/>
                        <a:pt x="1997865" y="670591"/>
                        <a:pt x="2007868" y="701871"/>
                      </a:cubicBezTo>
                      <a:lnTo>
                        <a:pt x="2009461" y="707899"/>
                      </a:lnTo>
                      <a:lnTo>
                        <a:pt x="1923950" y="808078"/>
                      </a:lnTo>
                      <a:lnTo>
                        <a:pt x="1926608" y="818172"/>
                      </a:lnTo>
                      <a:lnTo>
                        <a:pt x="1932207" y="854010"/>
                      </a:lnTo>
                      <a:lnTo>
                        <a:pt x="2049666" y="914671"/>
                      </a:lnTo>
                      <a:lnTo>
                        <a:pt x="2054040" y="998918"/>
                      </a:lnTo>
                      <a:lnTo>
                        <a:pt x="2049666" y="1083163"/>
                      </a:lnTo>
                      <a:lnTo>
                        <a:pt x="1932208" y="1143824"/>
                      </a:lnTo>
                      <a:lnTo>
                        <a:pt x="1926608" y="1179666"/>
                      </a:lnTo>
                      <a:lnTo>
                        <a:pt x="1923951" y="1189756"/>
                      </a:lnTo>
                      <a:lnTo>
                        <a:pt x="2009462" y="1289936"/>
                      </a:lnTo>
                      <a:lnTo>
                        <a:pt x="2007868" y="1295966"/>
                      </a:lnTo>
                      <a:cubicBezTo>
                        <a:pt x="1997865" y="1327245"/>
                        <a:pt x="1986324" y="1357865"/>
                        <a:pt x="1973332" y="1387742"/>
                      </a:cubicBezTo>
                      <a:lnTo>
                        <a:pt x="1943428" y="1441330"/>
                      </a:lnTo>
                      <a:lnTo>
                        <a:pt x="1816837" y="1454705"/>
                      </a:lnTo>
                      <a:lnTo>
                        <a:pt x="1788442" y="1500357"/>
                      </a:lnTo>
                      <a:lnTo>
                        <a:pt x="1781447" y="1508637"/>
                      </a:lnTo>
                      <a:lnTo>
                        <a:pt x="1818368" y="1628475"/>
                      </a:lnTo>
                      <a:lnTo>
                        <a:pt x="1753233" y="1705260"/>
                      </a:lnTo>
                      <a:lnTo>
                        <a:pt x="1710232" y="1739768"/>
                      </a:lnTo>
                      <a:lnTo>
                        <a:pt x="1585477" y="1706292"/>
                      </a:lnTo>
                      <a:lnTo>
                        <a:pt x="1540419" y="1742602"/>
                      </a:lnTo>
                      <a:lnTo>
                        <a:pt x="1512603" y="1759107"/>
                      </a:lnTo>
                      <a:lnTo>
                        <a:pt x="1497706" y="1881894"/>
                      </a:lnTo>
                      <a:lnTo>
                        <a:pt x="1426783" y="1919336"/>
                      </a:lnTo>
                      <a:lnTo>
                        <a:pt x="1370548" y="1939356"/>
                      </a:lnTo>
                      <a:lnTo>
                        <a:pt x="1268390" y="1863407"/>
                      </a:lnTo>
                      <a:lnTo>
                        <a:pt x="1212079" y="1877549"/>
                      </a:lnTo>
                      <a:lnTo>
                        <a:pt x="1157382" y="1885703"/>
                      </a:lnTo>
                      <a:lnTo>
                        <a:pt x="1092809" y="1994605"/>
                      </a:lnTo>
                      <a:lnTo>
                        <a:pt x="1027020" y="1997836"/>
                      </a:lnTo>
                      <a:lnTo>
                        <a:pt x="961235" y="1994605"/>
                      </a:lnTo>
                      <a:lnTo>
                        <a:pt x="896660" y="1885703"/>
                      </a:lnTo>
                      <a:lnTo>
                        <a:pt x="841963" y="1877549"/>
                      </a:lnTo>
                      <a:lnTo>
                        <a:pt x="785652" y="1863407"/>
                      </a:lnTo>
                      <a:lnTo>
                        <a:pt x="683494" y="1939356"/>
                      </a:lnTo>
                      <a:lnTo>
                        <a:pt x="627258" y="1919336"/>
                      </a:lnTo>
                      <a:lnTo>
                        <a:pt x="556335" y="1881894"/>
                      </a:lnTo>
                      <a:lnTo>
                        <a:pt x="541439" y="1759107"/>
                      </a:lnTo>
                      <a:lnTo>
                        <a:pt x="513623" y="1742602"/>
                      </a:lnTo>
                      <a:lnTo>
                        <a:pt x="468565" y="1706292"/>
                      </a:lnTo>
                      <a:lnTo>
                        <a:pt x="343808" y="1739769"/>
                      </a:lnTo>
                      <a:lnTo>
                        <a:pt x="300808" y="1705260"/>
                      </a:lnTo>
                      <a:lnTo>
                        <a:pt x="235673" y="1628476"/>
                      </a:lnTo>
                      <a:lnTo>
                        <a:pt x="272594" y="1508636"/>
                      </a:lnTo>
                      <a:lnTo>
                        <a:pt x="265601" y="1500357"/>
                      </a:lnTo>
                      <a:lnTo>
                        <a:pt x="237205" y="1454705"/>
                      </a:lnTo>
                      <a:lnTo>
                        <a:pt x="110613" y="1441329"/>
                      </a:lnTo>
                      <a:lnTo>
                        <a:pt x="80708" y="1387742"/>
                      </a:lnTo>
                      <a:cubicBezTo>
                        <a:pt x="67716" y="1357865"/>
                        <a:pt x="56175" y="1327245"/>
                        <a:pt x="46173" y="1295966"/>
                      </a:cubicBezTo>
                      <a:lnTo>
                        <a:pt x="44579" y="1289937"/>
                      </a:lnTo>
                      <a:lnTo>
                        <a:pt x="130091" y="1189756"/>
                      </a:lnTo>
                      <a:lnTo>
                        <a:pt x="127435" y="1179666"/>
                      </a:lnTo>
                      <a:lnTo>
                        <a:pt x="121834" y="1143824"/>
                      </a:lnTo>
                      <a:lnTo>
                        <a:pt x="4373" y="1083162"/>
                      </a:lnTo>
                      <a:lnTo>
                        <a:pt x="0" y="998918"/>
                      </a:lnTo>
                      <a:lnTo>
                        <a:pt x="4373" y="914672"/>
                      </a:lnTo>
                      <a:lnTo>
                        <a:pt x="121835" y="854009"/>
                      </a:lnTo>
                      <a:lnTo>
                        <a:pt x="127435" y="818172"/>
                      </a:lnTo>
                      <a:lnTo>
                        <a:pt x="130092" y="808079"/>
                      </a:lnTo>
                      <a:lnTo>
                        <a:pt x="44580" y="707898"/>
                      </a:lnTo>
                      <a:lnTo>
                        <a:pt x="46173" y="701871"/>
                      </a:lnTo>
                      <a:cubicBezTo>
                        <a:pt x="56175" y="670591"/>
                        <a:pt x="67716" y="639971"/>
                        <a:pt x="80708" y="610094"/>
                      </a:cubicBezTo>
                      <a:lnTo>
                        <a:pt x="110614" y="556505"/>
                      </a:lnTo>
                      <a:lnTo>
                        <a:pt x="237208" y="543129"/>
                      </a:lnTo>
                      <a:lnTo>
                        <a:pt x="265601" y="497481"/>
                      </a:lnTo>
                      <a:lnTo>
                        <a:pt x="272595" y="489201"/>
                      </a:lnTo>
                      <a:lnTo>
                        <a:pt x="235673" y="369359"/>
                      </a:lnTo>
                      <a:lnTo>
                        <a:pt x="300808" y="292576"/>
                      </a:lnTo>
                      <a:lnTo>
                        <a:pt x="343811" y="258066"/>
                      </a:lnTo>
                      <a:lnTo>
                        <a:pt x="468569" y="291544"/>
                      </a:lnTo>
                      <a:lnTo>
                        <a:pt x="513623" y="255236"/>
                      </a:lnTo>
                      <a:lnTo>
                        <a:pt x="541438" y="238732"/>
                      </a:lnTo>
                      <a:lnTo>
                        <a:pt x="556335" y="115942"/>
                      </a:lnTo>
                      <a:lnTo>
                        <a:pt x="627258" y="78500"/>
                      </a:lnTo>
                      <a:lnTo>
                        <a:pt x="683496" y="58479"/>
                      </a:lnTo>
                      <a:lnTo>
                        <a:pt x="785656" y="134430"/>
                      </a:lnTo>
                      <a:lnTo>
                        <a:pt x="841963" y="120289"/>
                      </a:lnTo>
                      <a:lnTo>
                        <a:pt x="896657" y="112136"/>
                      </a:lnTo>
                      <a:lnTo>
                        <a:pt x="961233" y="3231"/>
                      </a:lnTo>
                      <a:close/>
                    </a:path>
                  </a:pathLst>
                </a:cu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47" name="Group 29"/>
                <p:cNvGrpSpPr>
                  <a:grpSpLocks/>
                </p:cNvGrpSpPr>
                <p:nvPr/>
              </p:nvGrpSpPr>
              <p:grpSpPr bwMode="auto">
                <a:xfrm>
                  <a:off x="10046462" y="2310205"/>
                  <a:ext cx="731520" cy="731520"/>
                  <a:chOff x="2899" y="653"/>
                  <a:chExt cx="340" cy="340"/>
                </a:xfrm>
                <a:solidFill>
                  <a:schemeClr val="accent5"/>
                </a:solidFill>
              </p:grpSpPr>
              <p:sp>
                <p:nvSpPr>
                  <p:cNvPr id="148" name="Freeform 30"/>
                  <p:cNvSpPr>
                    <a:spLocks noEditPoints="1"/>
                  </p:cNvSpPr>
                  <p:nvPr/>
                </p:nvSpPr>
                <p:spPr bwMode="auto">
                  <a:xfrm>
                    <a:off x="2963" y="717"/>
                    <a:ext cx="212" cy="213"/>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9" name="Freeform 31"/>
                  <p:cNvSpPr>
                    <a:spLocks noEditPoints="1"/>
                  </p:cNvSpPr>
                  <p:nvPr/>
                </p:nvSpPr>
                <p:spPr bwMode="auto">
                  <a:xfrm>
                    <a:off x="3026" y="781"/>
                    <a:ext cx="85" cy="8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0" name="Freeform 32"/>
                  <p:cNvSpPr>
                    <a:spLocks noEditPoints="1"/>
                  </p:cNvSpPr>
                  <p:nvPr/>
                </p:nvSpPr>
                <p:spPr bwMode="auto">
                  <a:xfrm>
                    <a:off x="2899" y="653"/>
                    <a:ext cx="340" cy="340"/>
                  </a:xfrm>
                  <a:custGeom>
                    <a:avLst/>
                    <a:gdLst>
                      <a:gd name="T0" fmla="*/ 256 w 512"/>
                      <a:gd name="T1" fmla="*/ 21 h 512"/>
                      <a:gd name="T2" fmla="*/ 490 w 512"/>
                      <a:gd name="T3" fmla="*/ 256 h 512"/>
                      <a:gd name="T4" fmla="*/ 256 w 512"/>
                      <a:gd name="T5" fmla="*/ 491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7"/>
                          <a:pt x="490" y="256"/>
                        </a:cubicBezTo>
                        <a:cubicBezTo>
                          <a:pt x="490" y="385"/>
                          <a:pt x="385" y="491"/>
                          <a:pt x="256" y="491"/>
                        </a:cubicBezTo>
                        <a:cubicBezTo>
                          <a:pt x="126" y="491"/>
                          <a:pt x="21" y="385"/>
                          <a:pt x="21" y="256"/>
                        </a:cubicBezTo>
                        <a:cubicBezTo>
                          <a:pt x="21" y="127"/>
                          <a:pt x="126" y="21"/>
                          <a:pt x="256" y="21"/>
                        </a:cubicBezTo>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nvGrpSpPr>
              <p:cNvPr id="9" name="Group 8"/>
              <p:cNvGrpSpPr/>
              <p:nvPr/>
            </p:nvGrpSpPr>
            <p:grpSpPr>
              <a:xfrm>
                <a:off x="4931675" y="1420008"/>
                <a:ext cx="1737360" cy="1737360"/>
                <a:chOff x="4712433" y="1624405"/>
                <a:chExt cx="1737360" cy="1737360"/>
              </a:xfrm>
            </p:grpSpPr>
            <p:sp>
              <p:nvSpPr>
                <p:cNvPr id="124" name="Freeform 123"/>
                <p:cNvSpPr/>
                <p:nvPr/>
              </p:nvSpPr>
              <p:spPr bwMode="gray">
                <a:xfrm>
                  <a:off x="4712433" y="1624405"/>
                  <a:ext cx="1737360" cy="1737360"/>
                </a:xfrm>
                <a:custGeom>
                  <a:avLst/>
                  <a:gdLst>
                    <a:gd name="connsiteX0" fmla="*/ 1027020 w 2054040"/>
                    <a:gd name="connsiteY0" fmla="*/ 382963 h 1997836"/>
                    <a:gd name="connsiteX1" fmla="*/ 401662 w 2054040"/>
                    <a:gd name="connsiteY1" fmla="*/ 998919 h 1997836"/>
                    <a:gd name="connsiteX2" fmla="*/ 1027020 w 2054040"/>
                    <a:gd name="connsiteY2" fmla="*/ 1614875 h 1997836"/>
                    <a:gd name="connsiteX3" fmla="*/ 1652378 w 2054040"/>
                    <a:gd name="connsiteY3" fmla="*/ 998919 h 1997836"/>
                    <a:gd name="connsiteX4" fmla="*/ 1027020 w 2054040"/>
                    <a:gd name="connsiteY4" fmla="*/ 382963 h 1997836"/>
                    <a:gd name="connsiteX5" fmla="*/ 1027020 w 2054040"/>
                    <a:gd name="connsiteY5" fmla="*/ 0 h 1997836"/>
                    <a:gd name="connsiteX6" fmla="*/ 1092810 w 2054040"/>
                    <a:gd name="connsiteY6" fmla="*/ 3231 h 1997836"/>
                    <a:gd name="connsiteX7" fmla="*/ 1157385 w 2054040"/>
                    <a:gd name="connsiteY7" fmla="*/ 112136 h 1997836"/>
                    <a:gd name="connsiteX8" fmla="*/ 1212079 w 2054040"/>
                    <a:gd name="connsiteY8" fmla="*/ 120289 h 1997836"/>
                    <a:gd name="connsiteX9" fmla="*/ 1268386 w 2054040"/>
                    <a:gd name="connsiteY9" fmla="*/ 134430 h 1997836"/>
                    <a:gd name="connsiteX10" fmla="*/ 1370546 w 2054040"/>
                    <a:gd name="connsiteY10" fmla="*/ 58480 h 1997836"/>
                    <a:gd name="connsiteX11" fmla="*/ 1426783 w 2054040"/>
                    <a:gd name="connsiteY11" fmla="*/ 78500 h 1997836"/>
                    <a:gd name="connsiteX12" fmla="*/ 1497706 w 2054040"/>
                    <a:gd name="connsiteY12" fmla="*/ 115943 h 1997836"/>
                    <a:gd name="connsiteX13" fmla="*/ 1512603 w 2054040"/>
                    <a:gd name="connsiteY13" fmla="*/ 238731 h 1997836"/>
                    <a:gd name="connsiteX14" fmla="*/ 1540419 w 2054040"/>
                    <a:gd name="connsiteY14" fmla="*/ 255236 h 1997836"/>
                    <a:gd name="connsiteX15" fmla="*/ 1585473 w 2054040"/>
                    <a:gd name="connsiteY15" fmla="*/ 291543 h 1997836"/>
                    <a:gd name="connsiteX16" fmla="*/ 1710231 w 2054040"/>
                    <a:gd name="connsiteY16" fmla="*/ 258066 h 1997836"/>
                    <a:gd name="connsiteX17" fmla="*/ 1753233 w 2054040"/>
                    <a:gd name="connsiteY17" fmla="*/ 292576 h 1997836"/>
                    <a:gd name="connsiteX18" fmla="*/ 1818368 w 2054040"/>
                    <a:gd name="connsiteY18" fmla="*/ 369360 h 1997836"/>
                    <a:gd name="connsiteX19" fmla="*/ 1781447 w 2054040"/>
                    <a:gd name="connsiteY19" fmla="*/ 489200 h 1997836"/>
                    <a:gd name="connsiteX20" fmla="*/ 1788442 w 2054040"/>
                    <a:gd name="connsiteY20" fmla="*/ 497481 h 1997836"/>
                    <a:gd name="connsiteX21" fmla="*/ 1816835 w 2054040"/>
                    <a:gd name="connsiteY21" fmla="*/ 543129 h 1997836"/>
                    <a:gd name="connsiteX22" fmla="*/ 1943426 w 2054040"/>
                    <a:gd name="connsiteY22" fmla="*/ 556505 h 1997836"/>
                    <a:gd name="connsiteX23" fmla="*/ 1973332 w 2054040"/>
                    <a:gd name="connsiteY23" fmla="*/ 610094 h 1997836"/>
                    <a:gd name="connsiteX24" fmla="*/ 2007868 w 2054040"/>
                    <a:gd name="connsiteY24" fmla="*/ 701871 h 1997836"/>
                    <a:gd name="connsiteX25" fmla="*/ 2009461 w 2054040"/>
                    <a:gd name="connsiteY25" fmla="*/ 707899 h 1997836"/>
                    <a:gd name="connsiteX26" fmla="*/ 1923950 w 2054040"/>
                    <a:gd name="connsiteY26" fmla="*/ 808078 h 1997836"/>
                    <a:gd name="connsiteX27" fmla="*/ 1926608 w 2054040"/>
                    <a:gd name="connsiteY27" fmla="*/ 818172 h 1997836"/>
                    <a:gd name="connsiteX28" fmla="*/ 1932207 w 2054040"/>
                    <a:gd name="connsiteY28" fmla="*/ 854010 h 1997836"/>
                    <a:gd name="connsiteX29" fmla="*/ 2049666 w 2054040"/>
                    <a:gd name="connsiteY29" fmla="*/ 914671 h 1997836"/>
                    <a:gd name="connsiteX30" fmla="*/ 2054040 w 2054040"/>
                    <a:gd name="connsiteY30" fmla="*/ 998918 h 1997836"/>
                    <a:gd name="connsiteX31" fmla="*/ 2049666 w 2054040"/>
                    <a:gd name="connsiteY31" fmla="*/ 1083163 h 1997836"/>
                    <a:gd name="connsiteX32" fmla="*/ 1932208 w 2054040"/>
                    <a:gd name="connsiteY32" fmla="*/ 1143824 h 1997836"/>
                    <a:gd name="connsiteX33" fmla="*/ 1926608 w 2054040"/>
                    <a:gd name="connsiteY33" fmla="*/ 1179666 h 1997836"/>
                    <a:gd name="connsiteX34" fmla="*/ 1923951 w 2054040"/>
                    <a:gd name="connsiteY34" fmla="*/ 1189756 h 1997836"/>
                    <a:gd name="connsiteX35" fmla="*/ 2009462 w 2054040"/>
                    <a:gd name="connsiteY35" fmla="*/ 1289936 h 1997836"/>
                    <a:gd name="connsiteX36" fmla="*/ 2007868 w 2054040"/>
                    <a:gd name="connsiteY36" fmla="*/ 1295966 h 1997836"/>
                    <a:gd name="connsiteX37" fmla="*/ 1973332 w 2054040"/>
                    <a:gd name="connsiteY37" fmla="*/ 1387742 h 1997836"/>
                    <a:gd name="connsiteX38" fmla="*/ 1943428 w 2054040"/>
                    <a:gd name="connsiteY38" fmla="*/ 1441330 h 1997836"/>
                    <a:gd name="connsiteX39" fmla="*/ 1816837 w 2054040"/>
                    <a:gd name="connsiteY39" fmla="*/ 1454705 h 1997836"/>
                    <a:gd name="connsiteX40" fmla="*/ 1788442 w 2054040"/>
                    <a:gd name="connsiteY40" fmla="*/ 1500357 h 1997836"/>
                    <a:gd name="connsiteX41" fmla="*/ 1781447 w 2054040"/>
                    <a:gd name="connsiteY41" fmla="*/ 1508637 h 1997836"/>
                    <a:gd name="connsiteX42" fmla="*/ 1818368 w 2054040"/>
                    <a:gd name="connsiteY42" fmla="*/ 1628475 h 1997836"/>
                    <a:gd name="connsiteX43" fmla="*/ 1753233 w 2054040"/>
                    <a:gd name="connsiteY43" fmla="*/ 1705260 h 1997836"/>
                    <a:gd name="connsiteX44" fmla="*/ 1710232 w 2054040"/>
                    <a:gd name="connsiteY44" fmla="*/ 1739768 h 1997836"/>
                    <a:gd name="connsiteX45" fmla="*/ 1585477 w 2054040"/>
                    <a:gd name="connsiteY45" fmla="*/ 1706292 h 1997836"/>
                    <a:gd name="connsiteX46" fmla="*/ 1540419 w 2054040"/>
                    <a:gd name="connsiteY46" fmla="*/ 1742602 h 1997836"/>
                    <a:gd name="connsiteX47" fmla="*/ 1512603 w 2054040"/>
                    <a:gd name="connsiteY47" fmla="*/ 1759107 h 1997836"/>
                    <a:gd name="connsiteX48" fmla="*/ 1497706 w 2054040"/>
                    <a:gd name="connsiteY48" fmla="*/ 1881894 h 1997836"/>
                    <a:gd name="connsiteX49" fmla="*/ 1426783 w 2054040"/>
                    <a:gd name="connsiteY49" fmla="*/ 1919336 h 1997836"/>
                    <a:gd name="connsiteX50" fmla="*/ 1370548 w 2054040"/>
                    <a:gd name="connsiteY50" fmla="*/ 1939356 h 1997836"/>
                    <a:gd name="connsiteX51" fmla="*/ 1268390 w 2054040"/>
                    <a:gd name="connsiteY51" fmla="*/ 1863407 h 1997836"/>
                    <a:gd name="connsiteX52" fmla="*/ 1212079 w 2054040"/>
                    <a:gd name="connsiteY52" fmla="*/ 1877549 h 1997836"/>
                    <a:gd name="connsiteX53" fmla="*/ 1157382 w 2054040"/>
                    <a:gd name="connsiteY53" fmla="*/ 1885703 h 1997836"/>
                    <a:gd name="connsiteX54" fmla="*/ 1092809 w 2054040"/>
                    <a:gd name="connsiteY54" fmla="*/ 1994605 h 1997836"/>
                    <a:gd name="connsiteX55" fmla="*/ 1027020 w 2054040"/>
                    <a:gd name="connsiteY55" fmla="*/ 1997836 h 1997836"/>
                    <a:gd name="connsiteX56" fmla="*/ 961235 w 2054040"/>
                    <a:gd name="connsiteY56" fmla="*/ 1994605 h 1997836"/>
                    <a:gd name="connsiteX57" fmla="*/ 896660 w 2054040"/>
                    <a:gd name="connsiteY57" fmla="*/ 1885703 h 1997836"/>
                    <a:gd name="connsiteX58" fmla="*/ 841963 w 2054040"/>
                    <a:gd name="connsiteY58" fmla="*/ 1877549 h 1997836"/>
                    <a:gd name="connsiteX59" fmla="*/ 785652 w 2054040"/>
                    <a:gd name="connsiteY59" fmla="*/ 1863407 h 1997836"/>
                    <a:gd name="connsiteX60" fmla="*/ 683494 w 2054040"/>
                    <a:gd name="connsiteY60" fmla="*/ 1939356 h 1997836"/>
                    <a:gd name="connsiteX61" fmla="*/ 627258 w 2054040"/>
                    <a:gd name="connsiteY61" fmla="*/ 1919336 h 1997836"/>
                    <a:gd name="connsiteX62" fmla="*/ 556335 w 2054040"/>
                    <a:gd name="connsiteY62" fmla="*/ 1881894 h 1997836"/>
                    <a:gd name="connsiteX63" fmla="*/ 541439 w 2054040"/>
                    <a:gd name="connsiteY63" fmla="*/ 1759107 h 1997836"/>
                    <a:gd name="connsiteX64" fmla="*/ 513623 w 2054040"/>
                    <a:gd name="connsiteY64" fmla="*/ 1742602 h 1997836"/>
                    <a:gd name="connsiteX65" fmla="*/ 468565 w 2054040"/>
                    <a:gd name="connsiteY65" fmla="*/ 1706292 h 1997836"/>
                    <a:gd name="connsiteX66" fmla="*/ 343808 w 2054040"/>
                    <a:gd name="connsiteY66" fmla="*/ 1739769 h 1997836"/>
                    <a:gd name="connsiteX67" fmla="*/ 300808 w 2054040"/>
                    <a:gd name="connsiteY67" fmla="*/ 1705260 h 1997836"/>
                    <a:gd name="connsiteX68" fmla="*/ 235673 w 2054040"/>
                    <a:gd name="connsiteY68" fmla="*/ 1628476 h 1997836"/>
                    <a:gd name="connsiteX69" fmla="*/ 272594 w 2054040"/>
                    <a:gd name="connsiteY69" fmla="*/ 1508636 h 1997836"/>
                    <a:gd name="connsiteX70" fmla="*/ 265601 w 2054040"/>
                    <a:gd name="connsiteY70" fmla="*/ 1500357 h 1997836"/>
                    <a:gd name="connsiteX71" fmla="*/ 237205 w 2054040"/>
                    <a:gd name="connsiteY71" fmla="*/ 1454705 h 1997836"/>
                    <a:gd name="connsiteX72" fmla="*/ 110613 w 2054040"/>
                    <a:gd name="connsiteY72" fmla="*/ 1441329 h 1997836"/>
                    <a:gd name="connsiteX73" fmla="*/ 80708 w 2054040"/>
                    <a:gd name="connsiteY73" fmla="*/ 1387742 h 1997836"/>
                    <a:gd name="connsiteX74" fmla="*/ 46173 w 2054040"/>
                    <a:gd name="connsiteY74" fmla="*/ 1295966 h 1997836"/>
                    <a:gd name="connsiteX75" fmla="*/ 44579 w 2054040"/>
                    <a:gd name="connsiteY75" fmla="*/ 1289937 h 1997836"/>
                    <a:gd name="connsiteX76" fmla="*/ 130091 w 2054040"/>
                    <a:gd name="connsiteY76" fmla="*/ 1189756 h 1997836"/>
                    <a:gd name="connsiteX77" fmla="*/ 127435 w 2054040"/>
                    <a:gd name="connsiteY77" fmla="*/ 1179666 h 1997836"/>
                    <a:gd name="connsiteX78" fmla="*/ 121834 w 2054040"/>
                    <a:gd name="connsiteY78" fmla="*/ 1143824 h 1997836"/>
                    <a:gd name="connsiteX79" fmla="*/ 4373 w 2054040"/>
                    <a:gd name="connsiteY79" fmla="*/ 1083162 h 1997836"/>
                    <a:gd name="connsiteX80" fmla="*/ 0 w 2054040"/>
                    <a:gd name="connsiteY80" fmla="*/ 998918 h 1997836"/>
                    <a:gd name="connsiteX81" fmla="*/ 4373 w 2054040"/>
                    <a:gd name="connsiteY81" fmla="*/ 914672 h 1997836"/>
                    <a:gd name="connsiteX82" fmla="*/ 121835 w 2054040"/>
                    <a:gd name="connsiteY82" fmla="*/ 854009 h 1997836"/>
                    <a:gd name="connsiteX83" fmla="*/ 127435 w 2054040"/>
                    <a:gd name="connsiteY83" fmla="*/ 818172 h 1997836"/>
                    <a:gd name="connsiteX84" fmla="*/ 130092 w 2054040"/>
                    <a:gd name="connsiteY84" fmla="*/ 808079 h 1997836"/>
                    <a:gd name="connsiteX85" fmla="*/ 44580 w 2054040"/>
                    <a:gd name="connsiteY85" fmla="*/ 707898 h 1997836"/>
                    <a:gd name="connsiteX86" fmla="*/ 46173 w 2054040"/>
                    <a:gd name="connsiteY86" fmla="*/ 701871 h 1997836"/>
                    <a:gd name="connsiteX87" fmla="*/ 80708 w 2054040"/>
                    <a:gd name="connsiteY87" fmla="*/ 610094 h 1997836"/>
                    <a:gd name="connsiteX88" fmla="*/ 110614 w 2054040"/>
                    <a:gd name="connsiteY88" fmla="*/ 556505 h 1997836"/>
                    <a:gd name="connsiteX89" fmla="*/ 237208 w 2054040"/>
                    <a:gd name="connsiteY89" fmla="*/ 543129 h 1997836"/>
                    <a:gd name="connsiteX90" fmla="*/ 265601 w 2054040"/>
                    <a:gd name="connsiteY90" fmla="*/ 497481 h 1997836"/>
                    <a:gd name="connsiteX91" fmla="*/ 272595 w 2054040"/>
                    <a:gd name="connsiteY91" fmla="*/ 489201 h 1997836"/>
                    <a:gd name="connsiteX92" fmla="*/ 235673 w 2054040"/>
                    <a:gd name="connsiteY92" fmla="*/ 369359 h 1997836"/>
                    <a:gd name="connsiteX93" fmla="*/ 300808 w 2054040"/>
                    <a:gd name="connsiteY93" fmla="*/ 292576 h 1997836"/>
                    <a:gd name="connsiteX94" fmla="*/ 343811 w 2054040"/>
                    <a:gd name="connsiteY94" fmla="*/ 258066 h 1997836"/>
                    <a:gd name="connsiteX95" fmla="*/ 468569 w 2054040"/>
                    <a:gd name="connsiteY95" fmla="*/ 291544 h 1997836"/>
                    <a:gd name="connsiteX96" fmla="*/ 513623 w 2054040"/>
                    <a:gd name="connsiteY96" fmla="*/ 255236 h 1997836"/>
                    <a:gd name="connsiteX97" fmla="*/ 541438 w 2054040"/>
                    <a:gd name="connsiteY97" fmla="*/ 238732 h 1997836"/>
                    <a:gd name="connsiteX98" fmla="*/ 556335 w 2054040"/>
                    <a:gd name="connsiteY98" fmla="*/ 115942 h 1997836"/>
                    <a:gd name="connsiteX99" fmla="*/ 627258 w 2054040"/>
                    <a:gd name="connsiteY99" fmla="*/ 78500 h 1997836"/>
                    <a:gd name="connsiteX100" fmla="*/ 683496 w 2054040"/>
                    <a:gd name="connsiteY100" fmla="*/ 58479 h 1997836"/>
                    <a:gd name="connsiteX101" fmla="*/ 785656 w 2054040"/>
                    <a:gd name="connsiteY101" fmla="*/ 134430 h 1997836"/>
                    <a:gd name="connsiteX102" fmla="*/ 841963 w 2054040"/>
                    <a:gd name="connsiteY102" fmla="*/ 120289 h 1997836"/>
                    <a:gd name="connsiteX103" fmla="*/ 896657 w 2054040"/>
                    <a:gd name="connsiteY103" fmla="*/ 112136 h 1997836"/>
                    <a:gd name="connsiteX104" fmla="*/ 961233 w 2054040"/>
                    <a:gd name="connsiteY104" fmla="*/ 3231 h 199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054040" h="1997836">
                      <a:moveTo>
                        <a:pt x="1027020" y="382963"/>
                      </a:moveTo>
                      <a:cubicBezTo>
                        <a:pt x="681644" y="382963"/>
                        <a:pt x="401662" y="658736"/>
                        <a:pt x="401662" y="998919"/>
                      </a:cubicBezTo>
                      <a:cubicBezTo>
                        <a:pt x="401662" y="1339102"/>
                        <a:pt x="681644" y="1614875"/>
                        <a:pt x="1027020" y="1614875"/>
                      </a:cubicBezTo>
                      <a:cubicBezTo>
                        <a:pt x="1372396" y="1614875"/>
                        <a:pt x="1652378" y="1339102"/>
                        <a:pt x="1652378" y="998919"/>
                      </a:cubicBezTo>
                      <a:cubicBezTo>
                        <a:pt x="1652378" y="658736"/>
                        <a:pt x="1372396" y="382963"/>
                        <a:pt x="1027020" y="382963"/>
                      </a:cubicBezTo>
                      <a:close/>
                      <a:moveTo>
                        <a:pt x="1027020" y="0"/>
                      </a:moveTo>
                      <a:lnTo>
                        <a:pt x="1092810" y="3231"/>
                      </a:lnTo>
                      <a:lnTo>
                        <a:pt x="1157385" y="112136"/>
                      </a:lnTo>
                      <a:lnTo>
                        <a:pt x="1212079" y="120289"/>
                      </a:lnTo>
                      <a:lnTo>
                        <a:pt x="1268386" y="134430"/>
                      </a:lnTo>
                      <a:lnTo>
                        <a:pt x="1370546" y="58480"/>
                      </a:lnTo>
                      <a:lnTo>
                        <a:pt x="1426783" y="78500"/>
                      </a:lnTo>
                      <a:lnTo>
                        <a:pt x="1497706" y="115943"/>
                      </a:lnTo>
                      <a:lnTo>
                        <a:pt x="1512603" y="238731"/>
                      </a:lnTo>
                      <a:lnTo>
                        <a:pt x="1540419" y="255236"/>
                      </a:lnTo>
                      <a:lnTo>
                        <a:pt x="1585473" y="291543"/>
                      </a:lnTo>
                      <a:lnTo>
                        <a:pt x="1710231" y="258066"/>
                      </a:lnTo>
                      <a:lnTo>
                        <a:pt x="1753233" y="292576"/>
                      </a:lnTo>
                      <a:lnTo>
                        <a:pt x="1818368" y="369360"/>
                      </a:lnTo>
                      <a:lnTo>
                        <a:pt x="1781447" y="489200"/>
                      </a:lnTo>
                      <a:lnTo>
                        <a:pt x="1788442" y="497481"/>
                      </a:lnTo>
                      <a:lnTo>
                        <a:pt x="1816835" y="543129"/>
                      </a:lnTo>
                      <a:lnTo>
                        <a:pt x="1943426" y="556505"/>
                      </a:lnTo>
                      <a:lnTo>
                        <a:pt x="1973332" y="610094"/>
                      </a:lnTo>
                      <a:cubicBezTo>
                        <a:pt x="1986324" y="639971"/>
                        <a:pt x="1997865" y="670591"/>
                        <a:pt x="2007868" y="701871"/>
                      </a:cubicBezTo>
                      <a:lnTo>
                        <a:pt x="2009461" y="707899"/>
                      </a:lnTo>
                      <a:lnTo>
                        <a:pt x="1923950" y="808078"/>
                      </a:lnTo>
                      <a:lnTo>
                        <a:pt x="1926608" y="818172"/>
                      </a:lnTo>
                      <a:lnTo>
                        <a:pt x="1932207" y="854010"/>
                      </a:lnTo>
                      <a:lnTo>
                        <a:pt x="2049666" y="914671"/>
                      </a:lnTo>
                      <a:lnTo>
                        <a:pt x="2054040" y="998918"/>
                      </a:lnTo>
                      <a:lnTo>
                        <a:pt x="2049666" y="1083163"/>
                      </a:lnTo>
                      <a:lnTo>
                        <a:pt x="1932208" y="1143824"/>
                      </a:lnTo>
                      <a:lnTo>
                        <a:pt x="1926608" y="1179666"/>
                      </a:lnTo>
                      <a:lnTo>
                        <a:pt x="1923951" y="1189756"/>
                      </a:lnTo>
                      <a:lnTo>
                        <a:pt x="2009462" y="1289936"/>
                      </a:lnTo>
                      <a:lnTo>
                        <a:pt x="2007868" y="1295966"/>
                      </a:lnTo>
                      <a:cubicBezTo>
                        <a:pt x="1997865" y="1327245"/>
                        <a:pt x="1986324" y="1357865"/>
                        <a:pt x="1973332" y="1387742"/>
                      </a:cubicBezTo>
                      <a:lnTo>
                        <a:pt x="1943428" y="1441330"/>
                      </a:lnTo>
                      <a:lnTo>
                        <a:pt x="1816837" y="1454705"/>
                      </a:lnTo>
                      <a:lnTo>
                        <a:pt x="1788442" y="1500357"/>
                      </a:lnTo>
                      <a:lnTo>
                        <a:pt x="1781447" y="1508637"/>
                      </a:lnTo>
                      <a:lnTo>
                        <a:pt x="1818368" y="1628475"/>
                      </a:lnTo>
                      <a:lnTo>
                        <a:pt x="1753233" y="1705260"/>
                      </a:lnTo>
                      <a:lnTo>
                        <a:pt x="1710232" y="1739768"/>
                      </a:lnTo>
                      <a:lnTo>
                        <a:pt x="1585477" y="1706292"/>
                      </a:lnTo>
                      <a:lnTo>
                        <a:pt x="1540419" y="1742602"/>
                      </a:lnTo>
                      <a:lnTo>
                        <a:pt x="1512603" y="1759107"/>
                      </a:lnTo>
                      <a:lnTo>
                        <a:pt x="1497706" y="1881894"/>
                      </a:lnTo>
                      <a:lnTo>
                        <a:pt x="1426783" y="1919336"/>
                      </a:lnTo>
                      <a:lnTo>
                        <a:pt x="1370548" y="1939356"/>
                      </a:lnTo>
                      <a:lnTo>
                        <a:pt x="1268390" y="1863407"/>
                      </a:lnTo>
                      <a:lnTo>
                        <a:pt x="1212079" y="1877549"/>
                      </a:lnTo>
                      <a:lnTo>
                        <a:pt x="1157382" y="1885703"/>
                      </a:lnTo>
                      <a:lnTo>
                        <a:pt x="1092809" y="1994605"/>
                      </a:lnTo>
                      <a:lnTo>
                        <a:pt x="1027020" y="1997836"/>
                      </a:lnTo>
                      <a:lnTo>
                        <a:pt x="961235" y="1994605"/>
                      </a:lnTo>
                      <a:lnTo>
                        <a:pt x="896660" y="1885703"/>
                      </a:lnTo>
                      <a:lnTo>
                        <a:pt x="841963" y="1877549"/>
                      </a:lnTo>
                      <a:lnTo>
                        <a:pt x="785652" y="1863407"/>
                      </a:lnTo>
                      <a:lnTo>
                        <a:pt x="683494" y="1939356"/>
                      </a:lnTo>
                      <a:lnTo>
                        <a:pt x="627258" y="1919336"/>
                      </a:lnTo>
                      <a:lnTo>
                        <a:pt x="556335" y="1881894"/>
                      </a:lnTo>
                      <a:lnTo>
                        <a:pt x="541439" y="1759107"/>
                      </a:lnTo>
                      <a:lnTo>
                        <a:pt x="513623" y="1742602"/>
                      </a:lnTo>
                      <a:lnTo>
                        <a:pt x="468565" y="1706292"/>
                      </a:lnTo>
                      <a:lnTo>
                        <a:pt x="343808" y="1739769"/>
                      </a:lnTo>
                      <a:lnTo>
                        <a:pt x="300808" y="1705260"/>
                      </a:lnTo>
                      <a:lnTo>
                        <a:pt x="235673" y="1628476"/>
                      </a:lnTo>
                      <a:lnTo>
                        <a:pt x="272594" y="1508636"/>
                      </a:lnTo>
                      <a:lnTo>
                        <a:pt x="265601" y="1500357"/>
                      </a:lnTo>
                      <a:lnTo>
                        <a:pt x="237205" y="1454705"/>
                      </a:lnTo>
                      <a:lnTo>
                        <a:pt x="110613" y="1441329"/>
                      </a:lnTo>
                      <a:lnTo>
                        <a:pt x="80708" y="1387742"/>
                      </a:lnTo>
                      <a:cubicBezTo>
                        <a:pt x="67716" y="1357865"/>
                        <a:pt x="56175" y="1327245"/>
                        <a:pt x="46173" y="1295966"/>
                      </a:cubicBezTo>
                      <a:lnTo>
                        <a:pt x="44579" y="1289937"/>
                      </a:lnTo>
                      <a:lnTo>
                        <a:pt x="130091" y="1189756"/>
                      </a:lnTo>
                      <a:lnTo>
                        <a:pt x="127435" y="1179666"/>
                      </a:lnTo>
                      <a:lnTo>
                        <a:pt x="121834" y="1143824"/>
                      </a:lnTo>
                      <a:lnTo>
                        <a:pt x="4373" y="1083162"/>
                      </a:lnTo>
                      <a:lnTo>
                        <a:pt x="0" y="998918"/>
                      </a:lnTo>
                      <a:lnTo>
                        <a:pt x="4373" y="914672"/>
                      </a:lnTo>
                      <a:lnTo>
                        <a:pt x="121835" y="854009"/>
                      </a:lnTo>
                      <a:lnTo>
                        <a:pt x="127435" y="818172"/>
                      </a:lnTo>
                      <a:lnTo>
                        <a:pt x="130092" y="808079"/>
                      </a:lnTo>
                      <a:lnTo>
                        <a:pt x="44580" y="707898"/>
                      </a:lnTo>
                      <a:lnTo>
                        <a:pt x="46173" y="701871"/>
                      </a:lnTo>
                      <a:cubicBezTo>
                        <a:pt x="56175" y="670591"/>
                        <a:pt x="67716" y="639971"/>
                        <a:pt x="80708" y="610094"/>
                      </a:cubicBezTo>
                      <a:lnTo>
                        <a:pt x="110614" y="556505"/>
                      </a:lnTo>
                      <a:lnTo>
                        <a:pt x="237208" y="543129"/>
                      </a:lnTo>
                      <a:lnTo>
                        <a:pt x="265601" y="497481"/>
                      </a:lnTo>
                      <a:lnTo>
                        <a:pt x="272595" y="489201"/>
                      </a:lnTo>
                      <a:lnTo>
                        <a:pt x="235673" y="369359"/>
                      </a:lnTo>
                      <a:lnTo>
                        <a:pt x="300808" y="292576"/>
                      </a:lnTo>
                      <a:lnTo>
                        <a:pt x="343811" y="258066"/>
                      </a:lnTo>
                      <a:lnTo>
                        <a:pt x="468569" y="291544"/>
                      </a:lnTo>
                      <a:lnTo>
                        <a:pt x="513623" y="255236"/>
                      </a:lnTo>
                      <a:lnTo>
                        <a:pt x="541438" y="238732"/>
                      </a:lnTo>
                      <a:lnTo>
                        <a:pt x="556335" y="115942"/>
                      </a:lnTo>
                      <a:lnTo>
                        <a:pt x="627258" y="78500"/>
                      </a:lnTo>
                      <a:lnTo>
                        <a:pt x="683496" y="58479"/>
                      </a:lnTo>
                      <a:lnTo>
                        <a:pt x="785656" y="134430"/>
                      </a:lnTo>
                      <a:lnTo>
                        <a:pt x="841963" y="120289"/>
                      </a:lnTo>
                      <a:lnTo>
                        <a:pt x="896657" y="112136"/>
                      </a:lnTo>
                      <a:lnTo>
                        <a:pt x="961233" y="3231"/>
                      </a:lnTo>
                      <a:close/>
                    </a:path>
                  </a:pathLst>
                </a:cu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c</a:t>
                  </a:r>
                </a:p>
              </p:txBody>
            </p:sp>
            <p:grpSp>
              <p:nvGrpSpPr>
                <p:cNvPr id="151" name="Group 226"/>
                <p:cNvGrpSpPr>
                  <a:grpSpLocks/>
                </p:cNvGrpSpPr>
                <p:nvPr/>
              </p:nvGrpSpPr>
              <p:grpSpPr bwMode="auto">
                <a:xfrm>
                  <a:off x="5212914" y="2127325"/>
                  <a:ext cx="733444" cy="731520"/>
                  <a:chOff x="5048" y="783"/>
                  <a:chExt cx="340" cy="340"/>
                </a:xfrm>
                <a:solidFill>
                  <a:schemeClr val="accent3"/>
                </a:solidFill>
              </p:grpSpPr>
              <p:sp>
                <p:nvSpPr>
                  <p:cNvPr id="152" name="Freeform 227"/>
                  <p:cNvSpPr>
                    <a:spLocks noEditPoints="1"/>
                  </p:cNvSpPr>
                  <p:nvPr/>
                </p:nvSpPr>
                <p:spPr bwMode="auto">
                  <a:xfrm>
                    <a:off x="5112" y="868"/>
                    <a:ext cx="212" cy="127"/>
                  </a:xfrm>
                  <a:custGeom>
                    <a:avLst/>
                    <a:gdLst>
                      <a:gd name="T0" fmla="*/ 282 w 320"/>
                      <a:gd name="T1" fmla="*/ 56 h 192"/>
                      <a:gd name="T2" fmla="*/ 296 w 320"/>
                      <a:gd name="T3" fmla="*/ 38 h 192"/>
                      <a:gd name="T4" fmla="*/ 295 w 320"/>
                      <a:gd name="T5" fmla="*/ 24 h 192"/>
                      <a:gd name="T6" fmla="*/ 281 w 320"/>
                      <a:gd name="T7" fmla="*/ 23 h 192"/>
                      <a:gd name="T8" fmla="*/ 263 w 320"/>
                      <a:gd name="T9" fmla="*/ 37 h 192"/>
                      <a:gd name="T10" fmla="*/ 160 w 320"/>
                      <a:gd name="T11" fmla="*/ 0 h 192"/>
                      <a:gd name="T12" fmla="*/ 0 w 320"/>
                      <a:gd name="T13" fmla="*/ 160 h 192"/>
                      <a:gd name="T14" fmla="*/ 10 w 320"/>
                      <a:gd name="T15" fmla="*/ 170 h 192"/>
                      <a:gd name="T16" fmla="*/ 21 w 320"/>
                      <a:gd name="T17" fmla="*/ 160 h 192"/>
                      <a:gd name="T18" fmla="*/ 160 w 320"/>
                      <a:gd name="T19" fmla="*/ 21 h 192"/>
                      <a:gd name="T20" fmla="*/ 245 w 320"/>
                      <a:gd name="T21" fmla="*/ 51 h 192"/>
                      <a:gd name="T22" fmla="*/ 137 w 320"/>
                      <a:gd name="T23" fmla="*/ 133 h 192"/>
                      <a:gd name="T24" fmla="*/ 136 w 320"/>
                      <a:gd name="T25" fmla="*/ 134 h 192"/>
                      <a:gd name="T26" fmla="*/ 126 w 320"/>
                      <a:gd name="T27" fmla="*/ 158 h 192"/>
                      <a:gd name="T28" fmla="*/ 136 w 320"/>
                      <a:gd name="T29" fmla="*/ 182 h 192"/>
                      <a:gd name="T30" fmla="*/ 160 w 320"/>
                      <a:gd name="T31" fmla="*/ 192 h 192"/>
                      <a:gd name="T32" fmla="*/ 160 w 320"/>
                      <a:gd name="T33" fmla="*/ 192 h 192"/>
                      <a:gd name="T34" fmla="*/ 183 w 320"/>
                      <a:gd name="T35" fmla="*/ 182 h 192"/>
                      <a:gd name="T36" fmla="*/ 184 w 320"/>
                      <a:gd name="T37" fmla="*/ 181 h 192"/>
                      <a:gd name="T38" fmla="*/ 268 w 320"/>
                      <a:gd name="T39" fmla="*/ 74 h 192"/>
                      <a:gd name="T40" fmla="*/ 298 w 320"/>
                      <a:gd name="T41" fmla="*/ 160 h 192"/>
                      <a:gd name="T42" fmla="*/ 309 w 320"/>
                      <a:gd name="T43" fmla="*/ 170 h 192"/>
                      <a:gd name="T44" fmla="*/ 320 w 320"/>
                      <a:gd name="T45" fmla="*/ 160 h 192"/>
                      <a:gd name="T46" fmla="*/ 282 w 320"/>
                      <a:gd name="T47" fmla="*/ 56 h 192"/>
                      <a:gd name="T48" fmla="*/ 168 w 320"/>
                      <a:gd name="T49" fmla="*/ 167 h 192"/>
                      <a:gd name="T50" fmla="*/ 160 w 320"/>
                      <a:gd name="T51" fmla="*/ 170 h 192"/>
                      <a:gd name="T52" fmla="*/ 160 w 320"/>
                      <a:gd name="T53" fmla="*/ 170 h 192"/>
                      <a:gd name="T54" fmla="*/ 151 w 320"/>
                      <a:gd name="T55" fmla="*/ 167 h 192"/>
                      <a:gd name="T56" fmla="*/ 147 w 320"/>
                      <a:gd name="T57" fmla="*/ 158 h 192"/>
                      <a:gd name="T58" fmla="*/ 151 w 320"/>
                      <a:gd name="T59" fmla="*/ 150 h 192"/>
                      <a:gd name="T60" fmla="*/ 227 w 320"/>
                      <a:gd name="T61" fmla="*/ 91 h 192"/>
                      <a:gd name="T62" fmla="*/ 168 w 320"/>
                      <a:gd name="T63" fmla="*/ 16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0" h="192">
                        <a:moveTo>
                          <a:pt x="282" y="56"/>
                        </a:moveTo>
                        <a:cubicBezTo>
                          <a:pt x="296" y="38"/>
                          <a:pt x="296" y="38"/>
                          <a:pt x="296" y="38"/>
                        </a:cubicBezTo>
                        <a:cubicBezTo>
                          <a:pt x="299" y="34"/>
                          <a:pt x="299" y="28"/>
                          <a:pt x="295" y="24"/>
                        </a:cubicBezTo>
                        <a:cubicBezTo>
                          <a:pt x="291" y="20"/>
                          <a:pt x="285" y="20"/>
                          <a:pt x="281" y="23"/>
                        </a:cubicBezTo>
                        <a:cubicBezTo>
                          <a:pt x="263" y="37"/>
                          <a:pt x="263" y="37"/>
                          <a:pt x="263" y="37"/>
                        </a:cubicBezTo>
                        <a:cubicBezTo>
                          <a:pt x="235" y="14"/>
                          <a:pt x="199" y="0"/>
                          <a:pt x="160" y="0"/>
                        </a:cubicBezTo>
                        <a:cubicBezTo>
                          <a:pt x="71" y="0"/>
                          <a:pt x="0" y="71"/>
                          <a:pt x="0" y="160"/>
                        </a:cubicBezTo>
                        <a:cubicBezTo>
                          <a:pt x="0" y="166"/>
                          <a:pt x="4" y="170"/>
                          <a:pt x="10" y="170"/>
                        </a:cubicBezTo>
                        <a:cubicBezTo>
                          <a:pt x="16" y="170"/>
                          <a:pt x="21" y="166"/>
                          <a:pt x="21" y="160"/>
                        </a:cubicBezTo>
                        <a:cubicBezTo>
                          <a:pt x="21" y="83"/>
                          <a:pt x="83" y="21"/>
                          <a:pt x="160" y="21"/>
                        </a:cubicBezTo>
                        <a:cubicBezTo>
                          <a:pt x="192" y="21"/>
                          <a:pt x="222" y="32"/>
                          <a:pt x="245" y="51"/>
                        </a:cubicBezTo>
                        <a:cubicBezTo>
                          <a:pt x="137" y="133"/>
                          <a:pt x="137" y="133"/>
                          <a:pt x="137" y="133"/>
                        </a:cubicBezTo>
                        <a:cubicBezTo>
                          <a:pt x="137" y="134"/>
                          <a:pt x="136" y="134"/>
                          <a:pt x="136" y="134"/>
                        </a:cubicBezTo>
                        <a:cubicBezTo>
                          <a:pt x="130" y="141"/>
                          <a:pt x="126" y="149"/>
                          <a:pt x="126" y="158"/>
                        </a:cubicBezTo>
                        <a:cubicBezTo>
                          <a:pt x="126" y="167"/>
                          <a:pt x="130" y="175"/>
                          <a:pt x="136" y="182"/>
                        </a:cubicBezTo>
                        <a:cubicBezTo>
                          <a:pt x="142" y="188"/>
                          <a:pt x="151" y="192"/>
                          <a:pt x="160" y="192"/>
                        </a:cubicBezTo>
                        <a:cubicBezTo>
                          <a:pt x="160" y="192"/>
                          <a:pt x="160" y="192"/>
                          <a:pt x="160" y="192"/>
                        </a:cubicBezTo>
                        <a:cubicBezTo>
                          <a:pt x="169" y="192"/>
                          <a:pt x="177" y="188"/>
                          <a:pt x="183" y="182"/>
                        </a:cubicBezTo>
                        <a:cubicBezTo>
                          <a:pt x="184" y="182"/>
                          <a:pt x="184" y="181"/>
                          <a:pt x="184" y="181"/>
                        </a:cubicBezTo>
                        <a:cubicBezTo>
                          <a:pt x="268" y="74"/>
                          <a:pt x="268" y="74"/>
                          <a:pt x="268" y="74"/>
                        </a:cubicBezTo>
                        <a:cubicBezTo>
                          <a:pt x="287" y="97"/>
                          <a:pt x="298" y="127"/>
                          <a:pt x="298" y="160"/>
                        </a:cubicBezTo>
                        <a:cubicBezTo>
                          <a:pt x="298" y="166"/>
                          <a:pt x="303" y="170"/>
                          <a:pt x="309" y="170"/>
                        </a:cubicBezTo>
                        <a:cubicBezTo>
                          <a:pt x="315" y="170"/>
                          <a:pt x="320" y="166"/>
                          <a:pt x="320" y="160"/>
                        </a:cubicBezTo>
                        <a:cubicBezTo>
                          <a:pt x="320" y="120"/>
                          <a:pt x="305" y="84"/>
                          <a:pt x="282" y="56"/>
                        </a:cubicBezTo>
                        <a:close/>
                        <a:moveTo>
                          <a:pt x="168" y="167"/>
                        </a:moveTo>
                        <a:cubicBezTo>
                          <a:pt x="166" y="169"/>
                          <a:pt x="163" y="170"/>
                          <a:pt x="160" y="170"/>
                        </a:cubicBezTo>
                        <a:cubicBezTo>
                          <a:pt x="160" y="170"/>
                          <a:pt x="160" y="170"/>
                          <a:pt x="160" y="170"/>
                        </a:cubicBezTo>
                        <a:cubicBezTo>
                          <a:pt x="156" y="170"/>
                          <a:pt x="153" y="169"/>
                          <a:pt x="151" y="167"/>
                        </a:cubicBezTo>
                        <a:cubicBezTo>
                          <a:pt x="149" y="164"/>
                          <a:pt x="147" y="161"/>
                          <a:pt x="147" y="158"/>
                        </a:cubicBezTo>
                        <a:cubicBezTo>
                          <a:pt x="147" y="155"/>
                          <a:pt x="149" y="152"/>
                          <a:pt x="151" y="150"/>
                        </a:cubicBezTo>
                        <a:cubicBezTo>
                          <a:pt x="227" y="91"/>
                          <a:pt x="227" y="91"/>
                          <a:pt x="227" y="91"/>
                        </a:cubicBezTo>
                        <a:lnTo>
                          <a:pt x="168" y="16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GB" sz="1100" b="1" i="0" u="none" strike="noStrike" kern="0" cap="none" spc="0" normalizeH="0" baseline="0" noProof="0" dirty="0">
                      <a:ln>
                        <a:noFill/>
                      </a:ln>
                      <a:solidFill>
                        <a:srgbClr val="002776"/>
                      </a:solidFill>
                      <a:effectLst/>
                      <a:uLnTx/>
                      <a:uFillTx/>
                      <a:latin typeface="+mj-lt"/>
                      <a:cs typeface="Arial" pitchFamily="34" charset="0"/>
                    </a:endParaRPr>
                  </a:p>
                </p:txBody>
              </p:sp>
              <p:sp>
                <p:nvSpPr>
                  <p:cNvPr id="153" name="Freeform 228"/>
                  <p:cNvSpPr>
                    <a:spLocks noEditPoints="1"/>
                  </p:cNvSpPr>
                  <p:nvPr/>
                </p:nvSpPr>
                <p:spPr bwMode="auto">
                  <a:xfrm>
                    <a:off x="5048" y="78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00000"/>
                      </a:lnSpc>
                      <a:spcBef>
                        <a:spcPct val="20000"/>
                      </a:spcBef>
                      <a:spcAft>
                        <a:spcPct val="0"/>
                      </a:spcAft>
                      <a:buClrTx/>
                      <a:buSzTx/>
                      <a:buFontTx/>
                      <a:buNone/>
                      <a:tabLst/>
                      <a:defRPr/>
                    </a:pPr>
                    <a:endParaRPr kumimoji="0" lang="en-GB" sz="1100" b="1" i="0" u="none" strike="noStrike" kern="0" cap="none" spc="0" normalizeH="0" baseline="0" noProof="0" dirty="0">
                      <a:ln>
                        <a:noFill/>
                      </a:ln>
                      <a:solidFill>
                        <a:srgbClr val="002776"/>
                      </a:solidFill>
                      <a:effectLst/>
                      <a:uLnTx/>
                      <a:uFillTx/>
                      <a:latin typeface="+mj-lt"/>
                      <a:cs typeface="Arial" pitchFamily="34" charset="0"/>
                    </a:endParaRPr>
                  </a:p>
                </p:txBody>
              </p:sp>
            </p:grpSp>
          </p:grpSp>
          <p:grpSp>
            <p:nvGrpSpPr>
              <p:cNvPr id="11" name="Group 10"/>
              <p:cNvGrpSpPr/>
              <p:nvPr/>
            </p:nvGrpSpPr>
            <p:grpSpPr>
              <a:xfrm>
                <a:off x="2755939" y="2054453"/>
                <a:ext cx="1737360" cy="1737360"/>
                <a:chOff x="2662124" y="2258850"/>
                <a:chExt cx="1737360" cy="1737360"/>
              </a:xfrm>
            </p:grpSpPr>
            <p:sp>
              <p:nvSpPr>
                <p:cNvPr id="126" name="Freeform 125"/>
                <p:cNvSpPr/>
                <p:nvPr/>
              </p:nvSpPr>
              <p:spPr bwMode="gray">
                <a:xfrm>
                  <a:off x="2662124" y="2258850"/>
                  <a:ext cx="1737360" cy="1737360"/>
                </a:xfrm>
                <a:custGeom>
                  <a:avLst/>
                  <a:gdLst>
                    <a:gd name="connsiteX0" fmla="*/ 1027020 w 2054040"/>
                    <a:gd name="connsiteY0" fmla="*/ 382963 h 1997836"/>
                    <a:gd name="connsiteX1" fmla="*/ 401662 w 2054040"/>
                    <a:gd name="connsiteY1" fmla="*/ 998919 h 1997836"/>
                    <a:gd name="connsiteX2" fmla="*/ 1027020 w 2054040"/>
                    <a:gd name="connsiteY2" fmla="*/ 1614875 h 1997836"/>
                    <a:gd name="connsiteX3" fmla="*/ 1652378 w 2054040"/>
                    <a:gd name="connsiteY3" fmla="*/ 998919 h 1997836"/>
                    <a:gd name="connsiteX4" fmla="*/ 1027020 w 2054040"/>
                    <a:gd name="connsiteY4" fmla="*/ 382963 h 1997836"/>
                    <a:gd name="connsiteX5" fmla="*/ 1027020 w 2054040"/>
                    <a:gd name="connsiteY5" fmla="*/ 0 h 1997836"/>
                    <a:gd name="connsiteX6" fmla="*/ 1092810 w 2054040"/>
                    <a:gd name="connsiteY6" fmla="*/ 3231 h 1997836"/>
                    <a:gd name="connsiteX7" fmla="*/ 1157385 w 2054040"/>
                    <a:gd name="connsiteY7" fmla="*/ 112136 h 1997836"/>
                    <a:gd name="connsiteX8" fmla="*/ 1212079 w 2054040"/>
                    <a:gd name="connsiteY8" fmla="*/ 120289 h 1997836"/>
                    <a:gd name="connsiteX9" fmla="*/ 1268386 w 2054040"/>
                    <a:gd name="connsiteY9" fmla="*/ 134430 h 1997836"/>
                    <a:gd name="connsiteX10" fmla="*/ 1370546 w 2054040"/>
                    <a:gd name="connsiteY10" fmla="*/ 58480 h 1997836"/>
                    <a:gd name="connsiteX11" fmla="*/ 1426783 w 2054040"/>
                    <a:gd name="connsiteY11" fmla="*/ 78500 h 1997836"/>
                    <a:gd name="connsiteX12" fmla="*/ 1497706 w 2054040"/>
                    <a:gd name="connsiteY12" fmla="*/ 115943 h 1997836"/>
                    <a:gd name="connsiteX13" fmla="*/ 1512603 w 2054040"/>
                    <a:gd name="connsiteY13" fmla="*/ 238731 h 1997836"/>
                    <a:gd name="connsiteX14" fmla="*/ 1540419 w 2054040"/>
                    <a:gd name="connsiteY14" fmla="*/ 255236 h 1997836"/>
                    <a:gd name="connsiteX15" fmla="*/ 1585473 w 2054040"/>
                    <a:gd name="connsiteY15" fmla="*/ 291543 h 1997836"/>
                    <a:gd name="connsiteX16" fmla="*/ 1710231 w 2054040"/>
                    <a:gd name="connsiteY16" fmla="*/ 258066 h 1997836"/>
                    <a:gd name="connsiteX17" fmla="*/ 1753233 w 2054040"/>
                    <a:gd name="connsiteY17" fmla="*/ 292576 h 1997836"/>
                    <a:gd name="connsiteX18" fmla="*/ 1818368 w 2054040"/>
                    <a:gd name="connsiteY18" fmla="*/ 369360 h 1997836"/>
                    <a:gd name="connsiteX19" fmla="*/ 1781447 w 2054040"/>
                    <a:gd name="connsiteY19" fmla="*/ 489200 h 1997836"/>
                    <a:gd name="connsiteX20" fmla="*/ 1788442 w 2054040"/>
                    <a:gd name="connsiteY20" fmla="*/ 497481 h 1997836"/>
                    <a:gd name="connsiteX21" fmla="*/ 1816835 w 2054040"/>
                    <a:gd name="connsiteY21" fmla="*/ 543129 h 1997836"/>
                    <a:gd name="connsiteX22" fmla="*/ 1943426 w 2054040"/>
                    <a:gd name="connsiteY22" fmla="*/ 556505 h 1997836"/>
                    <a:gd name="connsiteX23" fmla="*/ 1973332 w 2054040"/>
                    <a:gd name="connsiteY23" fmla="*/ 610094 h 1997836"/>
                    <a:gd name="connsiteX24" fmla="*/ 2007868 w 2054040"/>
                    <a:gd name="connsiteY24" fmla="*/ 701871 h 1997836"/>
                    <a:gd name="connsiteX25" fmla="*/ 2009461 w 2054040"/>
                    <a:gd name="connsiteY25" fmla="*/ 707899 h 1997836"/>
                    <a:gd name="connsiteX26" fmla="*/ 1923950 w 2054040"/>
                    <a:gd name="connsiteY26" fmla="*/ 808078 h 1997836"/>
                    <a:gd name="connsiteX27" fmla="*/ 1926608 w 2054040"/>
                    <a:gd name="connsiteY27" fmla="*/ 818172 h 1997836"/>
                    <a:gd name="connsiteX28" fmla="*/ 1932207 w 2054040"/>
                    <a:gd name="connsiteY28" fmla="*/ 854010 h 1997836"/>
                    <a:gd name="connsiteX29" fmla="*/ 2049666 w 2054040"/>
                    <a:gd name="connsiteY29" fmla="*/ 914671 h 1997836"/>
                    <a:gd name="connsiteX30" fmla="*/ 2054040 w 2054040"/>
                    <a:gd name="connsiteY30" fmla="*/ 998918 h 1997836"/>
                    <a:gd name="connsiteX31" fmla="*/ 2049666 w 2054040"/>
                    <a:gd name="connsiteY31" fmla="*/ 1083163 h 1997836"/>
                    <a:gd name="connsiteX32" fmla="*/ 1932208 w 2054040"/>
                    <a:gd name="connsiteY32" fmla="*/ 1143824 h 1997836"/>
                    <a:gd name="connsiteX33" fmla="*/ 1926608 w 2054040"/>
                    <a:gd name="connsiteY33" fmla="*/ 1179666 h 1997836"/>
                    <a:gd name="connsiteX34" fmla="*/ 1923951 w 2054040"/>
                    <a:gd name="connsiteY34" fmla="*/ 1189756 h 1997836"/>
                    <a:gd name="connsiteX35" fmla="*/ 2009462 w 2054040"/>
                    <a:gd name="connsiteY35" fmla="*/ 1289936 h 1997836"/>
                    <a:gd name="connsiteX36" fmla="*/ 2007868 w 2054040"/>
                    <a:gd name="connsiteY36" fmla="*/ 1295966 h 1997836"/>
                    <a:gd name="connsiteX37" fmla="*/ 1973332 w 2054040"/>
                    <a:gd name="connsiteY37" fmla="*/ 1387742 h 1997836"/>
                    <a:gd name="connsiteX38" fmla="*/ 1943428 w 2054040"/>
                    <a:gd name="connsiteY38" fmla="*/ 1441330 h 1997836"/>
                    <a:gd name="connsiteX39" fmla="*/ 1816837 w 2054040"/>
                    <a:gd name="connsiteY39" fmla="*/ 1454705 h 1997836"/>
                    <a:gd name="connsiteX40" fmla="*/ 1788442 w 2054040"/>
                    <a:gd name="connsiteY40" fmla="*/ 1500357 h 1997836"/>
                    <a:gd name="connsiteX41" fmla="*/ 1781447 w 2054040"/>
                    <a:gd name="connsiteY41" fmla="*/ 1508637 h 1997836"/>
                    <a:gd name="connsiteX42" fmla="*/ 1818368 w 2054040"/>
                    <a:gd name="connsiteY42" fmla="*/ 1628475 h 1997836"/>
                    <a:gd name="connsiteX43" fmla="*/ 1753233 w 2054040"/>
                    <a:gd name="connsiteY43" fmla="*/ 1705260 h 1997836"/>
                    <a:gd name="connsiteX44" fmla="*/ 1710232 w 2054040"/>
                    <a:gd name="connsiteY44" fmla="*/ 1739768 h 1997836"/>
                    <a:gd name="connsiteX45" fmla="*/ 1585477 w 2054040"/>
                    <a:gd name="connsiteY45" fmla="*/ 1706292 h 1997836"/>
                    <a:gd name="connsiteX46" fmla="*/ 1540419 w 2054040"/>
                    <a:gd name="connsiteY46" fmla="*/ 1742602 h 1997836"/>
                    <a:gd name="connsiteX47" fmla="*/ 1512603 w 2054040"/>
                    <a:gd name="connsiteY47" fmla="*/ 1759107 h 1997836"/>
                    <a:gd name="connsiteX48" fmla="*/ 1497706 w 2054040"/>
                    <a:gd name="connsiteY48" fmla="*/ 1881894 h 1997836"/>
                    <a:gd name="connsiteX49" fmla="*/ 1426783 w 2054040"/>
                    <a:gd name="connsiteY49" fmla="*/ 1919336 h 1997836"/>
                    <a:gd name="connsiteX50" fmla="*/ 1370548 w 2054040"/>
                    <a:gd name="connsiteY50" fmla="*/ 1939356 h 1997836"/>
                    <a:gd name="connsiteX51" fmla="*/ 1268390 w 2054040"/>
                    <a:gd name="connsiteY51" fmla="*/ 1863407 h 1997836"/>
                    <a:gd name="connsiteX52" fmla="*/ 1212079 w 2054040"/>
                    <a:gd name="connsiteY52" fmla="*/ 1877549 h 1997836"/>
                    <a:gd name="connsiteX53" fmla="*/ 1157382 w 2054040"/>
                    <a:gd name="connsiteY53" fmla="*/ 1885703 h 1997836"/>
                    <a:gd name="connsiteX54" fmla="*/ 1092809 w 2054040"/>
                    <a:gd name="connsiteY54" fmla="*/ 1994605 h 1997836"/>
                    <a:gd name="connsiteX55" fmla="*/ 1027020 w 2054040"/>
                    <a:gd name="connsiteY55" fmla="*/ 1997836 h 1997836"/>
                    <a:gd name="connsiteX56" fmla="*/ 961235 w 2054040"/>
                    <a:gd name="connsiteY56" fmla="*/ 1994605 h 1997836"/>
                    <a:gd name="connsiteX57" fmla="*/ 896660 w 2054040"/>
                    <a:gd name="connsiteY57" fmla="*/ 1885703 h 1997836"/>
                    <a:gd name="connsiteX58" fmla="*/ 841963 w 2054040"/>
                    <a:gd name="connsiteY58" fmla="*/ 1877549 h 1997836"/>
                    <a:gd name="connsiteX59" fmla="*/ 785652 w 2054040"/>
                    <a:gd name="connsiteY59" fmla="*/ 1863407 h 1997836"/>
                    <a:gd name="connsiteX60" fmla="*/ 683494 w 2054040"/>
                    <a:gd name="connsiteY60" fmla="*/ 1939356 h 1997836"/>
                    <a:gd name="connsiteX61" fmla="*/ 627258 w 2054040"/>
                    <a:gd name="connsiteY61" fmla="*/ 1919336 h 1997836"/>
                    <a:gd name="connsiteX62" fmla="*/ 556335 w 2054040"/>
                    <a:gd name="connsiteY62" fmla="*/ 1881894 h 1997836"/>
                    <a:gd name="connsiteX63" fmla="*/ 541439 w 2054040"/>
                    <a:gd name="connsiteY63" fmla="*/ 1759107 h 1997836"/>
                    <a:gd name="connsiteX64" fmla="*/ 513623 w 2054040"/>
                    <a:gd name="connsiteY64" fmla="*/ 1742602 h 1997836"/>
                    <a:gd name="connsiteX65" fmla="*/ 468565 w 2054040"/>
                    <a:gd name="connsiteY65" fmla="*/ 1706292 h 1997836"/>
                    <a:gd name="connsiteX66" fmla="*/ 343808 w 2054040"/>
                    <a:gd name="connsiteY66" fmla="*/ 1739769 h 1997836"/>
                    <a:gd name="connsiteX67" fmla="*/ 300808 w 2054040"/>
                    <a:gd name="connsiteY67" fmla="*/ 1705260 h 1997836"/>
                    <a:gd name="connsiteX68" fmla="*/ 235673 w 2054040"/>
                    <a:gd name="connsiteY68" fmla="*/ 1628476 h 1997836"/>
                    <a:gd name="connsiteX69" fmla="*/ 272594 w 2054040"/>
                    <a:gd name="connsiteY69" fmla="*/ 1508636 h 1997836"/>
                    <a:gd name="connsiteX70" fmla="*/ 265601 w 2054040"/>
                    <a:gd name="connsiteY70" fmla="*/ 1500357 h 1997836"/>
                    <a:gd name="connsiteX71" fmla="*/ 237205 w 2054040"/>
                    <a:gd name="connsiteY71" fmla="*/ 1454705 h 1997836"/>
                    <a:gd name="connsiteX72" fmla="*/ 110613 w 2054040"/>
                    <a:gd name="connsiteY72" fmla="*/ 1441329 h 1997836"/>
                    <a:gd name="connsiteX73" fmla="*/ 80708 w 2054040"/>
                    <a:gd name="connsiteY73" fmla="*/ 1387742 h 1997836"/>
                    <a:gd name="connsiteX74" fmla="*/ 46173 w 2054040"/>
                    <a:gd name="connsiteY74" fmla="*/ 1295966 h 1997836"/>
                    <a:gd name="connsiteX75" fmla="*/ 44579 w 2054040"/>
                    <a:gd name="connsiteY75" fmla="*/ 1289937 h 1997836"/>
                    <a:gd name="connsiteX76" fmla="*/ 130091 w 2054040"/>
                    <a:gd name="connsiteY76" fmla="*/ 1189756 h 1997836"/>
                    <a:gd name="connsiteX77" fmla="*/ 127435 w 2054040"/>
                    <a:gd name="connsiteY77" fmla="*/ 1179666 h 1997836"/>
                    <a:gd name="connsiteX78" fmla="*/ 121834 w 2054040"/>
                    <a:gd name="connsiteY78" fmla="*/ 1143824 h 1997836"/>
                    <a:gd name="connsiteX79" fmla="*/ 4373 w 2054040"/>
                    <a:gd name="connsiteY79" fmla="*/ 1083162 h 1997836"/>
                    <a:gd name="connsiteX80" fmla="*/ 0 w 2054040"/>
                    <a:gd name="connsiteY80" fmla="*/ 998918 h 1997836"/>
                    <a:gd name="connsiteX81" fmla="*/ 4373 w 2054040"/>
                    <a:gd name="connsiteY81" fmla="*/ 914672 h 1997836"/>
                    <a:gd name="connsiteX82" fmla="*/ 121835 w 2054040"/>
                    <a:gd name="connsiteY82" fmla="*/ 854009 h 1997836"/>
                    <a:gd name="connsiteX83" fmla="*/ 127435 w 2054040"/>
                    <a:gd name="connsiteY83" fmla="*/ 818172 h 1997836"/>
                    <a:gd name="connsiteX84" fmla="*/ 130092 w 2054040"/>
                    <a:gd name="connsiteY84" fmla="*/ 808079 h 1997836"/>
                    <a:gd name="connsiteX85" fmla="*/ 44580 w 2054040"/>
                    <a:gd name="connsiteY85" fmla="*/ 707898 h 1997836"/>
                    <a:gd name="connsiteX86" fmla="*/ 46173 w 2054040"/>
                    <a:gd name="connsiteY86" fmla="*/ 701871 h 1997836"/>
                    <a:gd name="connsiteX87" fmla="*/ 80708 w 2054040"/>
                    <a:gd name="connsiteY87" fmla="*/ 610094 h 1997836"/>
                    <a:gd name="connsiteX88" fmla="*/ 110614 w 2054040"/>
                    <a:gd name="connsiteY88" fmla="*/ 556505 h 1997836"/>
                    <a:gd name="connsiteX89" fmla="*/ 237208 w 2054040"/>
                    <a:gd name="connsiteY89" fmla="*/ 543129 h 1997836"/>
                    <a:gd name="connsiteX90" fmla="*/ 265601 w 2054040"/>
                    <a:gd name="connsiteY90" fmla="*/ 497481 h 1997836"/>
                    <a:gd name="connsiteX91" fmla="*/ 272595 w 2054040"/>
                    <a:gd name="connsiteY91" fmla="*/ 489201 h 1997836"/>
                    <a:gd name="connsiteX92" fmla="*/ 235673 w 2054040"/>
                    <a:gd name="connsiteY92" fmla="*/ 369359 h 1997836"/>
                    <a:gd name="connsiteX93" fmla="*/ 300808 w 2054040"/>
                    <a:gd name="connsiteY93" fmla="*/ 292576 h 1997836"/>
                    <a:gd name="connsiteX94" fmla="*/ 343811 w 2054040"/>
                    <a:gd name="connsiteY94" fmla="*/ 258066 h 1997836"/>
                    <a:gd name="connsiteX95" fmla="*/ 468569 w 2054040"/>
                    <a:gd name="connsiteY95" fmla="*/ 291544 h 1997836"/>
                    <a:gd name="connsiteX96" fmla="*/ 513623 w 2054040"/>
                    <a:gd name="connsiteY96" fmla="*/ 255236 h 1997836"/>
                    <a:gd name="connsiteX97" fmla="*/ 541438 w 2054040"/>
                    <a:gd name="connsiteY97" fmla="*/ 238732 h 1997836"/>
                    <a:gd name="connsiteX98" fmla="*/ 556335 w 2054040"/>
                    <a:gd name="connsiteY98" fmla="*/ 115942 h 1997836"/>
                    <a:gd name="connsiteX99" fmla="*/ 627258 w 2054040"/>
                    <a:gd name="connsiteY99" fmla="*/ 78500 h 1997836"/>
                    <a:gd name="connsiteX100" fmla="*/ 683496 w 2054040"/>
                    <a:gd name="connsiteY100" fmla="*/ 58479 h 1997836"/>
                    <a:gd name="connsiteX101" fmla="*/ 785656 w 2054040"/>
                    <a:gd name="connsiteY101" fmla="*/ 134430 h 1997836"/>
                    <a:gd name="connsiteX102" fmla="*/ 841963 w 2054040"/>
                    <a:gd name="connsiteY102" fmla="*/ 120289 h 1997836"/>
                    <a:gd name="connsiteX103" fmla="*/ 896657 w 2054040"/>
                    <a:gd name="connsiteY103" fmla="*/ 112136 h 1997836"/>
                    <a:gd name="connsiteX104" fmla="*/ 961233 w 2054040"/>
                    <a:gd name="connsiteY104" fmla="*/ 3231 h 199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054040" h="1997836">
                      <a:moveTo>
                        <a:pt x="1027020" y="382963"/>
                      </a:moveTo>
                      <a:cubicBezTo>
                        <a:pt x="681644" y="382963"/>
                        <a:pt x="401662" y="658736"/>
                        <a:pt x="401662" y="998919"/>
                      </a:cubicBezTo>
                      <a:cubicBezTo>
                        <a:pt x="401662" y="1339102"/>
                        <a:pt x="681644" y="1614875"/>
                        <a:pt x="1027020" y="1614875"/>
                      </a:cubicBezTo>
                      <a:cubicBezTo>
                        <a:pt x="1372396" y="1614875"/>
                        <a:pt x="1652378" y="1339102"/>
                        <a:pt x="1652378" y="998919"/>
                      </a:cubicBezTo>
                      <a:cubicBezTo>
                        <a:pt x="1652378" y="658736"/>
                        <a:pt x="1372396" y="382963"/>
                        <a:pt x="1027020" y="382963"/>
                      </a:cubicBezTo>
                      <a:close/>
                      <a:moveTo>
                        <a:pt x="1027020" y="0"/>
                      </a:moveTo>
                      <a:lnTo>
                        <a:pt x="1092810" y="3231"/>
                      </a:lnTo>
                      <a:lnTo>
                        <a:pt x="1157385" y="112136"/>
                      </a:lnTo>
                      <a:lnTo>
                        <a:pt x="1212079" y="120289"/>
                      </a:lnTo>
                      <a:lnTo>
                        <a:pt x="1268386" y="134430"/>
                      </a:lnTo>
                      <a:lnTo>
                        <a:pt x="1370546" y="58480"/>
                      </a:lnTo>
                      <a:lnTo>
                        <a:pt x="1426783" y="78500"/>
                      </a:lnTo>
                      <a:lnTo>
                        <a:pt x="1497706" y="115943"/>
                      </a:lnTo>
                      <a:lnTo>
                        <a:pt x="1512603" y="238731"/>
                      </a:lnTo>
                      <a:lnTo>
                        <a:pt x="1540419" y="255236"/>
                      </a:lnTo>
                      <a:lnTo>
                        <a:pt x="1585473" y="291543"/>
                      </a:lnTo>
                      <a:lnTo>
                        <a:pt x="1710231" y="258066"/>
                      </a:lnTo>
                      <a:lnTo>
                        <a:pt x="1753233" y="292576"/>
                      </a:lnTo>
                      <a:lnTo>
                        <a:pt x="1818368" y="369360"/>
                      </a:lnTo>
                      <a:lnTo>
                        <a:pt x="1781447" y="489200"/>
                      </a:lnTo>
                      <a:lnTo>
                        <a:pt x="1788442" y="497481"/>
                      </a:lnTo>
                      <a:lnTo>
                        <a:pt x="1816835" y="543129"/>
                      </a:lnTo>
                      <a:lnTo>
                        <a:pt x="1943426" y="556505"/>
                      </a:lnTo>
                      <a:lnTo>
                        <a:pt x="1973332" y="610094"/>
                      </a:lnTo>
                      <a:cubicBezTo>
                        <a:pt x="1986324" y="639971"/>
                        <a:pt x="1997865" y="670591"/>
                        <a:pt x="2007868" y="701871"/>
                      </a:cubicBezTo>
                      <a:lnTo>
                        <a:pt x="2009461" y="707899"/>
                      </a:lnTo>
                      <a:lnTo>
                        <a:pt x="1923950" y="808078"/>
                      </a:lnTo>
                      <a:lnTo>
                        <a:pt x="1926608" y="818172"/>
                      </a:lnTo>
                      <a:lnTo>
                        <a:pt x="1932207" y="854010"/>
                      </a:lnTo>
                      <a:lnTo>
                        <a:pt x="2049666" y="914671"/>
                      </a:lnTo>
                      <a:lnTo>
                        <a:pt x="2054040" y="998918"/>
                      </a:lnTo>
                      <a:lnTo>
                        <a:pt x="2049666" y="1083163"/>
                      </a:lnTo>
                      <a:lnTo>
                        <a:pt x="1932208" y="1143824"/>
                      </a:lnTo>
                      <a:lnTo>
                        <a:pt x="1926608" y="1179666"/>
                      </a:lnTo>
                      <a:lnTo>
                        <a:pt x="1923951" y="1189756"/>
                      </a:lnTo>
                      <a:lnTo>
                        <a:pt x="2009462" y="1289936"/>
                      </a:lnTo>
                      <a:lnTo>
                        <a:pt x="2007868" y="1295966"/>
                      </a:lnTo>
                      <a:cubicBezTo>
                        <a:pt x="1997865" y="1327245"/>
                        <a:pt x="1986324" y="1357865"/>
                        <a:pt x="1973332" y="1387742"/>
                      </a:cubicBezTo>
                      <a:lnTo>
                        <a:pt x="1943428" y="1441330"/>
                      </a:lnTo>
                      <a:lnTo>
                        <a:pt x="1816837" y="1454705"/>
                      </a:lnTo>
                      <a:lnTo>
                        <a:pt x="1788442" y="1500357"/>
                      </a:lnTo>
                      <a:lnTo>
                        <a:pt x="1781447" y="1508637"/>
                      </a:lnTo>
                      <a:lnTo>
                        <a:pt x="1818368" y="1628475"/>
                      </a:lnTo>
                      <a:lnTo>
                        <a:pt x="1753233" y="1705260"/>
                      </a:lnTo>
                      <a:lnTo>
                        <a:pt x="1710232" y="1739768"/>
                      </a:lnTo>
                      <a:lnTo>
                        <a:pt x="1585477" y="1706292"/>
                      </a:lnTo>
                      <a:lnTo>
                        <a:pt x="1540419" y="1742602"/>
                      </a:lnTo>
                      <a:lnTo>
                        <a:pt x="1512603" y="1759107"/>
                      </a:lnTo>
                      <a:lnTo>
                        <a:pt x="1497706" y="1881894"/>
                      </a:lnTo>
                      <a:lnTo>
                        <a:pt x="1426783" y="1919336"/>
                      </a:lnTo>
                      <a:lnTo>
                        <a:pt x="1370548" y="1939356"/>
                      </a:lnTo>
                      <a:lnTo>
                        <a:pt x="1268390" y="1863407"/>
                      </a:lnTo>
                      <a:lnTo>
                        <a:pt x="1212079" y="1877549"/>
                      </a:lnTo>
                      <a:lnTo>
                        <a:pt x="1157382" y="1885703"/>
                      </a:lnTo>
                      <a:lnTo>
                        <a:pt x="1092809" y="1994605"/>
                      </a:lnTo>
                      <a:lnTo>
                        <a:pt x="1027020" y="1997836"/>
                      </a:lnTo>
                      <a:lnTo>
                        <a:pt x="961235" y="1994605"/>
                      </a:lnTo>
                      <a:lnTo>
                        <a:pt x="896660" y="1885703"/>
                      </a:lnTo>
                      <a:lnTo>
                        <a:pt x="841963" y="1877549"/>
                      </a:lnTo>
                      <a:lnTo>
                        <a:pt x="785652" y="1863407"/>
                      </a:lnTo>
                      <a:lnTo>
                        <a:pt x="683494" y="1939356"/>
                      </a:lnTo>
                      <a:lnTo>
                        <a:pt x="627258" y="1919336"/>
                      </a:lnTo>
                      <a:lnTo>
                        <a:pt x="556335" y="1881894"/>
                      </a:lnTo>
                      <a:lnTo>
                        <a:pt x="541439" y="1759107"/>
                      </a:lnTo>
                      <a:lnTo>
                        <a:pt x="513623" y="1742602"/>
                      </a:lnTo>
                      <a:lnTo>
                        <a:pt x="468565" y="1706292"/>
                      </a:lnTo>
                      <a:lnTo>
                        <a:pt x="343808" y="1739769"/>
                      </a:lnTo>
                      <a:lnTo>
                        <a:pt x="300808" y="1705260"/>
                      </a:lnTo>
                      <a:lnTo>
                        <a:pt x="235673" y="1628476"/>
                      </a:lnTo>
                      <a:lnTo>
                        <a:pt x="272594" y="1508636"/>
                      </a:lnTo>
                      <a:lnTo>
                        <a:pt x="265601" y="1500357"/>
                      </a:lnTo>
                      <a:lnTo>
                        <a:pt x="237205" y="1454705"/>
                      </a:lnTo>
                      <a:lnTo>
                        <a:pt x="110613" y="1441329"/>
                      </a:lnTo>
                      <a:lnTo>
                        <a:pt x="80708" y="1387742"/>
                      </a:lnTo>
                      <a:cubicBezTo>
                        <a:pt x="67716" y="1357865"/>
                        <a:pt x="56175" y="1327245"/>
                        <a:pt x="46173" y="1295966"/>
                      </a:cubicBezTo>
                      <a:lnTo>
                        <a:pt x="44579" y="1289937"/>
                      </a:lnTo>
                      <a:lnTo>
                        <a:pt x="130091" y="1189756"/>
                      </a:lnTo>
                      <a:lnTo>
                        <a:pt x="127435" y="1179666"/>
                      </a:lnTo>
                      <a:lnTo>
                        <a:pt x="121834" y="1143824"/>
                      </a:lnTo>
                      <a:lnTo>
                        <a:pt x="4373" y="1083162"/>
                      </a:lnTo>
                      <a:lnTo>
                        <a:pt x="0" y="998918"/>
                      </a:lnTo>
                      <a:lnTo>
                        <a:pt x="4373" y="914672"/>
                      </a:lnTo>
                      <a:lnTo>
                        <a:pt x="121835" y="854009"/>
                      </a:lnTo>
                      <a:lnTo>
                        <a:pt x="127435" y="818172"/>
                      </a:lnTo>
                      <a:lnTo>
                        <a:pt x="130092" y="808079"/>
                      </a:lnTo>
                      <a:lnTo>
                        <a:pt x="44580" y="707898"/>
                      </a:lnTo>
                      <a:lnTo>
                        <a:pt x="46173" y="701871"/>
                      </a:lnTo>
                      <a:cubicBezTo>
                        <a:pt x="56175" y="670591"/>
                        <a:pt x="67716" y="639971"/>
                        <a:pt x="80708" y="610094"/>
                      </a:cubicBezTo>
                      <a:lnTo>
                        <a:pt x="110614" y="556505"/>
                      </a:lnTo>
                      <a:lnTo>
                        <a:pt x="237208" y="543129"/>
                      </a:lnTo>
                      <a:lnTo>
                        <a:pt x="265601" y="497481"/>
                      </a:lnTo>
                      <a:lnTo>
                        <a:pt x="272595" y="489201"/>
                      </a:lnTo>
                      <a:lnTo>
                        <a:pt x="235673" y="369359"/>
                      </a:lnTo>
                      <a:lnTo>
                        <a:pt x="300808" y="292576"/>
                      </a:lnTo>
                      <a:lnTo>
                        <a:pt x="343811" y="258066"/>
                      </a:lnTo>
                      <a:lnTo>
                        <a:pt x="468569" y="291544"/>
                      </a:lnTo>
                      <a:lnTo>
                        <a:pt x="513623" y="255236"/>
                      </a:lnTo>
                      <a:lnTo>
                        <a:pt x="541438" y="238732"/>
                      </a:lnTo>
                      <a:lnTo>
                        <a:pt x="556335" y="115942"/>
                      </a:lnTo>
                      <a:lnTo>
                        <a:pt x="627258" y="78500"/>
                      </a:lnTo>
                      <a:lnTo>
                        <a:pt x="683496" y="58479"/>
                      </a:lnTo>
                      <a:lnTo>
                        <a:pt x="785656" y="134430"/>
                      </a:lnTo>
                      <a:lnTo>
                        <a:pt x="841963" y="120289"/>
                      </a:lnTo>
                      <a:lnTo>
                        <a:pt x="896657" y="112136"/>
                      </a:lnTo>
                      <a:lnTo>
                        <a:pt x="961233" y="3231"/>
                      </a:lnTo>
                      <a:close/>
                    </a:path>
                  </a:pathLst>
                </a:cu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57" name="Group 192"/>
                <p:cNvGrpSpPr>
                  <a:grpSpLocks/>
                </p:cNvGrpSpPr>
                <p:nvPr/>
              </p:nvGrpSpPr>
              <p:grpSpPr bwMode="auto">
                <a:xfrm>
                  <a:off x="3165044" y="2761770"/>
                  <a:ext cx="731520" cy="731520"/>
                  <a:chOff x="378" y="713"/>
                  <a:chExt cx="340" cy="340"/>
                </a:xfrm>
                <a:solidFill>
                  <a:schemeClr val="accent2"/>
                </a:solidFill>
              </p:grpSpPr>
              <p:sp>
                <p:nvSpPr>
                  <p:cNvPr id="158" name="Freeform 193"/>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9" name="Freeform 194"/>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spTree>
    <p:extLst>
      <p:ext uri="{BB962C8B-B14F-4D97-AF65-F5344CB8AC3E}">
        <p14:creationId xmlns:p14="http://schemas.microsoft.com/office/powerpoint/2010/main" val="378501430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Testing Automation</a:t>
            </a:r>
          </a:p>
        </p:txBody>
      </p:sp>
      <p:sp>
        <p:nvSpPr>
          <p:cNvPr id="8" name="Text Placeholder 7"/>
          <p:cNvSpPr>
            <a:spLocks noGrp="1"/>
          </p:cNvSpPr>
          <p:nvPr>
            <p:ph type="body" idx="1"/>
          </p:nvPr>
        </p:nvSpPr>
        <p:spPr/>
        <p:txBody>
          <a:bodyPr/>
          <a:lstStyle/>
          <a:p>
            <a:r>
              <a:rPr lang="en-US" sz="4000" dirty="0"/>
              <a:t>Solution and Scope</a:t>
            </a:r>
          </a:p>
        </p:txBody>
      </p:sp>
    </p:spTree>
    <p:extLst>
      <p:ext uri="{BB962C8B-B14F-4D97-AF65-F5344CB8AC3E}">
        <p14:creationId xmlns:p14="http://schemas.microsoft.com/office/powerpoint/2010/main" val="166915805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p:txBody>
          <a:bodyPr/>
          <a:lstStyle/>
          <a:p>
            <a:r>
              <a:rPr lang="en-US"/>
              <a:t>Resource &amp; Budget : Estimation Model</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319696311"/>
              </p:ext>
            </p:extLst>
          </p:nvPr>
        </p:nvGraphicFramePr>
        <p:xfrm>
          <a:off x="707011" y="1252701"/>
          <a:ext cx="11015090" cy="1554480"/>
        </p:xfrm>
        <a:graphic>
          <a:graphicData uri="http://schemas.openxmlformats.org/drawingml/2006/table">
            <a:tbl>
              <a:tblPr firstRow="1" bandRow="1">
                <a:tableStyleId>{69012ECD-51FC-41F1-AA8D-1B2483CD663E}</a:tableStyleId>
              </a:tblPr>
              <a:tblGrid>
                <a:gridCol w="3699371">
                  <a:extLst>
                    <a:ext uri="{9D8B030D-6E8A-4147-A177-3AD203B41FA5}">
                      <a16:colId xmlns:a16="http://schemas.microsoft.com/office/drawing/2014/main" val="20000"/>
                    </a:ext>
                  </a:extLst>
                </a:gridCol>
                <a:gridCol w="2438573">
                  <a:extLst>
                    <a:ext uri="{9D8B030D-6E8A-4147-A177-3AD203B41FA5}">
                      <a16:colId xmlns:a16="http://schemas.microsoft.com/office/drawing/2014/main" val="20001"/>
                    </a:ext>
                  </a:extLst>
                </a:gridCol>
                <a:gridCol w="2438573">
                  <a:extLst>
                    <a:ext uri="{9D8B030D-6E8A-4147-A177-3AD203B41FA5}">
                      <a16:colId xmlns:a16="http://schemas.microsoft.com/office/drawing/2014/main" val="20002"/>
                    </a:ext>
                  </a:extLst>
                </a:gridCol>
                <a:gridCol w="2438573">
                  <a:extLst>
                    <a:ext uri="{9D8B030D-6E8A-4147-A177-3AD203B41FA5}">
                      <a16:colId xmlns:a16="http://schemas.microsoft.com/office/drawing/2014/main" val="20003"/>
                    </a:ext>
                  </a:extLst>
                </a:gridCol>
              </a:tblGrid>
              <a:tr h="202776">
                <a:tc rowSpan="2">
                  <a:txBody>
                    <a:bodyPr/>
                    <a:lstStyle/>
                    <a:p>
                      <a:pPr algn="ctr"/>
                      <a:r>
                        <a:rPr lang="en-US" sz="1100" dirty="0">
                          <a:latin typeface="Verdana" panose="020B0604030504040204" pitchFamily="34" charset="0"/>
                          <a:ea typeface="Verdana" panose="020B0604030504040204" pitchFamily="34" charset="0"/>
                          <a:cs typeface="Verdana" panose="020B0604030504040204" pitchFamily="34" charset="0"/>
                        </a:rPr>
                        <a:t>Area</a:t>
                      </a:r>
                      <a:endParaRPr lang="en-US" sz="11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2B5E5"/>
                    </a:solidFill>
                  </a:tcPr>
                </a:tc>
                <a:tc gridSpan="3">
                  <a:txBody>
                    <a:bodyPr/>
                    <a:lstStyle/>
                    <a:p>
                      <a:pPr algn="ctr"/>
                      <a:r>
                        <a:rPr lang="en-US" sz="1100" dirty="0">
                          <a:latin typeface="Verdana" panose="020B0604030504040204" pitchFamily="34" charset="0"/>
                          <a:ea typeface="Verdana" panose="020B0604030504040204" pitchFamily="34" charset="0"/>
                          <a:cs typeface="Verdana" panose="020B0604030504040204" pitchFamily="34" charset="0"/>
                        </a:rPr>
                        <a:t>Estimated # of Hours</a:t>
                      </a:r>
                      <a:endParaRPr lang="en-US" sz="11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2B5E5"/>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02776">
                <a:tc vMerge="1">
                  <a:txBody>
                    <a:bodyPr/>
                    <a:lstStyle/>
                    <a:p>
                      <a:endParaRPr lang="en-US" dirty="0"/>
                    </a:p>
                  </a:txBody>
                  <a:tcPr/>
                </a:tc>
                <a:tc>
                  <a:txBody>
                    <a:bodyPr/>
                    <a:lstStyle/>
                    <a:p>
                      <a:pPr algn="ctr"/>
                      <a:r>
                        <a:rPr lang="en-US" sz="1100" dirty="0">
                          <a:latin typeface="Verdana" panose="020B0604030504040204" pitchFamily="34" charset="0"/>
                          <a:ea typeface="Verdana" panose="020B0604030504040204" pitchFamily="34" charset="0"/>
                          <a:cs typeface="Verdana" panose="020B0604030504040204" pitchFamily="34" charset="0"/>
                        </a:rPr>
                        <a:t>Simple</a:t>
                      </a:r>
                      <a:r>
                        <a:rPr lang="en-US" sz="1100" baseline="30000" dirty="0">
                          <a:latin typeface="Verdana" panose="020B0604030504040204" pitchFamily="34" charset="0"/>
                          <a:ea typeface="Verdana" panose="020B0604030504040204" pitchFamily="34" charset="0"/>
                          <a:cs typeface="Verdana" panose="020B0604030504040204" pitchFamily="34" charset="0"/>
                        </a:rPr>
                        <a:t>1</a:t>
                      </a:r>
                      <a:endParaRPr lang="en-US" sz="1100" b="1" baseline="30000"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latin typeface="Verdana" panose="020B0604030504040204" pitchFamily="34" charset="0"/>
                          <a:ea typeface="Verdana" panose="020B0604030504040204" pitchFamily="34" charset="0"/>
                          <a:cs typeface="Verdana" panose="020B0604030504040204" pitchFamily="34" charset="0"/>
                        </a:rPr>
                        <a:t>Medium</a:t>
                      </a:r>
                      <a:r>
                        <a:rPr lang="en-US" sz="1100" baseline="30000" dirty="0">
                          <a:latin typeface="Verdana" panose="020B0604030504040204" pitchFamily="34" charset="0"/>
                          <a:ea typeface="Verdana" panose="020B0604030504040204" pitchFamily="34" charset="0"/>
                          <a:cs typeface="Verdana" panose="020B0604030504040204" pitchFamily="34" charset="0"/>
                        </a:rPr>
                        <a:t>1</a:t>
                      </a:r>
                      <a:endParaRPr lang="en-US" sz="110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0" dirty="0">
                          <a:solidFill>
                            <a:schemeClr val="tx1"/>
                          </a:solidFill>
                          <a:latin typeface="Verdana" panose="020B0604030504040204" pitchFamily="34" charset="0"/>
                          <a:ea typeface="Verdana" panose="020B0604030504040204" pitchFamily="34" charset="0"/>
                          <a:cs typeface="Verdana" panose="020B0604030504040204" pitchFamily="34" charset="0"/>
                        </a:rPr>
                        <a:t>Complex</a:t>
                      </a:r>
                      <a:r>
                        <a:rPr lang="en-US" sz="1100" baseline="30000" dirty="0">
                          <a:latin typeface="Verdana" panose="020B0604030504040204" pitchFamily="34" charset="0"/>
                          <a:ea typeface="Verdana" panose="020B0604030504040204" pitchFamily="34" charset="0"/>
                          <a:cs typeface="Verdana" panose="020B0604030504040204" pitchFamily="34" charset="0"/>
                        </a:rPr>
                        <a:t>1</a:t>
                      </a:r>
                      <a:endParaRPr lang="en-US" sz="11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15429">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New Test Scenario Automation Script Development (includes</a:t>
                      </a:r>
                      <a:r>
                        <a:rPr lang="en-US" sz="1100" baseline="0" dirty="0">
                          <a:latin typeface="Verdana" panose="020B0604030504040204" pitchFamily="34" charset="0"/>
                          <a:ea typeface="Verdana" panose="020B0604030504040204" pitchFamily="34" charset="0"/>
                          <a:cs typeface="Verdana" panose="020B0604030504040204" pitchFamily="34" charset="0"/>
                        </a:rPr>
                        <a:t> unit testing)</a:t>
                      </a:r>
                      <a:endParaRPr lang="en-US" sz="1100"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27 hrs</a:t>
                      </a:r>
                    </a:p>
                  </a:txBody>
                  <a:tcPr marL="109728" marR="109728" marT="54864" marB="5486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45 hrs</a:t>
                      </a:r>
                    </a:p>
                  </a:txBody>
                  <a:tcPr marL="109728" marR="109728" marT="54864" marB="5486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72 hrs</a:t>
                      </a:r>
                    </a:p>
                  </a:txBody>
                  <a:tcPr marL="109728" marR="109728" marT="54864" marB="5486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91511">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Retrofits</a:t>
                      </a:r>
                      <a:endParaRPr lang="en-US" sz="1100"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10 hrs</a:t>
                      </a:r>
                    </a:p>
                  </a:txBody>
                  <a:tcPr marL="109728" marR="109728" marT="54864" marB="5486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18 hrs</a:t>
                      </a:r>
                    </a:p>
                  </a:txBody>
                  <a:tcPr marL="109728" marR="109728" marT="54864" marB="5486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27 hrs</a:t>
                      </a:r>
                    </a:p>
                  </a:txBody>
                  <a:tcPr marL="109728" marR="109728" marT="54864" marB="5486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91511">
                <a:tc>
                  <a:txBody>
                    <a:bodyPr/>
                    <a:lstStyle/>
                    <a:p>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Execution</a:t>
                      </a:r>
                    </a:p>
                  </a:txBody>
                  <a:tcPr marL="109728" marR="109728" marT="54864" marB="5486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FTE based on</a:t>
                      </a:r>
                      <a:r>
                        <a:rPr lang="en-US" sz="11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number of scripts (1 FTE/day for 10 scripts)</a:t>
                      </a:r>
                      <a:endPar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3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3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109728"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700006527"/>
              </p:ext>
            </p:extLst>
          </p:nvPr>
        </p:nvGraphicFramePr>
        <p:xfrm>
          <a:off x="6269161" y="6391476"/>
          <a:ext cx="3001634" cy="372503"/>
        </p:xfrm>
        <a:graphic>
          <a:graphicData uri="http://schemas.openxmlformats.org/drawingml/2006/table">
            <a:tbl>
              <a:tblPr>
                <a:tableStyleId>{0E3FDE45-AF77-4B5C-9715-49D594BDF05E}</a:tableStyleId>
              </a:tblPr>
              <a:tblGrid>
                <a:gridCol w="741380">
                  <a:extLst>
                    <a:ext uri="{9D8B030D-6E8A-4147-A177-3AD203B41FA5}">
                      <a16:colId xmlns:a16="http://schemas.microsoft.com/office/drawing/2014/main" val="20000"/>
                    </a:ext>
                  </a:extLst>
                </a:gridCol>
                <a:gridCol w="753418">
                  <a:extLst>
                    <a:ext uri="{9D8B030D-6E8A-4147-A177-3AD203B41FA5}">
                      <a16:colId xmlns:a16="http://schemas.microsoft.com/office/drawing/2014/main" val="20001"/>
                    </a:ext>
                  </a:extLst>
                </a:gridCol>
                <a:gridCol w="753418">
                  <a:extLst>
                    <a:ext uri="{9D8B030D-6E8A-4147-A177-3AD203B41FA5}">
                      <a16:colId xmlns:a16="http://schemas.microsoft.com/office/drawing/2014/main" val="20002"/>
                    </a:ext>
                  </a:extLst>
                </a:gridCol>
                <a:gridCol w="753418">
                  <a:extLst>
                    <a:ext uri="{9D8B030D-6E8A-4147-A177-3AD203B41FA5}">
                      <a16:colId xmlns:a16="http://schemas.microsoft.com/office/drawing/2014/main" val="20003"/>
                    </a:ext>
                  </a:extLst>
                </a:gridCol>
              </a:tblGrid>
              <a:tr h="65712">
                <a:tc gridSpan="4">
                  <a:txBody>
                    <a:bodyPr/>
                    <a:lstStyle/>
                    <a:p>
                      <a:pPr algn="ctr" fontAlgn="b"/>
                      <a:r>
                        <a:rPr lang="en-US" sz="700" b="1" u="none" strike="noStrike" baseline="30000" dirty="0">
                          <a:solidFill>
                            <a:schemeClr val="bg1"/>
                          </a:solidFill>
                          <a:effectLst/>
                          <a:latin typeface="Verdana" panose="020B0604030504040204" pitchFamily="34" charset="0"/>
                          <a:ea typeface="Verdana" panose="020B0604030504040204" pitchFamily="34" charset="0"/>
                          <a:cs typeface="Verdana" panose="020B0604030504040204" pitchFamily="34" charset="0"/>
                        </a:rPr>
                        <a:t>1</a:t>
                      </a:r>
                      <a:r>
                        <a:rPr lang="en-US" sz="700" b="1" u="none" strike="noStrike" dirty="0">
                          <a:solidFill>
                            <a:schemeClr val="bg1"/>
                          </a:solidFill>
                          <a:effectLst/>
                          <a:latin typeface="Verdana" panose="020B0604030504040204" pitchFamily="34" charset="0"/>
                          <a:ea typeface="Verdana" panose="020B0604030504040204" pitchFamily="34" charset="0"/>
                          <a:cs typeface="Verdana" panose="020B0604030504040204" pitchFamily="34" charset="0"/>
                        </a:rPr>
                        <a:t>Complexity Guidance</a:t>
                      </a:r>
                      <a:endParaRPr lang="en-US" sz="700" b="1" i="0" u="none" strike="noStrike" baseline="30000" dirty="0">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9144"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2B5E5"/>
                    </a:solidFill>
                  </a:tcPr>
                </a:tc>
                <a:tc hMerge="1">
                  <a:txBody>
                    <a:bodyPr/>
                    <a:lstStyle/>
                    <a:p>
                      <a:endParaRPr lang="en-US"/>
                    </a:p>
                  </a:txBody>
                  <a:tcPr/>
                </a:tc>
                <a:tc hMerge="1">
                  <a:txBody>
                    <a:bodyPr/>
                    <a:lstStyle/>
                    <a:p>
                      <a:pPr algn="ctr" fontAlgn="b"/>
                      <a:endParaRPr lang="en-US" sz="1000" b="1" i="0" u="none" strike="noStrike" dirty="0">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9144"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2B5E5"/>
                    </a:solidFill>
                  </a:tcPr>
                </a:tc>
                <a:tc hMerge="1">
                  <a:txBody>
                    <a:bodyPr/>
                    <a:lstStyle/>
                    <a:p>
                      <a:pPr algn="ctr" fontAlgn="b"/>
                      <a:endParaRPr lang="en-US" sz="1000" b="1" i="0" u="none" strike="noStrike" dirty="0">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9144"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2B5E5"/>
                    </a:solidFill>
                  </a:tcPr>
                </a:tc>
                <a:extLst>
                  <a:ext uri="{0D108BD9-81ED-4DB2-BD59-A6C34878D82A}">
                    <a16:rowId xmlns:a16="http://schemas.microsoft.com/office/drawing/2014/main" val="10000"/>
                  </a:ext>
                </a:extLst>
              </a:tr>
              <a:tr h="115422">
                <a:tc>
                  <a:txBody>
                    <a:bodyPr/>
                    <a:lstStyle/>
                    <a:p>
                      <a:pPr algn="l" fontAlgn="b"/>
                      <a:r>
                        <a:rPr lang="en-US" sz="700" u="none" strike="noStrike" dirty="0">
                          <a:effectLst/>
                          <a:latin typeface="Verdana" panose="020B0604030504040204" pitchFamily="34" charset="0"/>
                          <a:ea typeface="Verdana" panose="020B0604030504040204" pitchFamily="34" charset="0"/>
                          <a:cs typeface="Verdana" panose="020B0604030504040204" pitchFamily="34" charset="0"/>
                        </a:rPr>
                        <a:t>Simple</a:t>
                      </a:r>
                      <a:endPar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700" u="none" strike="noStrike" dirty="0">
                          <a:effectLst/>
                          <a:latin typeface="Verdana" panose="020B0604030504040204" pitchFamily="34" charset="0"/>
                          <a:ea typeface="Verdana" panose="020B0604030504040204" pitchFamily="34" charset="0"/>
                          <a:cs typeface="Verdana" panose="020B0604030504040204" pitchFamily="34" charset="0"/>
                        </a:rPr>
                        <a:t>5-15 Steps</a:t>
                      </a:r>
                      <a:endPar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700" u="none" strike="noStrike" dirty="0">
                          <a:effectLst/>
                          <a:latin typeface="Verdana" panose="020B0604030504040204" pitchFamily="34" charset="0"/>
                          <a:ea typeface="Verdana" panose="020B0604030504040204" pitchFamily="34" charset="0"/>
                          <a:cs typeface="Verdana" panose="020B0604030504040204" pitchFamily="34" charset="0"/>
                        </a:rPr>
                        <a:t>Complex</a:t>
                      </a:r>
                      <a:endPar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700" u="none" strike="noStrike" dirty="0">
                          <a:effectLst/>
                          <a:latin typeface="Verdana" panose="020B0604030504040204" pitchFamily="34" charset="0"/>
                          <a:ea typeface="Verdana" panose="020B0604030504040204" pitchFamily="34" charset="0"/>
                          <a:cs typeface="Verdana" panose="020B0604030504040204" pitchFamily="34" charset="0"/>
                        </a:rPr>
                        <a:t>25-50  Steps</a:t>
                      </a:r>
                      <a:endPar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40855">
                <a:tc>
                  <a:txBody>
                    <a:bodyPr/>
                    <a:lstStyle/>
                    <a:p>
                      <a:pPr algn="l" fontAlgn="b"/>
                      <a:r>
                        <a:rPr lang="en-US" sz="700" u="none" strike="noStrike" dirty="0">
                          <a:effectLst/>
                          <a:latin typeface="Verdana" panose="020B0604030504040204" pitchFamily="34" charset="0"/>
                          <a:ea typeface="Verdana" panose="020B0604030504040204" pitchFamily="34" charset="0"/>
                          <a:cs typeface="Verdana" panose="020B0604030504040204" pitchFamily="34" charset="0"/>
                        </a:rPr>
                        <a:t>Medium</a:t>
                      </a:r>
                      <a:endPar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700" u="none" strike="noStrike" dirty="0">
                          <a:effectLst/>
                          <a:latin typeface="Verdana" panose="020B0604030504040204" pitchFamily="34" charset="0"/>
                          <a:ea typeface="Verdana" panose="020B0604030504040204" pitchFamily="34" charset="0"/>
                          <a:cs typeface="Verdana" panose="020B0604030504040204" pitchFamily="34" charset="0"/>
                        </a:rPr>
                        <a:t>15-25  Steps</a:t>
                      </a:r>
                      <a:endPar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Very Complex</a:t>
                      </a:r>
                    </a:p>
                  </a:txBody>
                  <a:tcPr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50-100</a:t>
                      </a:r>
                      <a:r>
                        <a:rPr lang="en-US" sz="700" b="0" i="0" u="none" strike="noStrike" baseline="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Steps</a:t>
                      </a:r>
                      <a:endParaRPr lang="en-US" sz="700" b="0" i="0" u="none" strike="noStrike"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R="9144" marT="9144"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9" name="Rectangle 8"/>
          <p:cNvSpPr/>
          <p:nvPr/>
        </p:nvSpPr>
        <p:spPr>
          <a:xfrm>
            <a:off x="468460" y="2933070"/>
            <a:ext cx="1762662" cy="276999"/>
          </a:xfrm>
          <a:prstGeom prst="rect">
            <a:avLst/>
          </a:prstGeom>
        </p:spPr>
        <p:txBody>
          <a:bodyPr wrap="none" lIns="0">
            <a:spAutoFit/>
          </a:bodyPr>
          <a:lstStyle/>
          <a:p>
            <a:pPr marL="228600" indent="-228600">
              <a:buFont typeface="+mj-lt"/>
              <a:buAutoNum type="alphaUcPeriod" startAt="2"/>
            </a:pPr>
            <a:r>
              <a:rPr lang="en-US" sz="1200" b="1" dirty="0">
                <a:cs typeface="Arial" pitchFamily="34" charset="0"/>
              </a:rPr>
              <a:t>Cloud Functional</a:t>
            </a:r>
            <a:endParaRPr lang="en-US" sz="1200" dirty="0"/>
          </a:p>
        </p:txBody>
      </p:sp>
      <p:sp>
        <p:nvSpPr>
          <p:cNvPr id="44" name="Rectangle 43"/>
          <p:cNvSpPr/>
          <p:nvPr/>
        </p:nvSpPr>
        <p:spPr>
          <a:xfrm>
            <a:off x="469900" y="933980"/>
            <a:ext cx="3617337" cy="276999"/>
          </a:xfrm>
          <a:prstGeom prst="rect">
            <a:avLst/>
          </a:prstGeom>
        </p:spPr>
        <p:txBody>
          <a:bodyPr wrap="none" lIns="0">
            <a:spAutoFit/>
          </a:bodyPr>
          <a:lstStyle/>
          <a:p>
            <a:pPr marL="228600" indent="-228600">
              <a:buFont typeface="+mj-lt"/>
              <a:buAutoNum type="alphaUcPeriod"/>
            </a:pPr>
            <a:r>
              <a:rPr lang="en-US" sz="1200" b="1" dirty="0">
                <a:cs typeface="Arial" pitchFamily="34" charset="0"/>
              </a:rPr>
              <a:t>Automation Development &amp; Execution</a:t>
            </a:r>
            <a:endParaRPr lang="en-US" sz="1200" dirty="0"/>
          </a:p>
        </p:txBody>
      </p:sp>
      <p:sp>
        <p:nvSpPr>
          <p:cNvPr id="46" name="Rectangle 45"/>
          <p:cNvSpPr>
            <a:spLocks noChangeArrowheads="1"/>
          </p:cNvSpPr>
          <p:nvPr/>
        </p:nvSpPr>
        <p:spPr bwMode="auto">
          <a:xfrm>
            <a:off x="707010" y="3210069"/>
            <a:ext cx="11015089" cy="513516"/>
          </a:xfrm>
          <a:prstGeom prst="rect">
            <a:avLst/>
          </a:prstGeom>
          <a:solidFill>
            <a:schemeClr val="bg2"/>
          </a:solidFill>
          <a:ln w="12700" algn="ctr">
            <a:noFill/>
            <a:miter lim="800000"/>
            <a:headEnd type="none" w="sm" len="sm"/>
            <a:tailEnd/>
          </a:ln>
        </p:spPr>
        <p:txBody>
          <a:bodyPr wrap="square" lIns="88900" tIns="88900" rIns="88900" bIns="88900" anchor="ctr">
            <a:noAutofit/>
          </a:bodyPr>
          <a:lstStyle/>
          <a:p>
            <a:pPr marL="171450" indent="-171450">
              <a:spcAft>
                <a:spcPts val="600"/>
              </a:spcAft>
              <a:buFont typeface="Arial" panose="020B0604020202020204" pitchFamily="34" charset="0"/>
              <a:buChar char="•"/>
              <a:defRPr/>
            </a:pPr>
            <a:r>
              <a:rPr lang="en-US" altLang="ja-JP" sz="1100" dirty="0">
                <a:ea typeface="ＭＳ Ｐゴシック" pitchFamily="50" charset="-128"/>
              </a:rPr>
              <a:t>2 FTE per Process Area (assuming 1 FTE supporting 2-3 modules</a:t>
            </a:r>
            <a:r>
              <a:rPr lang="en-US" altLang="ja-JP" sz="1100" baseline="30000" dirty="0">
                <a:ea typeface="ＭＳ Ｐゴシック" pitchFamily="50" charset="-128"/>
              </a:rPr>
              <a:t>2</a:t>
            </a:r>
            <a:r>
              <a:rPr lang="en-US" altLang="ja-JP" sz="1100" dirty="0">
                <a:ea typeface="ＭＳ Ｐゴシック" pitchFamily="50" charset="-128"/>
              </a:rPr>
              <a:t> per process area)</a:t>
            </a:r>
          </a:p>
          <a:p>
            <a:pPr marL="171450" indent="-171450">
              <a:spcAft>
                <a:spcPts val="600"/>
              </a:spcAft>
              <a:buFont typeface="Arial" panose="020B0604020202020204" pitchFamily="34" charset="0"/>
              <a:buChar char="•"/>
              <a:defRPr/>
            </a:pPr>
            <a:r>
              <a:rPr lang="en-US" altLang="ja-JP" sz="1100" b="1" dirty="0">
                <a:ea typeface="ＭＳ Ｐゴシック" pitchFamily="50" charset="-128"/>
              </a:rPr>
              <a:t>Pre-patch:</a:t>
            </a:r>
            <a:r>
              <a:rPr lang="en-US" altLang="ja-JP" sz="1100" dirty="0">
                <a:ea typeface="ＭＳ Ｐゴシック" pitchFamily="50" charset="-128"/>
              </a:rPr>
              <a:t> Test Scenario creation, documentation &amp; support. </a:t>
            </a:r>
            <a:r>
              <a:rPr lang="en-US" altLang="ja-JP" sz="1100" b="1" dirty="0">
                <a:ea typeface="ＭＳ Ｐゴシック" pitchFamily="50" charset="-128"/>
              </a:rPr>
              <a:t>Post-patch: </a:t>
            </a:r>
            <a:r>
              <a:rPr lang="en-US" altLang="ja-JP" sz="1100" dirty="0">
                <a:ea typeface="ＭＳ Ｐゴシック" pitchFamily="50" charset="-128"/>
              </a:rPr>
              <a:t>Only needed for support (1 FTE per process area)</a:t>
            </a:r>
          </a:p>
        </p:txBody>
      </p:sp>
      <p:sp>
        <p:nvSpPr>
          <p:cNvPr id="13" name="Rectangle 12"/>
          <p:cNvSpPr/>
          <p:nvPr/>
        </p:nvSpPr>
        <p:spPr>
          <a:xfrm>
            <a:off x="9270795" y="6391476"/>
            <a:ext cx="2415543" cy="200055"/>
          </a:xfrm>
          <a:prstGeom prst="rect">
            <a:avLst/>
          </a:prstGeom>
        </p:spPr>
        <p:txBody>
          <a:bodyPr wrap="square">
            <a:spAutoFit/>
          </a:bodyPr>
          <a:lstStyle/>
          <a:p>
            <a:r>
              <a:rPr lang="en-US" sz="700" baseline="30000" dirty="0"/>
              <a:t>2 </a:t>
            </a:r>
            <a:r>
              <a:rPr lang="en-US" sz="700" dirty="0"/>
              <a:t>Depending on complexity </a:t>
            </a:r>
          </a:p>
        </p:txBody>
      </p:sp>
      <p:sp>
        <p:nvSpPr>
          <p:cNvPr id="48" name="Rectangle 47"/>
          <p:cNvSpPr/>
          <p:nvPr/>
        </p:nvSpPr>
        <p:spPr>
          <a:xfrm>
            <a:off x="480897" y="3871511"/>
            <a:ext cx="1674497" cy="276999"/>
          </a:xfrm>
          <a:prstGeom prst="rect">
            <a:avLst/>
          </a:prstGeom>
        </p:spPr>
        <p:txBody>
          <a:bodyPr wrap="none" lIns="0">
            <a:spAutoFit/>
          </a:bodyPr>
          <a:lstStyle/>
          <a:p>
            <a:pPr marL="228600" indent="-228600">
              <a:buFont typeface="+mj-lt"/>
              <a:buAutoNum type="alphaUcPeriod" startAt="3"/>
            </a:pPr>
            <a:r>
              <a:rPr lang="en-US" sz="1200" b="1" dirty="0">
                <a:cs typeface="Arial" pitchFamily="34" charset="0"/>
              </a:rPr>
              <a:t>Cloud Technical</a:t>
            </a:r>
            <a:endParaRPr lang="en-US" sz="1200" dirty="0"/>
          </a:p>
        </p:txBody>
      </p:sp>
      <p:sp>
        <p:nvSpPr>
          <p:cNvPr id="49" name="Rectangle 48"/>
          <p:cNvSpPr>
            <a:spLocks noChangeArrowheads="1"/>
          </p:cNvSpPr>
          <p:nvPr/>
        </p:nvSpPr>
        <p:spPr bwMode="auto">
          <a:xfrm>
            <a:off x="707009" y="4154320"/>
            <a:ext cx="11026087" cy="374952"/>
          </a:xfrm>
          <a:prstGeom prst="rect">
            <a:avLst/>
          </a:prstGeom>
          <a:solidFill>
            <a:schemeClr val="bg2"/>
          </a:solidFill>
          <a:ln w="12700" algn="ctr">
            <a:noFill/>
            <a:miter lim="800000"/>
            <a:headEnd type="none" w="sm" len="sm"/>
            <a:tailEnd/>
          </a:ln>
        </p:spPr>
        <p:txBody>
          <a:bodyPr wrap="square" lIns="88900" tIns="88900" rIns="88900" bIns="88900" anchor="ctr">
            <a:noAutofit/>
          </a:bodyPr>
          <a:lstStyle/>
          <a:p>
            <a:pPr marL="171450" indent="-171450">
              <a:spcAft>
                <a:spcPts val="600"/>
              </a:spcAft>
              <a:buFont typeface="Arial" panose="020B0604020202020204" pitchFamily="34" charset="0"/>
              <a:buChar char="•"/>
              <a:defRPr/>
            </a:pPr>
            <a:r>
              <a:rPr lang="en-US" altLang="ja-JP" sz="1100" dirty="0">
                <a:ea typeface="ＭＳ Ｐゴシック" pitchFamily="50" charset="-128"/>
              </a:rPr>
              <a:t>Need basis dependency on customization in the system</a:t>
            </a:r>
          </a:p>
        </p:txBody>
      </p:sp>
      <p:grpSp>
        <p:nvGrpSpPr>
          <p:cNvPr id="14" name="Group 13"/>
          <p:cNvGrpSpPr/>
          <p:nvPr/>
        </p:nvGrpSpPr>
        <p:grpSpPr>
          <a:xfrm>
            <a:off x="3364408" y="4862472"/>
            <a:ext cx="7211380" cy="274320"/>
            <a:chOff x="2764333" y="4852065"/>
            <a:chExt cx="7165185" cy="496975"/>
          </a:xfrm>
        </p:grpSpPr>
        <p:sp>
          <p:nvSpPr>
            <p:cNvPr id="50" name="AutoShape 4"/>
            <p:cNvSpPr>
              <a:spLocks noChangeArrowheads="1"/>
            </p:cNvSpPr>
            <p:nvPr/>
          </p:nvSpPr>
          <p:spPr bwMode="auto">
            <a:xfrm>
              <a:off x="6329733" y="4852065"/>
              <a:ext cx="1817085" cy="496975"/>
            </a:xfrm>
            <a:prstGeom prst="chevron">
              <a:avLst>
                <a:gd name="adj" fmla="val 36855"/>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lgn="ctr"/>
              <a:r>
                <a:rPr lang="en-US" sz="1200" dirty="0">
                  <a:solidFill>
                    <a:schemeClr val="bg1"/>
                  </a:solidFill>
                  <a:cs typeface="Arial" pitchFamily="34" charset="0"/>
                </a:rPr>
                <a:t>Deliver</a:t>
              </a:r>
            </a:p>
          </p:txBody>
        </p:sp>
        <p:sp>
          <p:nvSpPr>
            <p:cNvPr id="51" name="AutoShape 5"/>
            <p:cNvSpPr>
              <a:spLocks noChangeArrowheads="1"/>
            </p:cNvSpPr>
            <p:nvPr/>
          </p:nvSpPr>
          <p:spPr bwMode="auto">
            <a:xfrm>
              <a:off x="8112433" y="4852065"/>
              <a:ext cx="1817085" cy="496975"/>
            </a:xfrm>
            <a:prstGeom prst="chevron">
              <a:avLst>
                <a:gd name="adj" fmla="val 36855"/>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lgn="ctr"/>
              <a:r>
                <a:rPr lang="en-US" sz="1200" dirty="0">
                  <a:solidFill>
                    <a:schemeClr val="bg1"/>
                  </a:solidFill>
                  <a:cs typeface="Arial" pitchFamily="34" charset="0"/>
                </a:rPr>
                <a:t>Support</a:t>
              </a:r>
            </a:p>
          </p:txBody>
        </p:sp>
        <p:sp>
          <p:nvSpPr>
            <p:cNvPr id="54" name="AutoShape 6"/>
            <p:cNvSpPr>
              <a:spLocks noChangeArrowheads="1"/>
            </p:cNvSpPr>
            <p:nvPr/>
          </p:nvSpPr>
          <p:spPr bwMode="auto">
            <a:xfrm>
              <a:off x="2764333" y="4852065"/>
              <a:ext cx="1817085" cy="496975"/>
            </a:xfrm>
            <a:prstGeom prst="homePlate">
              <a:avLst>
                <a:gd name="adj" fmla="val 38784"/>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lgn="ctr"/>
              <a:r>
                <a:rPr lang="en-US" sz="1200" dirty="0">
                  <a:solidFill>
                    <a:schemeClr val="bg1"/>
                  </a:solidFill>
                  <a:cs typeface="Arial" pitchFamily="34" charset="0"/>
                </a:rPr>
                <a:t>Prepare &amp; Build</a:t>
              </a:r>
            </a:p>
          </p:txBody>
        </p:sp>
        <p:sp>
          <p:nvSpPr>
            <p:cNvPr id="56" name="AutoShape 7"/>
            <p:cNvSpPr>
              <a:spLocks noChangeArrowheads="1"/>
            </p:cNvSpPr>
            <p:nvPr/>
          </p:nvSpPr>
          <p:spPr bwMode="auto">
            <a:xfrm>
              <a:off x="4547033" y="4852065"/>
              <a:ext cx="1817085" cy="496975"/>
            </a:xfrm>
            <a:prstGeom prst="chevron">
              <a:avLst>
                <a:gd name="adj" fmla="val 36855"/>
              </a:avLst>
            </a:prstGeom>
            <a:solidFill>
              <a:schemeClr val="accent3"/>
            </a:solidFill>
            <a:ln w="6350" algn="ctr">
              <a:noFill/>
              <a:miter lim="800000"/>
              <a:headEnd type="none" w="sm" len="sm"/>
              <a:tailEnd type="none" w="sm" len="sm"/>
            </a:ln>
          </p:spPr>
          <p:txBody>
            <a:bodyPr wrap="none" lIns="88900" tIns="88900" rIns="88900" bIns="88900" anchor="ctr"/>
            <a:lstStyle/>
            <a:p>
              <a:pPr marL="171450" indent="-171450" algn="ctr"/>
              <a:r>
                <a:rPr lang="en-US" sz="1200" dirty="0">
                  <a:solidFill>
                    <a:schemeClr val="bg1"/>
                  </a:solidFill>
                  <a:cs typeface="Arial" pitchFamily="34" charset="0"/>
                </a:rPr>
                <a:t>Execute</a:t>
              </a:r>
            </a:p>
          </p:txBody>
        </p:sp>
      </p:grpSp>
      <p:sp>
        <p:nvSpPr>
          <p:cNvPr id="15" name="Isosceles Triangle 14"/>
          <p:cNvSpPr/>
          <p:nvPr/>
        </p:nvSpPr>
        <p:spPr bwMode="gray">
          <a:xfrm rot="10800000">
            <a:off x="4385754" y="4638777"/>
            <a:ext cx="3657600" cy="182880"/>
          </a:xfrm>
          <a:prstGeom prst="triangl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7" name="Pentagon 96"/>
          <p:cNvSpPr/>
          <p:nvPr/>
        </p:nvSpPr>
        <p:spPr bwMode="gray">
          <a:xfrm>
            <a:off x="622633" y="4862472"/>
            <a:ext cx="1239277" cy="1347351"/>
          </a:xfrm>
          <a:prstGeom prst="homePlate">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Team Ramp plan flow based on phase and task</a:t>
            </a:r>
          </a:p>
        </p:txBody>
      </p:sp>
      <p:sp>
        <p:nvSpPr>
          <p:cNvPr id="98" name="Oval 97"/>
          <p:cNvSpPr>
            <a:spLocks noChangeAspect="1"/>
          </p:cNvSpPr>
          <p:nvPr/>
        </p:nvSpPr>
        <p:spPr bwMode="gray">
          <a:xfrm>
            <a:off x="4087237" y="5201107"/>
            <a:ext cx="182880" cy="182880"/>
          </a:xfrm>
          <a:prstGeom prst="ellipse">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grpSp>
        <p:nvGrpSpPr>
          <p:cNvPr id="103" name="Group 102"/>
          <p:cNvGrpSpPr>
            <a:grpSpLocks noChangeAspect="1"/>
          </p:cNvGrpSpPr>
          <p:nvPr/>
        </p:nvGrpSpPr>
        <p:grpSpPr>
          <a:xfrm>
            <a:off x="5916113" y="5201107"/>
            <a:ext cx="182880" cy="182880"/>
            <a:chOff x="2362200" y="1633474"/>
            <a:chExt cx="457200" cy="457200"/>
          </a:xfrm>
        </p:grpSpPr>
        <p:sp>
          <p:nvSpPr>
            <p:cNvPr id="104" name="Pie 103"/>
            <p:cNvSpPr/>
            <p:nvPr/>
          </p:nvSpPr>
          <p:spPr bwMode="gray">
            <a:xfrm>
              <a:off x="2362200" y="1633474"/>
              <a:ext cx="457200" cy="457200"/>
            </a:xfrm>
            <a:prstGeom prst="pie">
              <a:avLst>
                <a:gd name="adj1" fmla="val 10800000"/>
                <a:gd name="adj2" fmla="val 16200000"/>
              </a:avLst>
            </a:prstGeom>
            <a:solidFill>
              <a:srgbClr val="FFFFFF"/>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105" name="Pie 104"/>
            <p:cNvSpPr/>
            <p:nvPr/>
          </p:nvSpPr>
          <p:spPr bwMode="gray">
            <a:xfrm>
              <a:off x="2362200" y="1633474"/>
              <a:ext cx="457200" cy="457200"/>
            </a:xfrm>
            <a:prstGeom prst="pie">
              <a:avLst>
                <a:gd name="adj1" fmla="val 16200000"/>
                <a:gd name="adj2" fmla="val 10800000"/>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grpSp>
      <p:grpSp>
        <p:nvGrpSpPr>
          <p:cNvPr id="106" name="Group 105"/>
          <p:cNvGrpSpPr>
            <a:grpSpLocks noChangeAspect="1"/>
          </p:cNvGrpSpPr>
          <p:nvPr/>
        </p:nvGrpSpPr>
        <p:grpSpPr>
          <a:xfrm>
            <a:off x="7723195" y="5201107"/>
            <a:ext cx="182880" cy="182880"/>
            <a:chOff x="2362200" y="1633474"/>
            <a:chExt cx="457200" cy="457200"/>
          </a:xfrm>
        </p:grpSpPr>
        <p:sp>
          <p:nvSpPr>
            <p:cNvPr id="107" name="Pie 106"/>
            <p:cNvSpPr/>
            <p:nvPr/>
          </p:nvSpPr>
          <p:spPr bwMode="gray">
            <a:xfrm>
              <a:off x="2362200" y="1633474"/>
              <a:ext cx="457200" cy="457200"/>
            </a:xfrm>
            <a:prstGeom prst="pie">
              <a:avLst>
                <a:gd name="adj1" fmla="val 5400000"/>
                <a:gd name="adj2" fmla="val 16200000"/>
              </a:avLst>
            </a:prstGeom>
            <a:solidFill>
              <a:srgbClr val="FFFFFF"/>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108" name="Pie 107"/>
            <p:cNvSpPr/>
            <p:nvPr/>
          </p:nvSpPr>
          <p:spPr bwMode="gray">
            <a:xfrm>
              <a:off x="2362200" y="1633474"/>
              <a:ext cx="457200" cy="457200"/>
            </a:xfrm>
            <a:prstGeom prst="pie">
              <a:avLst>
                <a:gd name="adj1" fmla="val 16200000"/>
                <a:gd name="adj2" fmla="val 5400000"/>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grpSp>
      <p:sp>
        <p:nvSpPr>
          <p:cNvPr id="109" name="Oval 108"/>
          <p:cNvSpPr>
            <a:spLocks noChangeAspect="1"/>
          </p:cNvSpPr>
          <p:nvPr/>
        </p:nvSpPr>
        <p:spPr bwMode="gray">
          <a:xfrm>
            <a:off x="4087237" y="5572615"/>
            <a:ext cx="182880" cy="182880"/>
          </a:xfrm>
          <a:prstGeom prst="ellipse">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110" name="Oval 109"/>
          <p:cNvSpPr>
            <a:spLocks noChangeAspect="1"/>
          </p:cNvSpPr>
          <p:nvPr/>
        </p:nvSpPr>
        <p:spPr bwMode="gray">
          <a:xfrm>
            <a:off x="5916113" y="5572615"/>
            <a:ext cx="182880" cy="182880"/>
          </a:xfrm>
          <a:prstGeom prst="ellipse">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111" name="Oval 110"/>
          <p:cNvSpPr>
            <a:spLocks noChangeAspect="1"/>
          </p:cNvSpPr>
          <p:nvPr/>
        </p:nvSpPr>
        <p:spPr bwMode="gray">
          <a:xfrm>
            <a:off x="7723195" y="5572615"/>
            <a:ext cx="182880" cy="182880"/>
          </a:xfrm>
          <a:prstGeom prst="ellipse">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grpSp>
        <p:nvGrpSpPr>
          <p:cNvPr id="112" name="Group 111"/>
          <p:cNvGrpSpPr>
            <a:grpSpLocks noChangeAspect="1"/>
          </p:cNvGrpSpPr>
          <p:nvPr/>
        </p:nvGrpSpPr>
        <p:grpSpPr>
          <a:xfrm>
            <a:off x="9513693" y="5572615"/>
            <a:ext cx="182880" cy="182880"/>
            <a:chOff x="2362200" y="1633474"/>
            <a:chExt cx="457200" cy="457200"/>
          </a:xfrm>
        </p:grpSpPr>
        <p:sp>
          <p:nvSpPr>
            <p:cNvPr id="113" name="Pie 112"/>
            <p:cNvSpPr/>
            <p:nvPr/>
          </p:nvSpPr>
          <p:spPr bwMode="gray">
            <a:xfrm>
              <a:off x="2362200" y="1633474"/>
              <a:ext cx="457200" cy="457200"/>
            </a:xfrm>
            <a:prstGeom prst="pie">
              <a:avLst>
                <a:gd name="adj1" fmla="val 5400000"/>
                <a:gd name="adj2" fmla="val 16200000"/>
              </a:avLst>
            </a:prstGeom>
            <a:solidFill>
              <a:srgbClr val="FFFFFF"/>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114" name="Pie 113"/>
            <p:cNvSpPr/>
            <p:nvPr/>
          </p:nvSpPr>
          <p:spPr bwMode="gray">
            <a:xfrm>
              <a:off x="2362200" y="1633474"/>
              <a:ext cx="457200" cy="457200"/>
            </a:xfrm>
            <a:prstGeom prst="pie">
              <a:avLst>
                <a:gd name="adj1" fmla="val 16200000"/>
                <a:gd name="adj2" fmla="val 5400000"/>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grpSp>
      <p:sp>
        <p:nvSpPr>
          <p:cNvPr id="115" name="Oval 114"/>
          <p:cNvSpPr>
            <a:spLocks noChangeAspect="1"/>
          </p:cNvSpPr>
          <p:nvPr/>
        </p:nvSpPr>
        <p:spPr bwMode="gray">
          <a:xfrm>
            <a:off x="4087237" y="5962887"/>
            <a:ext cx="182880" cy="182880"/>
          </a:xfrm>
          <a:prstGeom prst="ellipse">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116" name="Oval 115"/>
          <p:cNvSpPr>
            <a:spLocks noChangeAspect="1"/>
          </p:cNvSpPr>
          <p:nvPr/>
        </p:nvSpPr>
        <p:spPr bwMode="gray">
          <a:xfrm>
            <a:off x="5916113" y="5962887"/>
            <a:ext cx="182880" cy="182880"/>
          </a:xfrm>
          <a:prstGeom prst="ellipse">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117" name="Oval 116"/>
          <p:cNvSpPr>
            <a:spLocks noChangeAspect="1"/>
          </p:cNvSpPr>
          <p:nvPr/>
        </p:nvSpPr>
        <p:spPr bwMode="gray">
          <a:xfrm>
            <a:off x="7723195" y="5962887"/>
            <a:ext cx="182880" cy="182880"/>
          </a:xfrm>
          <a:prstGeom prst="ellipse">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cxnSp>
        <p:nvCxnSpPr>
          <p:cNvPr id="17" name="Straight Connector 16"/>
          <p:cNvCxnSpPr/>
          <p:nvPr/>
        </p:nvCxnSpPr>
        <p:spPr>
          <a:xfrm>
            <a:off x="1942714" y="5454107"/>
            <a:ext cx="85953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944282" y="5831965"/>
            <a:ext cx="85953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953709" y="6209823"/>
            <a:ext cx="85953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1909045" y="5209953"/>
            <a:ext cx="1415772" cy="258532"/>
          </a:xfrm>
          <a:prstGeom prst="rect">
            <a:avLst/>
          </a:prstGeom>
        </p:spPr>
        <p:txBody>
          <a:bodyPr wrap="none">
            <a:spAutoFit/>
          </a:bodyPr>
          <a:lstStyle/>
          <a:p>
            <a:pPr lvl="0" defTabSz="914400" fontAlgn="base">
              <a:lnSpc>
                <a:spcPct val="106000"/>
              </a:lnSpc>
              <a:spcBef>
                <a:spcPct val="50000"/>
              </a:spcBef>
              <a:spcAft>
                <a:spcPct val="0"/>
              </a:spcAft>
              <a:buClr>
                <a:schemeClr val="tx1"/>
              </a:buClr>
            </a:pPr>
            <a:r>
              <a:rPr lang="en-US" sz="1100" dirty="0">
                <a:solidFill>
                  <a:schemeClr val="dk1"/>
                </a:solidFill>
              </a:rPr>
              <a:t>Automation team</a:t>
            </a:r>
            <a:endParaRPr lang="en-US" sz="1100" dirty="0">
              <a:solidFill>
                <a:schemeClr val="dk1"/>
              </a:solidFill>
              <a:latin typeface="Arial" charset="0"/>
            </a:endParaRPr>
          </a:p>
        </p:txBody>
      </p:sp>
      <p:sp>
        <p:nvSpPr>
          <p:cNvPr id="122" name="Rectangle 121"/>
          <p:cNvSpPr/>
          <p:nvPr/>
        </p:nvSpPr>
        <p:spPr>
          <a:xfrm>
            <a:off x="1909045" y="5573727"/>
            <a:ext cx="1324402" cy="258532"/>
          </a:xfrm>
          <a:prstGeom prst="rect">
            <a:avLst/>
          </a:prstGeom>
        </p:spPr>
        <p:txBody>
          <a:bodyPr wrap="none">
            <a:spAutoFit/>
          </a:bodyPr>
          <a:lstStyle/>
          <a:p>
            <a:pPr lvl="0" defTabSz="914400" fontAlgn="base">
              <a:lnSpc>
                <a:spcPct val="106000"/>
              </a:lnSpc>
              <a:spcBef>
                <a:spcPct val="50000"/>
              </a:spcBef>
              <a:spcAft>
                <a:spcPct val="0"/>
              </a:spcAft>
              <a:buClr>
                <a:schemeClr val="tx1"/>
              </a:buClr>
            </a:pPr>
            <a:r>
              <a:rPr lang="en-US" sz="1100" dirty="0">
                <a:solidFill>
                  <a:schemeClr val="dk1"/>
                </a:solidFill>
              </a:rPr>
              <a:t>Functional team</a:t>
            </a:r>
            <a:endParaRPr lang="en-US" sz="1100" dirty="0">
              <a:solidFill>
                <a:schemeClr val="dk1"/>
              </a:solidFill>
              <a:latin typeface="Arial" charset="0"/>
            </a:endParaRPr>
          </a:p>
        </p:txBody>
      </p:sp>
      <p:sp>
        <p:nvSpPr>
          <p:cNvPr id="123" name="Rectangle 122"/>
          <p:cNvSpPr/>
          <p:nvPr/>
        </p:nvSpPr>
        <p:spPr>
          <a:xfrm>
            <a:off x="1909045" y="5937501"/>
            <a:ext cx="1255472" cy="258532"/>
          </a:xfrm>
          <a:prstGeom prst="rect">
            <a:avLst/>
          </a:prstGeom>
        </p:spPr>
        <p:txBody>
          <a:bodyPr wrap="none">
            <a:spAutoFit/>
          </a:bodyPr>
          <a:lstStyle/>
          <a:p>
            <a:pPr lvl="0" defTabSz="914400" fontAlgn="base">
              <a:lnSpc>
                <a:spcPct val="106000"/>
              </a:lnSpc>
              <a:spcBef>
                <a:spcPct val="50000"/>
              </a:spcBef>
              <a:spcAft>
                <a:spcPct val="0"/>
              </a:spcAft>
              <a:buClr>
                <a:schemeClr val="tx1"/>
              </a:buClr>
            </a:pPr>
            <a:r>
              <a:rPr lang="en-US" sz="1100" dirty="0">
                <a:solidFill>
                  <a:schemeClr val="dk1"/>
                </a:solidFill>
              </a:rPr>
              <a:t>Technical team</a:t>
            </a:r>
            <a:endParaRPr lang="en-US" sz="1100" dirty="0">
              <a:solidFill>
                <a:schemeClr val="dk1"/>
              </a:solidFill>
              <a:latin typeface="Arial" charset="0"/>
            </a:endParaRPr>
          </a:p>
        </p:txBody>
      </p:sp>
      <p:grpSp>
        <p:nvGrpSpPr>
          <p:cNvPr id="124" name="Group 123"/>
          <p:cNvGrpSpPr>
            <a:grpSpLocks noChangeAspect="1"/>
          </p:cNvGrpSpPr>
          <p:nvPr/>
        </p:nvGrpSpPr>
        <p:grpSpPr>
          <a:xfrm>
            <a:off x="9513693" y="5962887"/>
            <a:ext cx="182880" cy="182880"/>
            <a:chOff x="2362200" y="1633474"/>
            <a:chExt cx="457200" cy="457200"/>
          </a:xfrm>
        </p:grpSpPr>
        <p:sp>
          <p:nvSpPr>
            <p:cNvPr id="125" name="Pie 124"/>
            <p:cNvSpPr/>
            <p:nvPr/>
          </p:nvSpPr>
          <p:spPr bwMode="gray">
            <a:xfrm>
              <a:off x="2362200" y="1633474"/>
              <a:ext cx="457200" cy="457200"/>
            </a:xfrm>
            <a:prstGeom prst="pie">
              <a:avLst>
                <a:gd name="adj1" fmla="val 5400000"/>
                <a:gd name="adj2" fmla="val 16200000"/>
              </a:avLst>
            </a:prstGeom>
            <a:solidFill>
              <a:srgbClr val="FFFFFF"/>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126" name="Pie 125"/>
            <p:cNvSpPr/>
            <p:nvPr/>
          </p:nvSpPr>
          <p:spPr bwMode="gray">
            <a:xfrm>
              <a:off x="2362200" y="1633474"/>
              <a:ext cx="457200" cy="457200"/>
            </a:xfrm>
            <a:prstGeom prst="pie">
              <a:avLst>
                <a:gd name="adj1" fmla="val 16200000"/>
                <a:gd name="adj2" fmla="val 5400000"/>
              </a:avLst>
            </a:prstGeom>
            <a:solidFill>
              <a:schemeClr val="tx2"/>
            </a:solidFill>
            <a:ln w="6350" cmpd="sng"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grpSp>
      <p:sp>
        <p:nvSpPr>
          <p:cNvPr id="4" name="Explosion 2 3"/>
          <p:cNvSpPr/>
          <p:nvPr/>
        </p:nvSpPr>
        <p:spPr bwMode="gray">
          <a:xfrm rot="20457798">
            <a:off x="9464634" y="3008113"/>
            <a:ext cx="2533417" cy="1252558"/>
          </a:xfrm>
          <a:prstGeom prst="irregularSeal2">
            <a:avLst/>
          </a:prstGeom>
          <a:solidFill>
            <a:schemeClr val="accent1"/>
          </a:solidFill>
          <a:ln w="12700">
            <a:noFill/>
            <a:round/>
            <a:headEnd/>
            <a:tailEnd/>
          </a:ln>
        </p:spPr>
        <p:txBody>
          <a:bodyPr lIns="88900" tIns="88900" rIns="88900" bIns="88900" anchor="ctr">
            <a:noAutofit/>
          </a:bodyPr>
          <a:lstStyle/>
          <a:p>
            <a:pPr algn="ctr" defTabSz="820738"/>
            <a:r>
              <a:rPr lang="en-US" sz="1000" dirty="0">
                <a:solidFill>
                  <a:schemeClr val="bg1"/>
                </a:solidFill>
                <a:ea typeface="ＭＳ Ｐゴシック" pitchFamily="50" charset="-128"/>
              </a:rPr>
              <a:t>2 Weeks to test patch between Non-Prod and Prod</a:t>
            </a:r>
          </a:p>
        </p:txBody>
      </p:sp>
    </p:spTree>
    <p:extLst>
      <p:ext uri="{BB962C8B-B14F-4D97-AF65-F5344CB8AC3E}">
        <p14:creationId xmlns:p14="http://schemas.microsoft.com/office/powerpoint/2010/main" val="90815729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Table 31"/>
          <p:cNvGraphicFramePr>
            <a:graphicFrameLocks noGrp="1"/>
          </p:cNvGraphicFramePr>
          <p:nvPr>
            <p:extLst>
              <p:ext uri="{D42A27DB-BD31-4B8C-83A1-F6EECF244321}">
                <p14:modId xmlns:p14="http://schemas.microsoft.com/office/powerpoint/2010/main" val="2631379110"/>
              </p:ext>
            </p:extLst>
          </p:nvPr>
        </p:nvGraphicFramePr>
        <p:xfrm>
          <a:off x="468300" y="1281289"/>
          <a:ext cx="11253800" cy="4249499"/>
        </p:xfrm>
        <a:graphic>
          <a:graphicData uri="http://schemas.openxmlformats.org/drawingml/2006/table">
            <a:tbl>
              <a:tblPr bandRow="1"/>
              <a:tblGrid>
                <a:gridCol w="2935392">
                  <a:extLst>
                    <a:ext uri="{9D8B030D-6E8A-4147-A177-3AD203B41FA5}">
                      <a16:colId xmlns:a16="http://schemas.microsoft.com/office/drawing/2014/main" val="20000"/>
                    </a:ext>
                  </a:extLst>
                </a:gridCol>
                <a:gridCol w="1425483">
                  <a:extLst>
                    <a:ext uri="{9D8B030D-6E8A-4147-A177-3AD203B41FA5}">
                      <a16:colId xmlns:a16="http://schemas.microsoft.com/office/drawing/2014/main" val="20001"/>
                    </a:ext>
                  </a:extLst>
                </a:gridCol>
                <a:gridCol w="2600325">
                  <a:extLst>
                    <a:ext uri="{9D8B030D-6E8A-4147-A177-3AD203B41FA5}">
                      <a16:colId xmlns:a16="http://schemas.microsoft.com/office/drawing/2014/main" val="20002"/>
                    </a:ext>
                  </a:extLst>
                </a:gridCol>
                <a:gridCol w="1492703">
                  <a:extLst>
                    <a:ext uri="{9D8B030D-6E8A-4147-A177-3AD203B41FA5}">
                      <a16:colId xmlns:a16="http://schemas.microsoft.com/office/drawing/2014/main" val="20003"/>
                    </a:ext>
                  </a:extLst>
                </a:gridCol>
                <a:gridCol w="1425794">
                  <a:extLst>
                    <a:ext uri="{9D8B030D-6E8A-4147-A177-3AD203B41FA5}">
                      <a16:colId xmlns:a16="http://schemas.microsoft.com/office/drawing/2014/main" val="20004"/>
                    </a:ext>
                  </a:extLst>
                </a:gridCol>
                <a:gridCol w="1374103">
                  <a:extLst>
                    <a:ext uri="{9D8B030D-6E8A-4147-A177-3AD203B41FA5}">
                      <a16:colId xmlns:a16="http://schemas.microsoft.com/office/drawing/2014/main" val="20005"/>
                    </a:ext>
                  </a:extLst>
                </a:gridCol>
              </a:tblGrid>
              <a:tr h="30676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lnSpc>
                          <a:spcPct val="100000"/>
                        </a:lnSpc>
                        <a:spcBef>
                          <a:spcPts val="300"/>
                        </a:spcBef>
                        <a:buFont typeface="Arial" panose="020B0604020202020204" pitchFamily="34" charset="0"/>
                        <a:buNone/>
                      </a:pPr>
                      <a:endParaRPr lang="en-US" sz="800" kern="1200" dirty="0">
                        <a:solidFill>
                          <a:schemeClr val="tx2"/>
                        </a:solidFill>
                        <a:latin typeface="+mn-lt"/>
                        <a:ea typeface="+mn-ea"/>
                        <a:cs typeface="+mn-cs"/>
                      </a:endParaRPr>
                    </a:p>
                  </a:txBody>
                  <a:tcPr marT="91440" marB="91440" anchor="ctr">
                    <a:lnL w="12700" cmpd="sng">
                      <a:solidFill>
                        <a:srgbClr val="72C7E7"/>
                      </a:solidFill>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solidFill>
                      <a:srgbClr val="72C7E7">
                        <a:alpha val="2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lnSpc>
                          <a:spcPct val="100000"/>
                        </a:lnSpc>
                        <a:spcBef>
                          <a:spcPts val="300"/>
                        </a:spcBef>
                        <a:buFont typeface="Arial" panose="020B0604020202020204" pitchFamily="34" charset="0"/>
                        <a:buNone/>
                      </a:pPr>
                      <a:r>
                        <a:rPr lang="en-US" sz="800" kern="1200" dirty="0">
                          <a:latin typeface="Verdana" panose="020B0604030504040204" pitchFamily="34" charset="0"/>
                          <a:ea typeface="Verdana" panose="020B0604030504040204" pitchFamily="34" charset="0"/>
                          <a:cs typeface="Verdana" panose="020B0604030504040204" pitchFamily="34" charset="0"/>
                        </a:rPr>
                        <a:t>1 Week</a:t>
                      </a:r>
                      <a:endParaRPr lang="en-US" sz="80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2700" cmpd="sng">
                      <a:solidFill>
                        <a:srgbClr val="72C7E7"/>
                      </a:solidFill>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solidFill>
                      <a:srgbClr val="72C7E7">
                        <a:alpha val="2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lnSpc>
                          <a:spcPct val="100000"/>
                        </a:lnSpc>
                        <a:spcBef>
                          <a:spcPts val="300"/>
                        </a:spcBef>
                        <a:buFont typeface="Arial" panose="020B0604020202020204" pitchFamily="34" charset="0"/>
                        <a:buNone/>
                      </a:pPr>
                      <a:r>
                        <a:rPr lang="en-US" sz="800" kern="1200" dirty="0">
                          <a:latin typeface="Verdana" panose="020B0604030504040204" pitchFamily="34" charset="0"/>
                          <a:ea typeface="Verdana" panose="020B0604030504040204" pitchFamily="34" charset="0"/>
                          <a:cs typeface="Verdana" panose="020B0604030504040204" pitchFamily="34" charset="0"/>
                        </a:rPr>
                        <a:t>2</a:t>
                      </a:r>
                      <a:r>
                        <a:rPr lang="en-US" sz="800" kern="1200" baseline="0" dirty="0">
                          <a:latin typeface="Verdana" panose="020B0604030504040204" pitchFamily="34" charset="0"/>
                          <a:ea typeface="Verdana" panose="020B0604030504040204" pitchFamily="34" charset="0"/>
                          <a:cs typeface="Verdana" panose="020B0604030504040204" pitchFamily="34" charset="0"/>
                        </a:rPr>
                        <a:t> </a:t>
                      </a:r>
                      <a:r>
                        <a:rPr lang="en-US" sz="800" kern="1200" dirty="0">
                          <a:latin typeface="Verdana" panose="020B0604030504040204" pitchFamily="34" charset="0"/>
                          <a:ea typeface="Verdana" panose="020B0604030504040204" pitchFamily="34" charset="0"/>
                          <a:cs typeface="Verdana" panose="020B0604030504040204" pitchFamily="34" charset="0"/>
                        </a:rPr>
                        <a:t>Weeks</a:t>
                      </a:r>
                      <a:endParaRPr lang="en-US" sz="80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2700" cmpd="sng">
                      <a:solidFill>
                        <a:srgbClr val="72C7E7"/>
                      </a:solidFill>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solidFill>
                      <a:srgbClr val="72C7E7">
                        <a:alpha val="2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lnSpc>
                          <a:spcPct val="100000"/>
                        </a:lnSpc>
                        <a:spcBef>
                          <a:spcPts val="300"/>
                        </a:spcBef>
                        <a:buFont typeface="Arial" panose="020B0604020202020204" pitchFamily="34" charset="0"/>
                        <a:buNone/>
                      </a:pPr>
                      <a:r>
                        <a:rPr lang="en-US" sz="800" kern="1200" baseline="0" dirty="0">
                          <a:latin typeface="Verdana" panose="020B0604030504040204" pitchFamily="34" charset="0"/>
                          <a:ea typeface="Verdana" panose="020B0604030504040204" pitchFamily="34" charset="0"/>
                          <a:cs typeface="Verdana" panose="020B0604030504040204" pitchFamily="34" charset="0"/>
                        </a:rPr>
                        <a:t>1 </a:t>
                      </a:r>
                      <a:r>
                        <a:rPr lang="en-US" sz="800" kern="1200" dirty="0">
                          <a:latin typeface="Verdana" panose="020B0604030504040204" pitchFamily="34" charset="0"/>
                          <a:ea typeface="Verdana" panose="020B0604030504040204" pitchFamily="34" charset="0"/>
                          <a:cs typeface="Verdana" panose="020B0604030504040204" pitchFamily="34" charset="0"/>
                        </a:rPr>
                        <a:t>Week</a:t>
                      </a:r>
                      <a:endParaRPr lang="en-US" sz="80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2700" cmpd="sng">
                      <a:solidFill>
                        <a:srgbClr val="72C7E7"/>
                      </a:solidFill>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solidFill>
                      <a:srgbClr val="72C7E7">
                        <a:alpha val="2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gn="l" defTabSz="914400" rtl="0" eaLnBrk="1" latinLnBrk="0" hangingPunct="1">
                        <a:lnSpc>
                          <a:spcPct val="100000"/>
                        </a:lnSpc>
                        <a:spcBef>
                          <a:spcPts val="300"/>
                        </a:spcBef>
                        <a:buFont typeface="Arial" panose="020B0604020202020204" pitchFamily="34" charset="0"/>
                        <a:buNone/>
                      </a:pPr>
                      <a:r>
                        <a:rPr lang="en-US" sz="800" kern="1200" dirty="0">
                          <a:latin typeface="Verdana" panose="020B0604030504040204" pitchFamily="34" charset="0"/>
                          <a:ea typeface="Verdana" panose="020B0604030504040204" pitchFamily="34" charset="0"/>
                          <a:cs typeface="Verdana" panose="020B0604030504040204" pitchFamily="34" charset="0"/>
                        </a:rPr>
                        <a:t>1</a:t>
                      </a:r>
                      <a:r>
                        <a:rPr lang="en-US" sz="800" kern="1200" baseline="0" dirty="0">
                          <a:latin typeface="Verdana" panose="020B0604030504040204" pitchFamily="34" charset="0"/>
                          <a:ea typeface="Verdana" panose="020B0604030504040204" pitchFamily="34" charset="0"/>
                          <a:cs typeface="Verdana" panose="020B0604030504040204" pitchFamily="34" charset="0"/>
                        </a:rPr>
                        <a:t> We</a:t>
                      </a:r>
                      <a:r>
                        <a:rPr lang="en-US" sz="800" kern="1200" dirty="0">
                          <a:latin typeface="Verdana" panose="020B0604030504040204" pitchFamily="34" charset="0"/>
                          <a:ea typeface="Verdana" panose="020B0604030504040204" pitchFamily="34" charset="0"/>
                          <a:cs typeface="Verdana" panose="020B0604030504040204" pitchFamily="34" charset="0"/>
                        </a:rPr>
                        <a:t>ek</a:t>
                      </a:r>
                      <a:endParaRPr lang="en-US" sz="80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45720" marR="45720" marT="91440" marB="91440" anchor="ctr">
                    <a:lnL w="12700" cmpd="sng">
                      <a:solidFill>
                        <a:srgbClr val="72C7E7"/>
                      </a:solidFill>
                    </a:lnL>
                    <a:lnR w="12700" cap="flat" cmpd="sng" algn="ctr">
                      <a:solidFill>
                        <a:schemeClr val="accent3">
                          <a:lumMod val="40000"/>
                          <a:lumOff val="60000"/>
                        </a:schemeClr>
                      </a:solidFill>
                      <a:prstDash val="solid"/>
                      <a:round/>
                      <a:headEnd type="none" w="med" len="med"/>
                      <a:tailEnd type="none" w="med" len="med"/>
                    </a:lnR>
                    <a:lnT w="12700" cmpd="sng">
                      <a:solidFill>
                        <a:srgbClr val="72C7E7"/>
                      </a:solidFill>
                    </a:lnT>
                    <a:lnB w="12700" cmpd="sng">
                      <a:solidFill>
                        <a:srgbClr val="72C7E7"/>
                      </a:solidFill>
                    </a:lnB>
                    <a:lnTlToBr w="12700" cmpd="sng">
                      <a:noFill/>
                      <a:prstDash val="solid"/>
                    </a:lnTlToBr>
                    <a:lnBlToTr w="12700" cmpd="sng">
                      <a:noFill/>
                      <a:prstDash val="solid"/>
                    </a:lnBlToTr>
                    <a:solidFill>
                      <a:srgbClr val="72C7E7">
                        <a:alpha val="20000"/>
                      </a:srgbClr>
                    </a:solidFill>
                  </a:tcPr>
                </a:tc>
                <a:tc>
                  <a:txBody>
                    <a:bodyPr/>
                    <a:lstStyle/>
                    <a:p>
                      <a:pPr marL="0" indent="0" algn="l" defTabSz="914400" rtl="0" eaLnBrk="1" latinLnBrk="0" hangingPunct="1">
                        <a:lnSpc>
                          <a:spcPct val="100000"/>
                        </a:lnSpc>
                        <a:spcBef>
                          <a:spcPts val="300"/>
                        </a:spcBef>
                        <a:buFont typeface="Arial" panose="020B0604020202020204" pitchFamily="34" charset="0"/>
                        <a:buNone/>
                      </a:pPr>
                      <a:r>
                        <a:rPr lang="en-US" sz="800" kern="1200" dirty="0">
                          <a:solidFill>
                            <a:schemeClr val="tx1"/>
                          </a:solidFill>
                          <a:latin typeface="Verdana" panose="020B0604030504040204" pitchFamily="34" charset="0"/>
                          <a:ea typeface="Verdana" panose="020B0604030504040204" pitchFamily="34" charset="0"/>
                          <a:cs typeface="Verdana" panose="020B0604030504040204" pitchFamily="34" charset="0"/>
                        </a:rPr>
                        <a:t>+1 Week</a:t>
                      </a:r>
                    </a:p>
                  </a:txBody>
                  <a:tcPr marL="45720" marR="45720" marT="91440" marB="91440" anchor="ctr">
                    <a:lnL w="12700" cap="flat" cmpd="sng" algn="ctr">
                      <a:solidFill>
                        <a:schemeClr val="accent3">
                          <a:lumMod val="40000"/>
                          <a:lumOff val="60000"/>
                        </a:schemeClr>
                      </a:solidFill>
                      <a:prstDash val="solid"/>
                      <a:round/>
                      <a:headEnd type="none" w="med" len="med"/>
                      <a:tailEnd type="none" w="med" len="med"/>
                    </a:lnL>
                    <a:lnR w="12700" cmpd="sng">
                      <a:solidFill>
                        <a:srgbClr val="72C7E7"/>
                      </a:solidFill>
                    </a:lnR>
                    <a:lnT w="12700" cap="flat" cmpd="sng" algn="ctr">
                      <a:solidFill>
                        <a:srgbClr val="72C7E7"/>
                      </a:solidFill>
                      <a:prstDash val="solid"/>
                      <a:round/>
                      <a:headEnd type="none" w="med" len="med"/>
                      <a:tailEnd type="none" w="med" len="med"/>
                    </a:lnT>
                    <a:lnB w="12700" cap="flat" cmpd="sng" algn="ctr">
                      <a:solidFill>
                        <a:srgbClr val="72C7E7"/>
                      </a:solidFill>
                      <a:prstDash val="solid"/>
                      <a:round/>
                      <a:headEnd type="none" w="med" len="med"/>
                      <a:tailEnd type="none" w="med" len="med"/>
                    </a:lnB>
                    <a:lnTlToBr w="12700" cmpd="sng">
                      <a:noFill/>
                      <a:prstDash val="solid"/>
                    </a:lnTlToBr>
                    <a:lnBlToTr w="12700" cmpd="sng">
                      <a:noFill/>
                      <a:prstDash val="solid"/>
                    </a:lnBlToTr>
                    <a:solidFill>
                      <a:srgbClr val="72C7E7">
                        <a:alpha val="20000"/>
                      </a:srgbClr>
                    </a:solidFill>
                  </a:tcPr>
                </a:tc>
                <a:extLst>
                  <a:ext uri="{0D108BD9-81ED-4DB2-BD59-A6C34878D82A}">
                    <a16:rowId xmlns:a16="http://schemas.microsoft.com/office/drawing/2014/main" val="10000"/>
                  </a:ext>
                </a:extLst>
              </a:tr>
              <a:tr h="394273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lnSpc>
                          <a:spcPct val="100000"/>
                        </a:lnSpc>
                        <a:spcBef>
                          <a:spcPts val="0"/>
                        </a:spcBef>
                        <a:spcAft>
                          <a:spcPts val="600"/>
                        </a:spcAft>
                        <a:buFont typeface="Arial" panose="020B0604020202020204" pitchFamily="34" charset="0"/>
                        <a:buNone/>
                      </a:pPr>
                      <a:r>
                        <a:rPr lang="en-US" sz="900" b="1" dirty="0">
                          <a:latin typeface="Verdana" panose="020B0604030504040204" pitchFamily="34" charset="0"/>
                          <a:ea typeface="Verdana" panose="020B0604030504040204" pitchFamily="34" charset="0"/>
                          <a:cs typeface="Verdana" panose="020B0604030504040204" pitchFamily="34" charset="0"/>
                        </a:rPr>
                        <a:t>Pre-Patch installation</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Onboard</a:t>
                      </a:r>
                      <a:r>
                        <a:rPr lang="en-US" sz="900" b="1" baseline="0" dirty="0">
                          <a:latin typeface="Verdana" panose="020B0604030504040204" pitchFamily="34" charset="0"/>
                          <a:ea typeface="Verdana" panose="020B0604030504040204" pitchFamily="34" charset="0"/>
                          <a:cs typeface="Verdana" panose="020B0604030504040204" pitchFamily="34" charset="0"/>
                        </a:rPr>
                        <a:t>ing &amp; Project Plan</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Install Test Automation Baseline Solution</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Test Scenario Assessment</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Execution</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Build</a:t>
                      </a:r>
                      <a:r>
                        <a:rPr lang="en-US" sz="900" b="1" baseline="0" dirty="0">
                          <a:latin typeface="Verdana" panose="020B0604030504040204" pitchFamily="34" charset="0"/>
                          <a:ea typeface="Verdana" panose="020B0604030504040204" pitchFamily="34" charset="0"/>
                          <a:cs typeface="Verdana" panose="020B0604030504040204" pitchFamily="34" charset="0"/>
                        </a:rPr>
                        <a:t> (Retrofit + New Scripts)</a:t>
                      </a:r>
                      <a:endParaRPr lang="en-US" sz="900" b="1" dirty="0">
                        <a:latin typeface="Verdana" panose="020B0604030504040204" pitchFamily="34" charset="0"/>
                        <a:ea typeface="Verdana" panose="020B0604030504040204" pitchFamily="34" charset="0"/>
                        <a:cs typeface="Verdana" panose="020B0604030504040204" pitchFamily="34" charset="0"/>
                      </a:endParaRP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Re-test</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Deploy to Non-Prod environment</a:t>
                      </a:r>
                    </a:p>
                    <a:p>
                      <a:pPr marL="0" indent="0">
                        <a:lnSpc>
                          <a:spcPct val="100000"/>
                        </a:lnSpc>
                        <a:spcBef>
                          <a:spcPts val="0"/>
                        </a:spcBef>
                        <a:spcAft>
                          <a:spcPts val="600"/>
                        </a:spcAft>
                        <a:buFont typeface="Arial" panose="020B0604020202020204" pitchFamily="34" charset="0"/>
                        <a:buNone/>
                      </a:pPr>
                      <a:r>
                        <a:rPr lang="en-US" sz="900" b="1" dirty="0">
                          <a:latin typeface="Verdana" panose="020B0604030504040204" pitchFamily="34" charset="0"/>
                          <a:ea typeface="Verdana" panose="020B0604030504040204" pitchFamily="34" charset="0"/>
                          <a:cs typeface="Verdana" panose="020B0604030504040204" pitchFamily="34" charset="0"/>
                        </a:rPr>
                        <a:t>Post</a:t>
                      </a:r>
                      <a:r>
                        <a:rPr lang="en-US" sz="900" b="1" baseline="0" dirty="0">
                          <a:latin typeface="Verdana" panose="020B0604030504040204" pitchFamily="34" charset="0"/>
                          <a:ea typeface="Verdana" panose="020B0604030504040204" pitchFamily="34" charset="0"/>
                          <a:cs typeface="Verdana" panose="020B0604030504040204" pitchFamily="34" charset="0"/>
                        </a:rPr>
                        <a:t>-Patch </a:t>
                      </a:r>
                      <a:r>
                        <a:rPr lang="en-US" sz="900" b="1" dirty="0">
                          <a:latin typeface="Verdana" panose="020B0604030504040204" pitchFamily="34" charset="0"/>
                          <a:ea typeface="Verdana" panose="020B0604030504040204" pitchFamily="34" charset="0"/>
                          <a:cs typeface="Verdana" panose="020B0604030504040204" pitchFamily="34" charset="0"/>
                        </a:rPr>
                        <a:t>installation</a:t>
                      </a:r>
                      <a:endParaRPr lang="en-US" sz="900" b="1" baseline="0" dirty="0">
                        <a:latin typeface="Verdana" panose="020B0604030504040204" pitchFamily="34" charset="0"/>
                        <a:ea typeface="Verdana" panose="020B0604030504040204" pitchFamily="34" charset="0"/>
                        <a:cs typeface="Verdana" panose="020B0604030504040204" pitchFamily="34" charset="0"/>
                      </a:endParaRP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Run Automated Test Scripts</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Identify Issues / Suggest Resolution</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Support</a:t>
                      </a:r>
                    </a:p>
                    <a:p>
                      <a:pPr marL="0" indent="0">
                        <a:lnSpc>
                          <a:spcPct val="100000"/>
                        </a:lnSpc>
                        <a:spcBef>
                          <a:spcPts val="0"/>
                        </a:spcBef>
                        <a:spcAft>
                          <a:spcPts val="600"/>
                        </a:spcAft>
                        <a:buFont typeface="Arial" panose="020B0604020202020204" pitchFamily="34" charset="0"/>
                        <a:buNone/>
                      </a:pPr>
                      <a:r>
                        <a:rPr lang="en-US" sz="900" b="1" dirty="0">
                          <a:latin typeface="Verdana" panose="020B0604030504040204" pitchFamily="34" charset="0"/>
                          <a:ea typeface="Verdana" panose="020B0604030504040204" pitchFamily="34" charset="0"/>
                          <a:cs typeface="Verdana" panose="020B0604030504040204" pitchFamily="34" charset="0"/>
                        </a:rPr>
                        <a:t>Value Added Services</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Impact assessment - New Enhancements/Features**</a:t>
                      </a:r>
                    </a:p>
                    <a:p>
                      <a:pPr marL="171450" indent="-171450">
                        <a:lnSpc>
                          <a:spcPct val="100000"/>
                        </a:lnSpc>
                        <a:spcBef>
                          <a:spcPts val="0"/>
                        </a:spcBef>
                        <a:spcAft>
                          <a:spcPts val="600"/>
                        </a:spcAft>
                        <a:buFont typeface="Arial" panose="020B0604020202020204" pitchFamily="34" charset="0"/>
                        <a:buChar char="•"/>
                      </a:pPr>
                      <a:r>
                        <a:rPr lang="en-US" sz="900" b="1" dirty="0">
                          <a:latin typeface="Verdana" panose="020B0604030504040204" pitchFamily="34" charset="0"/>
                          <a:ea typeface="Verdana" panose="020B0604030504040204" pitchFamily="34" charset="0"/>
                          <a:cs typeface="Verdana" panose="020B0604030504040204" pitchFamily="34" charset="0"/>
                        </a:rPr>
                        <a:t>Update training material and End user training**</a:t>
                      </a:r>
                    </a:p>
                  </a:txBody>
                  <a:tcPr marT="91440" marB="91440">
                    <a:lnL w="12700" cmpd="sng">
                      <a:solidFill>
                        <a:srgbClr val="72C7E7"/>
                      </a:solidFill>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nSpc>
                          <a:spcPct val="100000"/>
                        </a:lnSpc>
                        <a:spcBef>
                          <a:spcPts val="300"/>
                        </a:spcBef>
                      </a:pPr>
                      <a:endParaRPr lang="en-US" sz="800" dirty="0">
                        <a:solidFill>
                          <a:schemeClr val="tx2"/>
                        </a:solidFill>
                        <a:latin typeface="+mn-lt"/>
                      </a:endParaRPr>
                    </a:p>
                  </a:txBody>
                  <a:tcPr marT="91440" marB="91440" anchor="ctr">
                    <a:lnL w="12700" cmpd="sng">
                      <a:solidFill>
                        <a:srgbClr val="72C7E7"/>
                      </a:solidFill>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nSpc>
                          <a:spcPct val="100000"/>
                        </a:lnSpc>
                        <a:spcBef>
                          <a:spcPts val="300"/>
                        </a:spcBef>
                      </a:pPr>
                      <a:endParaRPr lang="en-US" sz="800" dirty="0">
                        <a:solidFill>
                          <a:schemeClr val="tx2"/>
                        </a:solidFill>
                        <a:latin typeface="+mn-lt"/>
                      </a:endParaRPr>
                    </a:p>
                  </a:txBody>
                  <a:tcPr marT="91440" marB="91440" anchor="ctr">
                    <a:lnL w="12700" cmpd="sng">
                      <a:solidFill>
                        <a:srgbClr val="72C7E7"/>
                      </a:solidFill>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nSpc>
                          <a:spcPct val="100000"/>
                        </a:lnSpc>
                        <a:spcBef>
                          <a:spcPts val="300"/>
                        </a:spcBef>
                      </a:pPr>
                      <a:endParaRPr lang="en-US" sz="800" dirty="0">
                        <a:solidFill>
                          <a:schemeClr val="tx2"/>
                        </a:solidFill>
                        <a:latin typeface="+mn-lt"/>
                      </a:endParaRPr>
                    </a:p>
                  </a:txBody>
                  <a:tcPr marT="91440" marB="91440" anchor="ctr">
                    <a:lnL w="12700" cmpd="sng">
                      <a:solidFill>
                        <a:srgbClr val="72C7E7"/>
                      </a:solidFill>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nSpc>
                          <a:spcPct val="100000"/>
                        </a:lnSpc>
                        <a:spcBef>
                          <a:spcPts val="300"/>
                        </a:spcBef>
                      </a:pPr>
                      <a:endParaRPr lang="en-US" sz="800" dirty="0">
                        <a:solidFill>
                          <a:schemeClr val="tx2"/>
                        </a:solidFill>
                        <a:latin typeface="+mn-lt"/>
                      </a:endParaRPr>
                    </a:p>
                  </a:txBody>
                  <a:tcPr marT="91440" marB="91440" anchor="ctr">
                    <a:lnL w="12700" cmpd="sng">
                      <a:solidFill>
                        <a:srgbClr val="72C7E7"/>
                      </a:solidFill>
                    </a:lnL>
                    <a:lnR w="12700" cap="flat" cmpd="sng" algn="ctr">
                      <a:solidFill>
                        <a:schemeClr val="accent3">
                          <a:lumMod val="40000"/>
                          <a:lumOff val="60000"/>
                        </a:schemeClr>
                      </a:solidFill>
                      <a:prstDash val="solid"/>
                      <a:round/>
                      <a:headEnd type="none" w="med" len="med"/>
                      <a:tailEnd type="none" w="med" len="med"/>
                    </a:lnR>
                    <a:lnT w="12700" cmpd="sng">
                      <a:solidFill>
                        <a:srgbClr val="72C7E7"/>
                      </a:solidFill>
                    </a:lnT>
                    <a:lnB w="12700" cmpd="sng">
                      <a:solidFill>
                        <a:srgbClr val="72C7E7"/>
                      </a:solidFill>
                    </a:lnB>
                    <a:lnTlToBr w="12700" cmpd="sng">
                      <a:noFill/>
                      <a:prstDash val="solid"/>
                    </a:lnTlToBr>
                    <a:lnBlToTr w="12700" cmpd="sng">
                      <a:noFill/>
                      <a:prstDash val="solid"/>
                    </a:lnBlToTr>
                    <a:noFill/>
                  </a:tcPr>
                </a:tc>
                <a:tc>
                  <a:txBody>
                    <a:bodyPr/>
                    <a:lstStyle/>
                    <a:p>
                      <a:pPr>
                        <a:lnSpc>
                          <a:spcPct val="100000"/>
                        </a:lnSpc>
                        <a:spcBef>
                          <a:spcPts val="300"/>
                        </a:spcBef>
                      </a:pPr>
                      <a:endParaRPr lang="en-US" sz="800" dirty="0">
                        <a:solidFill>
                          <a:schemeClr val="tx2"/>
                        </a:solidFill>
                        <a:latin typeface="+mn-lt"/>
                      </a:endParaRPr>
                    </a:p>
                  </a:txBody>
                  <a:tcPr marT="91440" marB="91440" anchor="ctr">
                    <a:lnL w="12700" cap="flat" cmpd="sng" algn="ctr">
                      <a:solidFill>
                        <a:schemeClr val="accent3">
                          <a:lumMod val="40000"/>
                          <a:lumOff val="60000"/>
                        </a:schemeClr>
                      </a:solidFill>
                      <a:prstDash val="solid"/>
                      <a:round/>
                      <a:headEnd type="none" w="med" len="med"/>
                      <a:tailEnd type="none" w="med" len="med"/>
                    </a:lnL>
                    <a:lnR w="12700" cmpd="sng">
                      <a:solidFill>
                        <a:srgbClr val="72C7E7"/>
                      </a:solidFill>
                    </a:lnR>
                    <a:lnT w="12700" cmpd="sng">
                      <a:solidFill>
                        <a:srgbClr val="72C7E7"/>
                      </a:solidFill>
                    </a:lnT>
                    <a:lnB w="12700" cmpd="sng">
                      <a:solidFill>
                        <a:srgbClr val="72C7E7"/>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3" name="Title 2"/>
          <p:cNvSpPr>
            <a:spLocks noGrp="1"/>
          </p:cNvSpPr>
          <p:nvPr>
            <p:ph type="title"/>
          </p:nvPr>
        </p:nvSpPr>
        <p:spPr/>
        <p:txBody>
          <a:bodyPr/>
          <a:lstStyle/>
          <a:p>
            <a:r>
              <a:rPr lang="en-US"/>
              <a:t>Testing Automation : Proposed Timeline</a:t>
            </a:r>
            <a:endParaRPr lang="en-US" dirty="0"/>
          </a:p>
        </p:txBody>
      </p:sp>
      <p:sp>
        <p:nvSpPr>
          <p:cNvPr id="27" name="Chevron 26"/>
          <p:cNvSpPr/>
          <p:nvPr/>
        </p:nvSpPr>
        <p:spPr>
          <a:xfrm>
            <a:off x="4844691" y="1037406"/>
            <a:ext cx="2662354" cy="228600"/>
          </a:xfrm>
          <a:prstGeom prst="chevron">
            <a:avLst/>
          </a:prstGeom>
          <a:solidFill>
            <a:srgbClr val="046A38"/>
          </a:solidFill>
          <a:ln w="6350" cap="flat" cmpd="sng" algn="ctr">
            <a:noFill/>
            <a:prstDash val="solid"/>
          </a:ln>
          <a:effectLst/>
        </p:spPr>
        <p:txBody>
          <a:bodyPr lIns="108000" tIns="66675" rIns="66675" bIns="66675" rtlCol="0" anchor="ctr"/>
          <a:lstStyle/>
          <a:p>
            <a:pPr defTabSz="685783">
              <a:defRPr/>
            </a:pPr>
            <a:r>
              <a:rPr lang="en-US" sz="900" b="1" kern="0" dirty="0">
                <a:solidFill>
                  <a:prstClr val="white"/>
                </a:solidFill>
                <a:ea typeface="Verdana" panose="020B0604030504040204" pitchFamily="34" charset="0"/>
                <a:cs typeface="Verdana" panose="020B0604030504040204" pitchFamily="34" charset="0"/>
              </a:rPr>
              <a:t>Build</a:t>
            </a:r>
          </a:p>
        </p:txBody>
      </p:sp>
      <p:sp>
        <p:nvSpPr>
          <p:cNvPr id="28" name="Chevron 27"/>
          <p:cNvSpPr/>
          <p:nvPr/>
        </p:nvSpPr>
        <p:spPr>
          <a:xfrm>
            <a:off x="7427981" y="1038243"/>
            <a:ext cx="1547099" cy="228600"/>
          </a:xfrm>
          <a:prstGeom prst="chevron">
            <a:avLst/>
          </a:prstGeom>
          <a:solidFill>
            <a:srgbClr val="62B5E5"/>
          </a:solidFill>
          <a:ln w="6350" cap="flat" cmpd="sng" algn="ctr">
            <a:noFill/>
            <a:prstDash val="solid"/>
          </a:ln>
          <a:effectLst/>
        </p:spPr>
        <p:txBody>
          <a:bodyPr lIns="108000" tIns="66675" rIns="66675" bIns="66675" rtlCol="0" anchor="ctr"/>
          <a:lstStyle/>
          <a:p>
            <a:pPr defTabSz="685783">
              <a:defRPr/>
            </a:pPr>
            <a:r>
              <a:rPr lang="en-US" sz="900" b="1" kern="0" dirty="0">
                <a:solidFill>
                  <a:prstClr val="white"/>
                </a:solidFill>
                <a:ea typeface="Verdana" panose="020B0604030504040204" pitchFamily="34" charset="0"/>
                <a:cs typeface="Verdana" panose="020B0604030504040204" pitchFamily="34" charset="0"/>
              </a:rPr>
              <a:t>Execute &amp; Test</a:t>
            </a:r>
          </a:p>
        </p:txBody>
      </p:sp>
      <p:sp>
        <p:nvSpPr>
          <p:cNvPr id="29" name="Chevron 28"/>
          <p:cNvSpPr/>
          <p:nvPr/>
        </p:nvSpPr>
        <p:spPr>
          <a:xfrm>
            <a:off x="8894518" y="1038243"/>
            <a:ext cx="1496611" cy="228600"/>
          </a:xfrm>
          <a:prstGeom prst="chevron">
            <a:avLst/>
          </a:prstGeom>
          <a:solidFill>
            <a:srgbClr val="012169"/>
          </a:solidFill>
          <a:ln w="6350" cap="flat" cmpd="sng" algn="ctr">
            <a:noFill/>
            <a:prstDash val="solid"/>
          </a:ln>
          <a:effectLst/>
        </p:spPr>
        <p:txBody>
          <a:bodyPr lIns="108000" tIns="66675" rIns="66675" bIns="66675" rtlCol="0" anchor="ctr"/>
          <a:lstStyle/>
          <a:p>
            <a:pPr defTabSz="685783">
              <a:defRPr/>
            </a:pPr>
            <a:r>
              <a:rPr lang="en-US" sz="900" b="1" kern="0" dirty="0">
                <a:solidFill>
                  <a:prstClr val="white"/>
                </a:solidFill>
                <a:ea typeface="Verdana" panose="020B0604030504040204" pitchFamily="34" charset="0"/>
                <a:cs typeface="Verdana" panose="020B0604030504040204" pitchFamily="34" charset="0"/>
              </a:rPr>
              <a:t>Deliver</a:t>
            </a:r>
          </a:p>
        </p:txBody>
      </p:sp>
      <p:sp>
        <p:nvSpPr>
          <p:cNvPr id="30" name="Pentagon 29"/>
          <p:cNvSpPr/>
          <p:nvPr/>
        </p:nvSpPr>
        <p:spPr>
          <a:xfrm>
            <a:off x="3403302" y="1041305"/>
            <a:ext cx="1536192" cy="228600"/>
          </a:xfrm>
          <a:prstGeom prst="homePlate">
            <a:avLst/>
          </a:prstGeom>
          <a:solidFill>
            <a:srgbClr val="86BC25"/>
          </a:solidFill>
          <a:ln w="6350" cap="flat" cmpd="sng" algn="ctr">
            <a:noFill/>
            <a:prstDash val="solid"/>
          </a:ln>
          <a:effectLst/>
        </p:spPr>
        <p:txBody>
          <a:bodyPr lIns="66675" tIns="66675" rIns="66675" bIns="66675" rtlCol="0" anchor="ctr"/>
          <a:lstStyle/>
          <a:p>
            <a:pPr defTabSz="685783"/>
            <a:r>
              <a:rPr lang="en-US" sz="900" b="1" kern="0" dirty="0">
                <a:solidFill>
                  <a:prstClr val="white"/>
                </a:solidFill>
                <a:ea typeface="Verdana" panose="020B0604030504040204" pitchFamily="34" charset="0"/>
                <a:cs typeface="Verdana" panose="020B0604030504040204" pitchFamily="34" charset="0"/>
              </a:rPr>
              <a:t>Prepare</a:t>
            </a:r>
          </a:p>
        </p:txBody>
      </p:sp>
      <p:sp>
        <p:nvSpPr>
          <p:cNvPr id="48" name="Rectangle 47"/>
          <p:cNvSpPr/>
          <p:nvPr/>
        </p:nvSpPr>
        <p:spPr bwMode="gray">
          <a:xfrm>
            <a:off x="3398767" y="1937207"/>
            <a:ext cx="274320"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sp>
        <p:nvSpPr>
          <p:cNvPr id="51" name="Chevron 50"/>
          <p:cNvSpPr/>
          <p:nvPr/>
        </p:nvSpPr>
        <p:spPr>
          <a:xfrm>
            <a:off x="10306050" y="1034724"/>
            <a:ext cx="1416049" cy="228600"/>
          </a:xfrm>
          <a:prstGeom prst="chevron">
            <a:avLst/>
          </a:prstGeom>
          <a:solidFill>
            <a:srgbClr val="012169">
              <a:alpha val="30196"/>
            </a:srgbClr>
          </a:solidFill>
          <a:ln w="6350" cap="flat" cmpd="sng" algn="ctr">
            <a:noFill/>
            <a:prstDash val="solid"/>
          </a:ln>
          <a:effectLst/>
        </p:spPr>
        <p:txBody>
          <a:bodyPr lIns="108000" tIns="66675" rIns="66675" bIns="66675" rtlCol="0" anchor="ctr"/>
          <a:lstStyle/>
          <a:p>
            <a:pPr defTabSz="685783">
              <a:defRPr/>
            </a:pPr>
            <a:r>
              <a:rPr lang="en-US" sz="900" b="1" kern="0" dirty="0">
                <a:solidFill>
                  <a:prstClr val="white"/>
                </a:solidFill>
                <a:ea typeface="Verdana" panose="020B0604030504040204" pitchFamily="34" charset="0"/>
                <a:cs typeface="Verdana" panose="020B0604030504040204" pitchFamily="34" charset="0"/>
              </a:rPr>
              <a:t>Support</a:t>
            </a:r>
          </a:p>
        </p:txBody>
      </p:sp>
      <p:sp>
        <p:nvSpPr>
          <p:cNvPr id="53" name="Rectangle 52"/>
          <p:cNvSpPr/>
          <p:nvPr/>
        </p:nvSpPr>
        <p:spPr bwMode="gray">
          <a:xfrm>
            <a:off x="3992436" y="2921681"/>
            <a:ext cx="3429000"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sp>
        <p:nvSpPr>
          <p:cNvPr id="56" name="Rectangle 55"/>
          <p:cNvSpPr/>
          <p:nvPr/>
        </p:nvSpPr>
        <p:spPr bwMode="gray">
          <a:xfrm>
            <a:off x="5605195" y="3119883"/>
            <a:ext cx="1828800"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sp>
        <p:nvSpPr>
          <p:cNvPr id="62" name="Rectangle 61"/>
          <p:cNvSpPr/>
          <p:nvPr/>
        </p:nvSpPr>
        <p:spPr bwMode="gray">
          <a:xfrm>
            <a:off x="3994446" y="2692460"/>
            <a:ext cx="822960"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sp>
        <p:nvSpPr>
          <p:cNvPr id="66" name="Rectangle 65"/>
          <p:cNvSpPr/>
          <p:nvPr/>
        </p:nvSpPr>
        <p:spPr bwMode="gray">
          <a:xfrm>
            <a:off x="7427786" y="3751676"/>
            <a:ext cx="2926080"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sp>
        <p:nvSpPr>
          <p:cNvPr id="67" name="Rectangle 66"/>
          <p:cNvSpPr/>
          <p:nvPr/>
        </p:nvSpPr>
        <p:spPr bwMode="gray">
          <a:xfrm>
            <a:off x="8920092" y="3964494"/>
            <a:ext cx="1426464"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sp>
        <p:nvSpPr>
          <p:cNvPr id="68" name="Rectangle 67"/>
          <p:cNvSpPr/>
          <p:nvPr/>
        </p:nvSpPr>
        <p:spPr bwMode="gray">
          <a:xfrm>
            <a:off x="7428350" y="4655102"/>
            <a:ext cx="2926080" cy="109728"/>
          </a:xfrm>
          <a:prstGeom prst="rect">
            <a:avLst/>
          </a:prstGeom>
          <a:solidFill>
            <a:srgbClr val="86BC25"/>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1" i="0" u="none" strike="noStrike" kern="0" cap="none" spc="0" normalizeH="0" baseline="0" noProof="0" dirty="0">
              <a:ln>
                <a:noFill/>
              </a:ln>
              <a:solidFill>
                <a:schemeClr val="bg1"/>
              </a:solidFill>
              <a:effectLst/>
              <a:uLnTx/>
              <a:uFillTx/>
              <a:ea typeface="Verdana" panose="020B0604030504040204" pitchFamily="34" charset="0"/>
              <a:cs typeface="Verdana" panose="020B0604030504040204" pitchFamily="34" charset="0"/>
            </a:endParaRPr>
          </a:p>
        </p:txBody>
      </p:sp>
      <p:sp>
        <p:nvSpPr>
          <p:cNvPr id="69" name="Rectangle 68"/>
          <p:cNvSpPr/>
          <p:nvPr/>
        </p:nvSpPr>
        <p:spPr bwMode="gray">
          <a:xfrm>
            <a:off x="10349052" y="5033517"/>
            <a:ext cx="1371600" cy="109728"/>
          </a:xfrm>
          <a:prstGeom prst="rect">
            <a:avLst/>
          </a:prstGeom>
          <a:solidFill>
            <a:srgbClr val="86BC25"/>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1" i="0" u="none" strike="noStrike" kern="0" cap="none" spc="0" normalizeH="0" baseline="0" noProof="0" dirty="0">
              <a:ln>
                <a:noFill/>
              </a:ln>
              <a:solidFill>
                <a:schemeClr val="bg1"/>
              </a:solidFill>
              <a:effectLst/>
              <a:uLnTx/>
              <a:uFillTx/>
              <a:ea typeface="Verdana" panose="020B0604030504040204" pitchFamily="34" charset="0"/>
              <a:cs typeface="Verdana" panose="020B0604030504040204" pitchFamily="34" charset="0"/>
            </a:endParaRPr>
          </a:p>
        </p:txBody>
      </p:sp>
      <p:sp>
        <p:nvSpPr>
          <p:cNvPr id="25" name="Rectangle 24"/>
          <p:cNvSpPr/>
          <p:nvPr/>
        </p:nvSpPr>
        <p:spPr bwMode="gray">
          <a:xfrm>
            <a:off x="3681796" y="2202650"/>
            <a:ext cx="274320"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sp>
        <p:nvSpPr>
          <p:cNvPr id="26" name="Rectangle 25"/>
          <p:cNvSpPr/>
          <p:nvPr/>
        </p:nvSpPr>
        <p:spPr bwMode="gray">
          <a:xfrm>
            <a:off x="3994651" y="2470216"/>
            <a:ext cx="822960"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sp>
        <p:nvSpPr>
          <p:cNvPr id="33" name="5-Point Star 32"/>
          <p:cNvSpPr/>
          <p:nvPr/>
        </p:nvSpPr>
        <p:spPr bwMode="gray">
          <a:xfrm>
            <a:off x="7331334" y="3277464"/>
            <a:ext cx="210666" cy="169040"/>
          </a:xfrm>
          <a:prstGeom prst="star5">
            <a:avLst/>
          </a:prstGeom>
          <a:solidFill>
            <a:srgbClr val="81B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endParaRPr>
          </a:p>
        </p:txBody>
      </p:sp>
      <p:cxnSp>
        <p:nvCxnSpPr>
          <p:cNvPr id="5" name="Straight Connector 4"/>
          <p:cNvCxnSpPr/>
          <p:nvPr/>
        </p:nvCxnSpPr>
        <p:spPr>
          <a:xfrm>
            <a:off x="3398767" y="2247040"/>
            <a:ext cx="283029"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400245" y="2523732"/>
            <a:ext cx="621792"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3400244" y="2742512"/>
            <a:ext cx="621792"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401718" y="2965936"/>
            <a:ext cx="59436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403192" y="3171604"/>
            <a:ext cx="219456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3395792" y="3377272"/>
            <a:ext cx="402336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3397270" y="3804881"/>
            <a:ext cx="402336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389868" y="4019427"/>
            <a:ext cx="553212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3395795" y="4708923"/>
            <a:ext cx="402336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3398746" y="5084739"/>
            <a:ext cx="694944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6" name="Down Arrow 5"/>
          <p:cNvSpPr/>
          <p:nvPr/>
        </p:nvSpPr>
        <p:spPr bwMode="gray">
          <a:xfrm>
            <a:off x="10218198" y="807868"/>
            <a:ext cx="172931" cy="226856"/>
          </a:xfrm>
          <a:prstGeom prst="downArrow">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9" name="Down Arrow 48"/>
          <p:cNvSpPr/>
          <p:nvPr/>
        </p:nvSpPr>
        <p:spPr bwMode="gray">
          <a:xfrm>
            <a:off x="7313683" y="792046"/>
            <a:ext cx="172931" cy="226856"/>
          </a:xfrm>
          <a:prstGeom prst="downArrow">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0" name="TextBox 49"/>
          <p:cNvSpPr txBox="1"/>
          <p:nvPr/>
        </p:nvSpPr>
        <p:spPr>
          <a:xfrm>
            <a:off x="6779926" y="521390"/>
            <a:ext cx="1240444" cy="246221"/>
          </a:xfrm>
          <a:prstGeom prst="rect">
            <a:avLst/>
          </a:prstGeom>
          <a:noFill/>
        </p:spPr>
        <p:txBody>
          <a:bodyPr wrap="square" lIns="0" tIns="0" rIns="0" bIns="0" rtlCol="0">
            <a:spAutoFit/>
          </a:bodyPr>
          <a:lstStyle/>
          <a:p>
            <a:pPr algn="ctr">
              <a:spcBef>
                <a:spcPts val="600"/>
              </a:spcBef>
              <a:buSzPct val="100000"/>
            </a:pPr>
            <a:r>
              <a:rPr lang="en-US" sz="800" dirty="0">
                <a:solidFill>
                  <a:srgbClr val="313131"/>
                </a:solidFill>
                <a:ea typeface="Verdana" panose="020B0604030504040204" pitchFamily="34" charset="0"/>
                <a:cs typeface="Verdana" panose="020B0604030504040204" pitchFamily="34" charset="0"/>
              </a:rPr>
              <a:t>Patch Application in </a:t>
            </a:r>
            <a:r>
              <a:rPr lang="en-US" sz="800" b="1" dirty="0">
                <a:solidFill>
                  <a:srgbClr val="313131"/>
                </a:solidFill>
                <a:ea typeface="Verdana" panose="020B0604030504040204" pitchFamily="34" charset="0"/>
                <a:cs typeface="Verdana" panose="020B0604030504040204" pitchFamily="34" charset="0"/>
              </a:rPr>
              <a:t>Non-Prod</a:t>
            </a:r>
            <a:r>
              <a:rPr lang="en-US" sz="800" dirty="0">
                <a:solidFill>
                  <a:srgbClr val="313131"/>
                </a:solidFill>
                <a:ea typeface="Verdana" panose="020B0604030504040204" pitchFamily="34" charset="0"/>
                <a:cs typeface="Verdana" panose="020B0604030504040204" pitchFamily="34" charset="0"/>
              </a:rPr>
              <a:t> Environment</a:t>
            </a:r>
          </a:p>
        </p:txBody>
      </p:sp>
      <p:sp>
        <p:nvSpPr>
          <p:cNvPr id="54" name="TextBox 53"/>
          <p:cNvSpPr txBox="1"/>
          <p:nvPr/>
        </p:nvSpPr>
        <p:spPr>
          <a:xfrm>
            <a:off x="9698362" y="549579"/>
            <a:ext cx="1212602" cy="246221"/>
          </a:xfrm>
          <a:prstGeom prst="rect">
            <a:avLst/>
          </a:prstGeom>
          <a:noFill/>
        </p:spPr>
        <p:txBody>
          <a:bodyPr wrap="square" lIns="0" tIns="0" rIns="0" bIns="0" rtlCol="0">
            <a:spAutoFit/>
          </a:bodyPr>
          <a:lstStyle/>
          <a:p>
            <a:pPr algn="ctr">
              <a:spcBef>
                <a:spcPts val="600"/>
              </a:spcBef>
              <a:buSzPct val="100000"/>
            </a:pPr>
            <a:r>
              <a:rPr lang="en-US" sz="800" dirty="0">
                <a:solidFill>
                  <a:srgbClr val="313131"/>
                </a:solidFill>
                <a:ea typeface="Verdana" panose="020B0604030504040204" pitchFamily="34" charset="0"/>
                <a:cs typeface="Verdana" panose="020B0604030504040204" pitchFamily="34" charset="0"/>
              </a:rPr>
              <a:t>Patch Application in </a:t>
            </a:r>
            <a:r>
              <a:rPr lang="en-US" sz="800" b="1" dirty="0">
                <a:solidFill>
                  <a:srgbClr val="313131"/>
                </a:solidFill>
                <a:ea typeface="Verdana" panose="020B0604030504040204" pitchFamily="34" charset="0"/>
                <a:cs typeface="Verdana" panose="020B0604030504040204" pitchFamily="34" charset="0"/>
              </a:rPr>
              <a:t>Prod</a:t>
            </a:r>
            <a:r>
              <a:rPr lang="en-US" sz="800" dirty="0">
                <a:solidFill>
                  <a:srgbClr val="313131"/>
                </a:solidFill>
                <a:ea typeface="Verdana" panose="020B0604030504040204" pitchFamily="34" charset="0"/>
                <a:cs typeface="Verdana" panose="020B0604030504040204" pitchFamily="34" charset="0"/>
              </a:rPr>
              <a:t> Environment</a:t>
            </a:r>
          </a:p>
        </p:txBody>
      </p:sp>
      <p:sp>
        <p:nvSpPr>
          <p:cNvPr id="55" name="Rectangle 54"/>
          <p:cNvSpPr/>
          <p:nvPr/>
        </p:nvSpPr>
        <p:spPr bwMode="gray">
          <a:xfrm>
            <a:off x="10354430" y="4196865"/>
            <a:ext cx="1371600" cy="109728"/>
          </a:xfrm>
          <a:prstGeom prst="rect">
            <a:avLst/>
          </a:prstGeom>
          <a:solidFill>
            <a:srgbClr val="00A1D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Verdana" panose="020B0604030504040204" pitchFamily="34" charset="0"/>
              <a:cs typeface="Verdana" panose="020B0604030504040204" pitchFamily="34" charset="0"/>
            </a:endParaRPr>
          </a:p>
        </p:txBody>
      </p:sp>
      <p:cxnSp>
        <p:nvCxnSpPr>
          <p:cNvPr id="57" name="Straight Connector 56"/>
          <p:cNvCxnSpPr/>
          <p:nvPr/>
        </p:nvCxnSpPr>
        <p:spPr>
          <a:xfrm>
            <a:off x="3400224" y="4251729"/>
            <a:ext cx="694944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308500" y="5521860"/>
            <a:ext cx="4252394" cy="959237"/>
          </a:xfrm>
          <a:prstGeom prst="rect">
            <a:avLst/>
          </a:prstGeom>
        </p:spPr>
        <p:txBody>
          <a:bodyPr wrap="square">
            <a:spAutoFit/>
          </a:bodyPr>
          <a:lstStyle/>
          <a:p>
            <a:pPr>
              <a:spcBef>
                <a:spcPts val="200"/>
              </a:spcBef>
              <a:buSzPct val="100000"/>
            </a:pPr>
            <a:r>
              <a:rPr lang="en-US" sz="800" dirty="0"/>
              <a:t>  * Timeline without value-add services = 6 weeks with below assumptions:</a:t>
            </a:r>
          </a:p>
          <a:p>
            <a:pPr>
              <a:spcBef>
                <a:spcPts val="200"/>
              </a:spcBef>
              <a:buSzPct val="100000"/>
            </a:pPr>
            <a:r>
              <a:rPr lang="en-US" sz="800" dirty="0"/>
              <a:t>     1. Total Automation scripts = 100</a:t>
            </a:r>
          </a:p>
          <a:p>
            <a:pPr>
              <a:spcBef>
                <a:spcPts val="200"/>
              </a:spcBef>
              <a:buSzPct val="100000"/>
            </a:pPr>
            <a:r>
              <a:rPr lang="en-US" sz="800" dirty="0"/>
              <a:t>     2. Automation scripts eligible for retrofit = 40</a:t>
            </a:r>
          </a:p>
          <a:p>
            <a:pPr>
              <a:spcBef>
                <a:spcPts val="200"/>
              </a:spcBef>
              <a:buSzPct val="100000"/>
            </a:pPr>
            <a:r>
              <a:rPr lang="en-US" sz="800" dirty="0"/>
              <a:t>     3. Automation scripts created for client specific test scenarios = 10</a:t>
            </a:r>
          </a:p>
          <a:p>
            <a:pPr>
              <a:spcBef>
                <a:spcPts val="200"/>
              </a:spcBef>
              <a:buSzPct val="100000"/>
            </a:pPr>
            <a:r>
              <a:rPr lang="en-US" sz="800" dirty="0"/>
              <a:t>     4. Scripts to be installed as-is as a part of automation bundle = 50</a:t>
            </a:r>
          </a:p>
          <a:p>
            <a:pPr>
              <a:spcBef>
                <a:spcPts val="200"/>
              </a:spcBef>
              <a:buSzPct val="100000"/>
            </a:pPr>
            <a:r>
              <a:rPr lang="en-US" sz="800" dirty="0"/>
              <a:t>** Task for additional value-add service with weeks</a:t>
            </a:r>
          </a:p>
        </p:txBody>
      </p:sp>
      <p:grpSp>
        <p:nvGrpSpPr>
          <p:cNvPr id="77" name="Group 76"/>
          <p:cNvGrpSpPr/>
          <p:nvPr/>
        </p:nvGrpSpPr>
        <p:grpSpPr>
          <a:xfrm>
            <a:off x="7004117" y="5778261"/>
            <a:ext cx="4707108" cy="578593"/>
            <a:chOff x="805688" y="2310967"/>
            <a:chExt cx="3551123" cy="578593"/>
          </a:xfrm>
        </p:grpSpPr>
        <p:grpSp>
          <p:nvGrpSpPr>
            <p:cNvPr id="78" name="Group 77"/>
            <p:cNvGrpSpPr/>
            <p:nvPr/>
          </p:nvGrpSpPr>
          <p:grpSpPr>
            <a:xfrm flipH="1">
              <a:off x="3925214" y="2506262"/>
              <a:ext cx="431597" cy="383298"/>
              <a:chOff x="415037" y="2309389"/>
              <a:chExt cx="431597" cy="383298"/>
            </a:xfrm>
          </p:grpSpPr>
          <p:sp>
            <p:nvSpPr>
              <p:cNvPr id="81" name="Chevron 10"/>
              <p:cNvSpPr/>
              <p:nvPr/>
            </p:nvSpPr>
            <p:spPr>
              <a:xfrm>
                <a:off x="415037" y="2309389"/>
                <a:ext cx="431597" cy="383298"/>
              </a:xfrm>
              <a:custGeom>
                <a:avLst/>
                <a:gdLst>
                  <a:gd name="connsiteX0" fmla="*/ 0 w 497434"/>
                  <a:gd name="connsiteY0" fmla="*/ 0 h 365760"/>
                  <a:gd name="connsiteX1" fmla="*/ 314554 w 497434"/>
                  <a:gd name="connsiteY1" fmla="*/ 0 h 365760"/>
                  <a:gd name="connsiteX2" fmla="*/ 497434 w 497434"/>
                  <a:gd name="connsiteY2" fmla="*/ 182880 h 365760"/>
                  <a:gd name="connsiteX3" fmla="*/ 314554 w 497434"/>
                  <a:gd name="connsiteY3" fmla="*/ 365760 h 365760"/>
                  <a:gd name="connsiteX4" fmla="*/ 0 w 497434"/>
                  <a:gd name="connsiteY4" fmla="*/ 365760 h 365760"/>
                  <a:gd name="connsiteX5" fmla="*/ 182880 w 497434"/>
                  <a:gd name="connsiteY5" fmla="*/ 182880 h 365760"/>
                  <a:gd name="connsiteX6" fmla="*/ 0 w 497434"/>
                  <a:gd name="connsiteY6" fmla="*/ 0 h 365760"/>
                  <a:gd name="connsiteX0" fmla="*/ 0 w 321869"/>
                  <a:gd name="connsiteY0" fmla="*/ 0 h 365760"/>
                  <a:gd name="connsiteX1" fmla="*/ 314554 w 321869"/>
                  <a:gd name="connsiteY1" fmla="*/ 0 h 365760"/>
                  <a:gd name="connsiteX2" fmla="*/ 321869 w 321869"/>
                  <a:gd name="connsiteY2" fmla="*/ 146304 h 365760"/>
                  <a:gd name="connsiteX3" fmla="*/ 314554 w 321869"/>
                  <a:gd name="connsiteY3" fmla="*/ 365760 h 365760"/>
                  <a:gd name="connsiteX4" fmla="*/ 0 w 321869"/>
                  <a:gd name="connsiteY4" fmla="*/ 365760 h 365760"/>
                  <a:gd name="connsiteX5" fmla="*/ 182880 w 321869"/>
                  <a:gd name="connsiteY5" fmla="*/ 182880 h 365760"/>
                  <a:gd name="connsiteX6" fmla="*/ 0 w 321869"/>
                  <a:gd name="connsiteY6" fmla="*/ 0 h 365760"/>
                  <a:gd name="connsiteX0" fmla="*/ 0 w 431597"/>
                  <a:gd name="connsiteY0" fmla="*/ 0 h 365760"/>
                  <a:gd name="connsiteX1" fmla="*/ 314554 w 431597"/>
                  <a:gd name="connsiteY1" fmla="*/ 0 h 365760"/>
                  <a:gd name="connsiteX2" fmla="*/ 321869 w 431597"/>
                  <a:gd name="connsiteY2" fmla="*/ 146304 h 365760"/>
                  <a:gd name="connsiteX3" fmla="*/ 431597 w 431597"/>
                  <a:gd name="connsiteY3" fmla="*/ 365760 h 365760"/>
                  <a:gd name="connsiteX4" fmla="*/ 0 w 431597"/>
                  <a:gd name="connsiteY4" fmla="*/ 365760 h 365760"/>
                  <a:gd name="connsiteX5" fmla="*/ 182880 w 431597"/>
                  <a:gd name="connsiteY5" fmla="*/ 182880 h 365760"/>
                  <a:gd name="connsiteX6" fmla="*/ 0 w 431597"/>
                  <a:gd name="connsiteY6" fmla="*/ 0 h 365760"/>
                  <a:gd name="connsiteX0" fmla="*/ 0 w 431597"/>
                  <a:gd name="connsiteY0" fmla="*/ 0 h 365760"/>
                  <a:gd name="connsiteX1" fmla="*/ 314554 w 431597"/>
                  <a:gd name="connsiteY1" fmla="*/ 0 h 365760"/>
                  <a:gd name="connsiteX2" fmla="*/ 321869 w 431597"/>
                  <a:gd name="connsiteY2" fmla="*/ 263348 h 365760"/>
                  <a:gd name="connsiteX3" fmla="*/ 431597 w 431597"/>
                  <a:gd name="connsiteY3" fmla="*/ 365760 h 365760"/>
                  <a:gd name="connsiteX4" fmla="*/ 0 w 431597"/>
                  <a:gd name="connsiteY4" fmla="*/ 365760 h 365760"/>
                  <a:gd name="connsiteX5" fmla="*/ 182880 w 431597"/>
                  <a:gd name="connsiteY5" fmla="*/ 182880 h 365760"/>
                  <a:gd name="connsiteX6" fmla="*/ 0 w 431597"/>
                  <a:gd name="connsiteY6" fmla="*/ 0 h 36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597" h="365760">
                    <a:moveTo>
                      <a:pt x="0" y="0"/>
                    </a:moveTo>
                    <a:lnTo>
                      <a:pt x="314554" y="0"/>
                    </a:lnTo>
                    <a:lnTo>
                      <a:pt x="321869" y="263348"/>
                    </a:lnTo>
                    <a:lnTo>
                      <a:pt x="431597" y="365760"/>
                    </a:lnTo>
                    <a:lnTo>
                      <a:pt x="0" y="365760"/>
                    </a:lnTo>
                    <a:lnTo>
                      <a:pt x="182880" y="182880"/>
                    </a:lnTo>
                    <a:lnTo>
                      <a:pt x="0" y="0"/>
                    </a:lnTo>
                    <a:close/>
                  </a:path>
                </a:pathLst>
              </a:custGeom>
              <a:solidFill>
                <a:srgbClr val="B4B4B4"/>
              </a:solidFill>
              <a:ln w="12700" cap="flat" cmpd="sng" algn="ctr">
                <a:noFill/>
                <a:prstDash val="solid"/>
              </a:ln>
              <a:effectLst/>
            </p:spPr>
            <p:txBody>
              <a:bodyPr wrap="square" lIns="36000" tIns="36000" rIns="36000" bIns="36000" rtlCol="0" anchor="ctr">
                <a:spAutoFit/>
              </a:bodyPr>
              <a:lstStyle/>
              <a:p>
                <a:pPr algn="ctr" defTabSz="914400">
                  <a:defRPr/>
                </a:pPr>
                <a:endParaRPr lang="en-US" sz="1200" kern="0" dirty="0" err="1">
                  <a:solidFill>
                    <a:srgbClr val="002776"/>
                  </a:solidFill>
                  <a:latin typeface="Arial"/>
                </a:endParaRPr>
              </a:p>
            </p:txBody>
          </p:sp>
          <p:sp>
            <p:nvSpPr>
              <p:cNvPr id="82" name="Freeform 81"/>
              <p:cNvSpPr/>
              <p:nvPr/>
            </p:nvSpPr>
            <p:spPr>
              <a:xfrm>
                <a:off x="715368" y="2380429"/>
                <a:ext cx="125678" cy="302831"/>
              </a:xfrm>
              <a:custGeom>
                <a:avLst/>
                <a:gdLst>
                  <a:gd name="connsiteX0" fmla="*/ 109728 w 117043"/>
                  <a:gd name="connsiteY0" fmla="*/ 190195 h 190195"/>
                  <a:gd name="connsiteX1" fmla="*/ 117043 w 117043"/>
                  <a:gd name="connsiteY1" fmla="*/ 0 h 190195"/>
                  <a:gd name="connsiteX2" fmla="*/ 0 w 117043"/>
                  <a:gd name="connsiteY2" fmla="*/ 95098 h 190195"/>
                  <a:gd name="connsiteX3" fmla="*/ 109728 w 117043"/>
                  <a:gd name="connsiteY3" fmla="*/ 190195 h 190195"/>
                </a:gdLst>
                <a:ahLst/>
                <a:cxnLst>
                  <a:cxn ang="0">
                    <a:pos x="connsiteX0" y="connsiteY0"/>
                  </a:cxn>
                  <a:cxn ang="0">
                    <a:pos x="connsiteX1" y="connsiteY1"/>
                  </a:cxn>
                  <a:cxn ang="0">
                    <a:pos x="connsiteX2" y="connsiteY2"/>
                  </a:cxn>
                  <a:cxn ang="0">
                    <a:pos x="connsiteX3" y="connsiteY3"/>
                  </a:cxn>
                </a:cxnLst>
                <a:rect l="l" t="t" r="r" b="b"/>
                <a:pathLst>
                  <a:path w="117043" h="190195">
                    <a:moveTo>
                      <a:pt x="109728" y="190195"/>
                    </a:moveTo>
                    <a:lnTo>
                      <a:pt x="117043" y="0"/>
                    </a:lnTo>
                    <a:lnTo>
                      <a:pt x="0" y="95098"/>
                    </a:lnTo>
                    <a:lnTo>
                      <a:pt x="109728" y="190195"/>
                    </a:lnTo>
                    <a:close/>
                  </a:path>
                </a:pathLst>
              </a:custGeom>
              <a:solidFill>
                <a:srgbClr val="575757"/>
              </a:solidFill>
              <a:ln w="12700" cap="flat" cmpd="sng" algn="ctr">
                <a:solidFill>
                  <a:srgbClr val="575757"/>
                </a:solidFill>
                <a:prstDash val="solid"/>
              </a:ln>
              <a:effectLst/>
            </p:spPr>
            <p:txBody>
              <a:bodyPr wrap="square" lIns="36000" tIns="36000" rIns="36000" bIns="36000" rtlCol="0" anchor="ctr">
                <a:spAutoFit/>
              </a:bodyPr>
              <a:lstStyle/>
              <a:p>
                <a:pPr algn="ctr" defTabSz="914400">
                  <a:defRPr/>
                </a:pPr>
                <a:endParaRPr lang="en-US" sz="1200" kern="0" dirty="0" err="1">
                  <a:solidFill>
                    <a:srgbClr val="002776"/>
                  </a:solidFill>
                  <a:latin typeface="Arial"/>
                </a:endParaRPr>
              </a:p>
            </p:txBody>
          </p:sp>
        </p:grpSp>
        <p:sp>
          <p:nvSpPr>
            <p:cNvPr id="79" name="Rectangle 78"/>
            <p:cNvSpPr/>
            <p:nvPr/>
          </p:nvSpPr>
          <p:spPr>
            <a:xfrm>
              <a:off x="805688" y="2310967"/>
              <a:ext cx="3257906" cy="395022"/>
            </a:xfrm>
            <a:prstGeom prst="rect">
              <a:avLst/>
            </a:prstGeom>
            <a:solidFill>
              <a:srgbClr val="B4B4B4"/>
            </a:solidFill>
            <a:ln w="6350" cap="flat" cmpd="sng" algn="ctr">
              <a:solidFill>
                <a:srgbClr val="C9DD03">
                  <a:lumMod val="20000"/>
                  <a:lumOff val="80000"/>
                </a:srgbClr>
              </a:solidFill>
              <a:prstDash val="solid"/>
            </a:ln>
            <a:effectLst/>
          </p:spPr>
          <p:txBody>
            <a:bodyPr lIns="36000" tIns="36000" rIns="36000" bIns="36000" rtlCol="0" anchor="ctr">
              <a:noAutofit/>
            </a:bodyPr>
            <a:lstStyle/>
            <a:p>
              <a:pPr algn="ctr" defTabSz="914400">
                <a:defRPr/>
              </a:pPr>
              <a:endParaRPr lang="en-US" sz="1200" kern="0" dirty="0" err="1">
                <a:solidFill>
                  <a:srgbClr val="002776"/>
                </a:solidFill>
                <a:latin typeface="Arial"/>
              </a:endParaRPr>
            </a:p>
          </p:txBody>
        </p:sp>
        <p:sp>
          <p:nvSpPr>
            <p:cNvPr id="80" name="TextBox 79"/>
            <p:cNvSpPr txBox="1"/>
            <p:nvPr/>
          </p:nvSpPr>
          <p:spPr>
            <a:xfrm>
              <a:off x="914400" y="2358195"/>
              <a:ext cx="3060091" cy="257369"/>
            </a:xfrm>
            <a:prstGeom prst="rect">
              <a:avLst/>
            </a:prstGeom>
            <a:noFill/>
          </p:spPr>
          <p:txBody>
            <a:bodyPr wrap="square" lIns="36000" tIns="36000" rIns="36000" bIns="36000" rtlCol="0">
              <a:spAutoFit/>
            </a:bodyPr>
            <a:lstStyle/>
            <a:p>
              <a:pPr lvl="0" algn="ctr" defTabSz="914400">
                <a:defRPr/>
              </a:pPr>
              <a:r>
                <a:rPr lang="en-US" sz="1200" kern="0" dirty="0"/>
                <a:t>2 weeks to test Patch between Non-Prod and Prod</a:t>
              </a:r>
            </a:p>
          </p:txBody>
        </p:sp>
      </p:grpSp>
    </p:spTree>
    <p:extLst>
      <p:ext uri="{BB962C8B-B14F-4D97-AF65-F5344CB8AC3E}">
        <p14:creationId xmlns:p14="http://schemas.microsoft.com/office/powerpoint/2010/main" val="129847137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p:txBody>
          <a:bodyPr/>
          <a:lstStyle/>
          <a:p>
            <a:r>
              <a:rPr lang="en-US"/>
              <a:t>Illustrative Cost &amp; Estimation : Program Cost</a:t>
            </a:r>
            <a:endParaRPr lang="en-US" dirty="0"/>
          </a:p>
        </p:txBody>
      </p:sp>
      <p:graphicFrame>
        <p:nvGraphicFramePr>
          <p:cNvPr id="23" name="Group 3"/>
          <p:cNvGraphicFramePr>
            <a:graphicFrameLocks noGrp="1"/>
          </p:cNvGraphicFramePr>
          <p:nvPr>
            <p:extLst>
              <p:ext uri="{D42A27DB-BD31-4B8C-83A1-F6EECF244321}">
                <p14:modId xmlns:p14="http://schemas.microsoft.com/office/powerpoint/2010/main" val="3107666308"/>
              </p:ext>
            </p:extLst>
          </p:nvPr>
        </p:nvGraphicFramePr>
        <p:xfrm>
          <a:off x="4463935" y="1023326"/>
          <a:ext cx="4329349" cy="1706880"/>
        </p:xfrm>
        <a:graphic>
          <a:graphicData uri="http://schemas.openxmlformats.org/drawingml/2006/table">
            <a:tbl>
              <a:tblPr/>
              <a:tblGrid>
                <a:gridCol w="1314918">
                  <a:extLst>
                    <a:ext uri="{9D8B030D-6E8A-4147-A177-3AD203B41FA5}">
                      <a16:colId xmlns:a16="http://schemas.microsoft.com/office/drawing/2014/main" val="20000"/>
                    </a:ext>
                  </a:extLst>
                </a:gridCol>
                <a:gridCol w="940777">
                  <a:extLst>
                    <a:ext uri="{9D8B030D-6E8A-4147-A177-3AD203B41FA5}">
                      <a16:colId xmlns:a16="http://schemas.microsoft.com/office/drawing/2014/main" val="20001"/>
                    </a:ext>
                  </a:extLst>
                </a:gridCol>
                <a:gridCol w="1090246">
                  <a:extLst>
                    <a:ext uri="{9D8B030D-6E8A-4147-A177-3AD203B41FA5}">
                      <a16:colId xmlns:a16="http://schemas.microsoft.com/office/drawing/2014/main" val="1118624265"/>
                    </a:ext>
                  </a:extLst>
                </a:gridCol>
                <a:gridCol w="983408">
                  <a:extLst>
                    <a:ext uri="{9D8B030D-6E8A-4147-A177-3AD203B41FA5}">
                      <a16:colId xmlns:a16="http://schemas.microsoft.com/office/drawing/2014/main" val="1466885288"/>
                    </a:ext>
                  </a:extLst>
                </a:gridCol>
              </a:tblGrid>
              <a:tr h="321897">
                <a:tc>
                  <a:txBody>
                    <a:bodyPr/>
                    <a:lstStyle/>
                    <a:p>
                      <a:pPr marL="0" marR="0" lvl="0" indent="0" algn="l" defTabSz="684213" rtl="0" eaLnBrk="0" fontAlgn="base" latinLnBrk="0" hangingPunct="0">
                        <a:lnSpc>
                          <a:spcPct val="100000"/>
                        </a:lnSpc>
                        <a:spcBef>
                          <a:spcPts val="0"/>
                        </a:spcBef>
                        <a:spcAft>
                          <a:spcPts val="0"/>
                        </a:spcAft>
                        <a:buClrTx/>
                        <a:buSzPct val="25000"/>
                        <a:buFont typeface="Wingdings" pitchFamily="2" charset="2"/>
                        <a:buNone/>
                        <a:tabLst/>
                      </a:pPr>
                      <a:r>
                        <a:rPr kumimoji="0" lang="en-US" sz="1100" b="0" u="none" strike="noStrike" kern="1200" cap="none" normalizeH="0" baseline="0" dirty="0">
                          <a:ln>
                            <a:noFill/>
                          </a:ln>
                          <a:solidFill>
                            <a:schemeClr val="accent1"/>
                          </a:solidFill>
                          <a:effectLst/>
                          <a:latin typeface="+mn-lt"/>
                          <a:ea typeface="+mn-ea"/>
                          <a:cs typeface="+mn-cs"/>
                        </a:rPr>
                        <a:t>Scope</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0"/>
                        </a:spcBef>
                        <a:spcAft>
                          <a:spcPts val="0"/>
                        </a:spcAft>
                        <a:buClrTx/>
                        <a:buSzPct val="65000"/>
                        <a:buFont typeface="Wingdings"/>
                        <a:buNone/>
                        <a:tabLst/>
                      </a:pPr>
                      <a:r>
                        <a:rPr kumimoji="0" lang="en-US" sz="1100" b="0" u="none" strike="noStrike" kern="1200" cap="none" normalizeH="0" baseline="0" dirty="0">
                          <a:ln>
                            <a:noFill/>
                          </a:ln>
                          <a:solidFill>
                            <a:schemeClr val="accent1"/>
                          </a:solidFill>
                          <a:effectLst/>
                          <a:latin typeface="+mn-lt"/>
                        </a:rPr>
                        <a:t>Total Hrs.</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0"/>
                        </a:spcBef>
                        <a:spcAft>
                          <a:spcPts val="0"/>
                        </a:spcAft>
                        <a:buClrTx/>
                        <a:buSzPct val="65000"/>
                        <a:buFont typeface="Wingdings"/>
                        <a:buNone/>
                        <a:tabLst/>
                      </a:pPr>
                      <a:r>
                        <a:rPr kumimoji="0" lang="en-US" sz="1100" b="0" u="none" strike="noStrike" kern="1200" cap="none" normalizeH="0" baseline="0" dirty="0">
                          <a:ln>
                            <a:noFill/>
                          </a:ln>
                          <a:solidFill>
                            <a:schemeClr val="accent1"/>
                          </a:solidFill>
                          <a:effectLst/>
                          <a:latin typeface="+mn-lt"/>
                        </a:rPr>
                        <a:t>Client Fees Billed</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0"/>
                        </a:spcBef>
                        <a:spcAft>
                          <a:spcPts val="0"/>
                        </a:spcAft>
                      </a:pPr>
                      <a:r>
                        <a:rPr kumimoji="0" lang="en-US" sz="1100" b="0" u="none" strike="noStrike" kern="1200" cap="none" normalizeH="0" baseline="0" dirty="0" err="1">
                          <a:ln>
                            <a:noFill/>
                          </a:ln>
                          <a:solidFill>
                            <a:schemeClr val="accent1"/>
                          </a:solidFill>
                          <a:effectLst/>
                          <a:latin typeface="+mn-lt"/>
                          <a:ea typeface="+mn-ea"/>
                          <a:cs typeface="+mn-cs"/>
                        </a:rPr>
                        <a:t>UIPath</a:t>
                      </a:r>
                      <a:r>
                        <a:rPr kumimoji="0" lang="en-US" sz="1100" b="0" u="none" strike="noStrike" kern="1200" cap="none" normalizeH="0" baseline="0" dirty="0">
                          <a:ln>
                            <a:noFill/>
                          </a:ln>
                          <a:solidFill>
                            <a:schemeClr val="accent1"/>
                          </a:solidFill>
                          <a:effectLst/>
                          <a:latin typeface="+mn-lt"/>
                          <a:ea typeface="+mn-ea"/>
                          <a:cs typeface="+mn-cs"/>
                        </a:rPr>
                        <a:t> Type</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68239">
                <a:tc rowSpan="2">
                  <a:txBody>
                    <a:bodyPr/>
                    <a:lstStyle/>
                    <a:p>
                      <a:pPr defTabSz="762000"/>
                      <a:r>
                        <a:rPr lang="en-US" sz="900" b="1" dirty="0"/>
                        <a:t>Process Area</a:t>
                      </a:r>
                    </a:p>
                    <a:p>
                      <a:pPr marL="227013" indent="-114300" defTabSz="762000">
                        <a:buFont typeface="Arial" panose="020B0604020202020204" pitchFamily="34" charset="0"/>
                        <a:buChar char="•"/>
                      </a:pPr>
                      <a:r>
                        <a:rPr lang="en-US" sz="900" dirty="0"/>
                        <a:t>Cloud OTC</a:t>
                      </a:r>
                    </a:p>
                    <a:p>
                      <a:pPr marL="227013" indent="-114300" defTabSz="762000">
                        <a:buFont typeface="Arial" panose="020B0604020202020204" pitchFamily="34" charset="0"/>
                        <a:buChar char="•"/>
                      </a:pPr>
                      <a:r>
                        <a:rPr lang="en-US" sz="900" dirty="0"/>
                        <a:t>Cloud PTP</a:t>
                      </a:r>
                    </a:p>
                    <a:p>
                      <a:pPr marL="227013" indent="-114300" defTabSz="762000">
                        <a:buFont typeface="Arial" panose="020B0604020202020204" pitchFamily="34" charset="0"/>
                        <a:buChar char="•"/>
                      </a:pPr>
                      <a:r>
                        <a:rPr lang="en-US" sz="900" dirty="0"/>
                        <a:t>Cloud ATC</a:t>
                      </a:r>
                    </a:p>
                    <a:p>
                      <a:pPr marL="0" indent="0" defTabSz="762000">
                        <a:spcBef>
                          <a:spcPts val="600"/>
                        </a:spcBef>
                        <a:buFont typeface="Arial" panose="020B0604020202020204" pitchFamily="34" charset="0"/>
                        <a:buNone/>
                      </a:pPr>
                      <a:r>
                        <a:rPr lang="en-US" sz="900" b="1" dirty="0"/>
                        <a:t>Test</a:t>
                      </a:r>
                      <a:r>
                        <a:rPr lang="en-US" sz="900" b="1" baseline="0" dirty="0"/>
                        <a:t> Scripts </a:t>
                      </a:r>
                      <a:r>
                        <a:rPr lang="en-US" sz="900" baseline="0" dirty="0"/>
                        <a:t>= 100</a:t>
                      </a:r>
                      <a:endParaRPr lang="en-US" sz="900" dirty="0"/>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Approx.</a:t>
                      </a:r>
                    </a:p>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3400</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Approx.</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$110,000</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Using unattended bots</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68239">
                <a:tc vMerge="1">
                  <a:txBody>
                    <a:bodyPr/>
                    <a:lstStyle/>
                    <a:p>
                      <a:endParaRPr lang="en-US"/>
                    </a:p>
                  </a:txBody>
                  <a:tcPr/>
                </a:tc>
                <a:tc>
                  <a:txBody>
                    <a:bodyPr/>
                    <a:lstStyle/>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Approx.</a:t>
                      </a:r>
                    </a:p>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3800</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Approx.</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$120,000</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Using attended bots</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8404732"/>
                  </a:ext>
                </a:extLst>
              </a:tr>
            </a:tbl>
          </a:graphicData>
        </a:graphic>
      </p:graphicFrame>
      <p:graphicFrame>
        <p:nvGraphicFramePr>
          <p:cNvPr id="28" name="Group 3"/>
          <p:cNvGraphicFramePr>
            <a:graphicFrameLocks noGrp="1"/>
          </p:cNvGraphicFramePr>
          <p:nvPr>
            <p:extLst>
              <p:ext uri="{D42A27DB-BD31-4B8C-83A1-F6EECF244321}">
                <p14:modId xmlns:p14="http://schemas.microsoft.com/office/powerpoint/2010/main" val="929617633"/>
              </p:ext>
            </p:extLst>
          </p:nvPr>
        </p:nvGraphicFramePr>
        <p:xfrm>
          <a:off x="8987149" y="2276829"/>
          <a:ext cx="2971428" cy="1400777"/>
        </p:xfrm>
        <a:graphic>
          <a:graphicData uri="http://schemas.openxmlformats.org/drawingml/2006/table">
            <a:tbl>
              <a:tblPr/>
              <a:tblGrid>
                <a:gridCol w="2971428">
                  <a:extLst>
                    <a:ext uri="{9D8B030D-6E8A-4147-A177-3AD203B41FA5}">
                      <a16:colId xmlns:a16="http://schemas.microsoft.com/office/drawing/2014/main" val="20000"/>
                    </a:ext>
                  </a:extLst>
                </a:gridCol>
              </a:tblGrid>
              <a:tr h="368880">
                <a:tc>
                  <a:txBody>
                    <a:bodyPr/>
                    <a:lstStyle/>
                    <a:p>
                      <a:pPr marL="0" marR="0" lvl="0" indent="0" algn="l" defTabSz="684213" rtl="0" eaLnBrk="0" fontAlgn="base" latinLnBrk="0" hangingPunct="0">
                        <a:lnSpc>
                          <a:spcPct val="100000"/>
                        </a:lnSpc>
                        <a:spcBef>
                          <a:spcPts val="400"/>
                        </a:spcBef>
                        <a:spcAft>
                          <a:spcPct val="0"/>
                        </a:spcAft>
                        <a:buClrTx/>
                        <a:buSzPct val="25000"/>
                        <a:buFont typeface="Wingdings" pitchFamily="2" charset="2"/>
                        <a:buNone/>
                        <a:tabLst/>
                      </a:pPr>
                      <a:r>
                        <a:rPr kumimoji="0" lang="en-US" sz="1200" b="0" u="none" strike="noStrike" kern="1200" cap="none" normalizeH="0" baseline="0" dirty="0">
                          <a:ln>
                            <a:noFill/>
                          </a:ln>
                          <a:solidFill>
                            <a:schemeClr val="accent1"/>
                          </a:solidFill>
                          <a:effectLst/>
                          <a:latin typeface="+mn-lt"/>
                          <a:ea typeface="+mn-ea"/>
                          <a:cs typeface="+mn-cs"/>
                        </a:rPr>
                        <a:t>Value Added Service (add-on)</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031897">
                <a:tc>
                  <a:txBody>
                    <a:bodyPr/>
                    <a:lstStyle/>
                    <a:p>
                      <a:pPr defTabSz="762000"/>
                      <a:r>
                        <a:rPr lang="en-US" sz="900" dirty="0"/>
                        <a:t>Assessment - New module/enhancements ($50,000) (2-3 weeks)</a:t>
                      </a:r>
                    </a:p>
                    <a:p>
                      <a:pPr defTabSz="762000"/>
                      <a:r>
                        <a:rPr lang="en-US" sz="900" dirty="0"/>
                        <a:t>Training ($12,000) (1 week)</a:t>
                      </a:r>
                    </a:p>
                    <a:p>
                      <a:pPr defTabSz="762000"/>
                      <a:r>
                        <a:rPr lang="en-US" sz="900" dirty="0"/>
                        <a:t>Support ($20,000/week)</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29" name="Cross 28"/>
          <p:cNvSpPr>
            <a:spLocks noChangeAspect="1"/>
          </p:cNvSpPr>
          <p:nvPr/>
        </p:nvSpPr>
        <p:spPr bwMode="gray">
          <a:xfrm>
            <a:off x="10034706" y="1761869"/>
            <a:ext cx="365760" cy="365760"/>
          </a:xfrm>
          <a:prstGeom prst="plus">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3" name="Group 2"/>
          <p:cNvGrpSpPr/>
          <p:nvPr/>
        </p:nvGrpSpPr>
        <p:grpSpPr>
          <a:xfrm>
            <a:off x="5236088" y="4002288"/>
            <a:ext cx="6728162" cy="1814126"/>
            <a:chOff x="4887621" y="3373039"/>
            <a:chExt cx="7054515" cy="1961863"/>
          </a:xfrm>
        </p:grpSpPr>
        <p:sp>
          <p:nvSpPr>
            <p:cNvPr id="8" name="Rectangle 7"/>
            <p:cNvSpPr/>
            <p:nvPr/>
          </p:nvSpPr>
          <p:spPr>
            <a:xfrm>
              <a:off x="6641932" y="3951379"/>
              <a:ext cx="5212080" cy="101846"/>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700" dirty="0">
                <a:solidFill>
                  <a:schemeClr val="tx2"/>
                </a:solidFill>
              </a:endParaRPr>
            </a:p>
          </p:txBody>
        </p:sp>
        <p:sp>
          <p:nvSpPr>
            <p:cNvPr id="9" name="Oval 8"/>
            <p:cNvSpPr/>
            <p:nvPr/>
          </p:nvSpPr>
          <p:spPr>
            <a:xfrm>
              <a:off x="6597029" y="3865718"/>
              <a:ext cx="274320" cy="274320"/>
            </a:xfrm>
            <a:prstGeom prst="ellipse">
              <a:avLst/>
            </a:prstGeom>
            <a:solidFill>
              <a:schemeClr val="bg2"/>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1000" dirty="0">
                  <a:solidFill>
                    <a:schemeClr val="tx1"/>
                  </a:solidFill>
                </a:rPr>
                <a:t>w1</a:t>
              </a:r>
            </a:p>
          </p:txBody>
        </p:sp>
        <p:sp>
          <p:nvSpPr>
            <p:cNvPr id="10" name="Oval 9"/>
            <p:cNvSpPr/>
            <p:nvPr/>
          </p:nvSpPr>
          <p:spPr>
            <a:xfrm>
              <a:off x="7441169" y="3865718"/>
              <a:ext cx="274320" cy="274320"/>
            </a:xfrm>
            <a:prstGeom prst="ellipse">
              <a:avLst/>
            </a:prstGeom>
            <a:solidFill>
              <a:schemeClr val="bg2"/>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1000" dirty="0">
                  <a:solidFill>
                    <a:schemeClr val="tx1"/>
                  </a:solidFill>
                </a:rPr>
                <a:t>w2</a:t>
              </a:r>
            </a:p>
          </p:txBody>
        </p:sp>
        <p:sp>
          <p:nvSpPr>
            <p:cNvPr id="11" name="Oval 10"/>
            <p:cNvSpPr/>
            <p:nvPr/>
          </p:nvSpPr>
          <p:spPr>
            <a:xfrm>
              <a:off x="8285309" y="3865718"/>
              <a:ext cx="274320" cy="274320"/>
            </a:xfrm>
            <a:prstGeom prst="ellipse">
              <a:avLst/>
            </a:prstGeom>
            <a:solidFill>
              <a:schemeClr val="bg2"/>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1000" dirty="0">
                  <a:solidFill>
                    <a:schemeClr val="tx1"/>
                  </a:solidFill>
                </a:rPr>
                <a:t>w3</a:t>
              </a:r>
            </a:p>
          </p:txBody>
        </p:sp>
        <p:sp>
          <p:nvSpPr>
            <p:cNvPr id="12" name="Oval 11"/>
            <p:cNvSpPr/>
            <p:nvPr/>
          </p:nvSpPr>
          <p:spPr>
            <a:xfrm>
              <a:off x="9129449" y="3865718"/>
              <a:ext cx="274320" cy="274320"/>
            </a:xfrm>
            <a:prstGeom prst="ellipse">
              <a:avLst/>
            </a:prstGeom>
            <a:solidFill>
              <a:schemeClr val="bg2"/>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1000" dirty="0">
                  <a:solidFill>
                    <a:schemeClr val="tx1"/>
                  </a:solidFill>
                </a:rPr>
                <a:t>w4</a:t>
              </a:r>
            </a:p>
          </p:txBody>
        </p:sp>
        <p:sp>
          <p:nvSpPr>
            <p:cNvPr id="13" name="Oval 12"/>
            <p:cNvSpPr/>
            <p:nvPr/>
          </p:nvSpPr>
          <p:spPr>
            <a:xfrm>
              <a:off x="9973589" y="3865718"/>
              <a:ext cx="274320" cy="274320"/>
            </a:xfrm>
            <a:prstGeom prst="ellipse">
              <a:avLst/>
            </a:prstGeom>
            <a:solidFill>
              <a:schemeClr val="bg2"/>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1000" dirty="0">
                  <a:solidFill>
                    <a:schemeClr val="tx1"/>
                  </a:solidFill>
                </a:rPr>
                <a:t>w5</a:t>
              </a:r>
            </a:p>
          </p:txBody>
        </p:sp>
        <p:sp>
          <p:nvSpPr>
            <p:cNvPr id="14" name="Oval 13"/>
            <p:cNvSpPr/>
            <p:nvPr/>
          </p:nvSpPr>
          <p:spPr>
            <a:xfrm>
              <a:off x="10817729" y="3865718"/>
              <a:ext cx="274320" cy="274320"/>
            </a:xfrm>
            <a:prstGeom prst="ellipse">
              <a:avLst/>
            </a:prstGeom>
            <a:solidFill>
              <a:schemeClr val="bg2"/>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1000" dirty="0">
                  <a:solidFill>
                    <a:schemeClr val="tx1"/>
                  </a:solidFill>
                </a:rPr>
                <a:t>w6</a:t>
              </a:r>
            </a:p>
          </p:txBody>
        </p:sp>
        <p:sp>
          <p:nvSpPr>
            <p:cNvPr id="15" name="Oval 14"/>
            <p:cNvSpPr/>
            <p:nvPr/>
          </p:nvSpPr>
          <p:spPr>
            <a:xfrm>
              <a:off x="11661867" y="3865718"/>
              <a:ext cx="274320" cy="274320"/>
            </a:xfrm>
            <a:prstGeom prst="ellipse">
              <a:avLst/>
            </a:prstGeom>
            <a:solidFill>
              <a:schemeClr val="bg2"/>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sz="1000" dirty="0">
                  <a:solidFill>
                    <a:schemeClr val="tx1"/>
                  </a:solidFill>
                </a:rPr>
                <a:t>w7</a:t>
              </a:r>
            </a:p>
          </p:txBody>
        </p:sp>
        <p:sp>
          <p:nvSpPr>
            <p:cNvPr id="24" name="Rectangle 23"/>
            <p:cNvSpPr/>
            <p:nvPr/>
          </p:nvSpPr>
          <p:spPr>
            <a:xfrm rot="20107169">
              <a:off x="8943556" y="3381095"/>
              <a:ext cx="1285931" cy="166420"/>
            </a:xfrm>
            <a:prstGeom prst="rect">
              <a:avLst/>
            </a:prstGeom>
          </p:spPr>
          <p:txBody>
            <a:bodyPr wrap="square" lIns="0" tIns="0" rIns="0" bIns="0" anchor="ctr" anchorCtr="0">
              <a:spAutoFit/>
            </a:bodyPr>
            <a:lstStyle/>
            <a:p>
              <a:r>
                <a:rPr lang="en-US" sz="1000" dirty="0">
                  <a:solidFill>
                    <a:srgbClr val="000000"/>
                  </a:solidFill>
                </a:rPr>
                <a:t>Non-Prod Patching</a:t>
              </a:r>
            </a:p>
          </p:txBody>
        </p:sp>
        <p:sp>
          <p:nvSpPr>
            <p:cNvPr id="26" name="Rectangle 25"/>
            <p:cNvSpPr/>
            <p:nvPr/>
          </p:nvSpPr>
          <p:spPr>
            <a:xfrm rot="19990393">
              <a:off x="10656204" y="3373039"/>
              <a:ext cx="1285932" cy="166420"/>
            </a:xfrm>
            <a:prstGeom prst="rect">
              <a:avLst/>
            </a:prstGeom>
          </p:spPr>
          <p:txBody>
            <a:bodyPr wrap="square" lIns="0" tIns="0" rIns="0" bIns="0" anchor="ctr" anchorCtr="0">
              <a:spAutoFit/>
            </a:bodyPr>
            <a:lstStyle/>
            <a:p>
              <a:r>
                <a:rPr lang="en-US" sz="1000" dirty="0">
                  <a:solidFill>
                    <a:srgbClr val="000000"/>
                  </a:solidFill>
                </a:rPr>
                <a:t>Prod Patching</a:t>
              </a:r>
            </a:p>
          </p:txBody>
        </p:sp>
        <p:sp>
          <p:nvSpPr>
            <p:cNvPr id="36" name="Pentagon 35"/>
            <p:cNvSpPr/>
            <p:nvPr/>
          </p:nvSpPr>
          <p:spPr>
            <a:xfrm>
              <a:off x="4887621" y="4238183"/>
              <a:ext cx="1645920" cy="182880"/>
            </a:xfrm>
            <a:prstGeom prst="homePlate">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r>
                <a:rPr lang="en-US" sz="1000" dirty="0">
                  <a:solidFill>
                    <a:schemeClr val="tx2"/>
                  </a:solidFill>
                </a:rPr>
                <a:t>Functional</a:t>
              </a:r>
            </a:p>
          </p:txBody>
        </p:sp>
        <p:sp>
          <p:nvSpPr>
            <p:cNvPr id="37" name="Pentagon 36"/>
            <p:cNvSpPr/>
            <p:nvPr/>
          </p:nvSpPr>
          <p:spPr>
            <a:xfrm>
              <a:off x="4887621" y="4540973"/>
              <a:ext cx="1645920" cy="182880"/>
            </a:xfrm>
            <a:prstGeom prst="homePlate">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r>
                <a:rPr lang="en-US" sz="1000" dirty="0">
                  <a:solidFill>
                    <a:schemeClr val="tx2"/>
                  </a:solidFill>
                </a:rPr>
                <a:t>Developer</a:t>
              </a:r>
            </a:p>
          </p:txBody>
        </p:sp>
        <p:sp>
          <p:nvSpPr>
            <p:cNvPr id="38" name="Pentagon 37"/>
            <p:cNvSpPr/>
            <p:nvPr/>
          </p:nvSpPr>
          <p:spPr>
            <a:xfrm>
              <a:off x="4887621" y="4843763"/>
              <a:ext cx="1645920" cy="182880"/>
            </a:xfrm>
            <a:prstGeom prst="homePlate">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r>
                <a:rPr lang="en-US" sz="1000" dirty="0">
                  <a:solidFill>
                    <a:schemeClr val="tx2"/>
                  </a:solidFill>
                </a:rPr>
                <a:t>Automation Execution</a:t>
              </a:r>
            </a:p>
          </p:txBody>
        </p:sp>
        <p:sp>
          <p:nvSpPr>
            <p:cNvPr id="39" name="Pentagon 38"/>
            <p:cNvSpPr/>
            <p:nvPr/>
          </p:nvSpPr>
          <p:spPr>
            <a:xfrm>
              <a:off x="4887621" y="5146553"/>
              <a:ext cx="1645920" cy="182880"/>
            </a:xfrm>
            <a:prstGeom prst="homePlate">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r>
                <a:rPr lang="en-US" sz="1000" dirty="0">
                  <a:solidFill>
                    <a:schemeClr val="tx2"/>
                  </a:solidFill>
                </a:rPr>
                <a:t>Automation Developer </a:t>
              </a:r>
            </a:p>
          </p:txBody>
        </p:sp>
        <p:sp>
          <p:nvSpPr>
            <p:cNvPr id="40" name="Rectangle 4"/>
            <p:cNvSpPr>
              <a:spLocks noChangeArrowheads="1"/>
            </p:cNvSpPr>
            <p:nvPr/>
          </p:nvSpPr>
          <p:spPr bwMode="gray">
            <a:xfrm>
              <a:off x="6927263" y="4238183"/>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3</a:t>
              </a:r>
            </a:p>
          </p:txBody>
        </p:sp>
        <p:sp>
          <p:nvSpPr>
            <p:cNvPr id="41" name="Rectangle 4"/>
            <p:cNvSpPr>
              <a:spLocks noChangeArrowheads="1"/>
            </p:cNvSpPr>
            <p:nvPr/>
          </p:nvSpPr>
          <p:spPr bwMode="gray">
            <a:xfrm>
              <a:off x="6927263" y="4540973"/>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42" name="Rectangle 4"/>
            <p:cNvSpPr>
              <a:spLocks noChangeArrowheads="1"/>
            </p:cNvSpPr>
            <p:nvPr/>
          </p:nvSpPr>
          <p:spPr bwMode="gray">
            <a:xfrm>
              <a:off x="6927263" y="4843763"/>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43" name="Rectangle 4"/>
            <p:cNvSpPr>
              <a:spLocks noChangeArrowheads="1"/>
            </p:cNvSpPr>
            <p:nvPr/>
          </p:nvSpPr>
          <p:spPr bwMode="gray">
            <a:xfrm>
              <a:off x="6927263" y="5152022"/>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4</a:t>
              </a:r>
            </a:p>
          </p:txBody>
        </p:sp>
        <p:sp>
          <p:nvSpPr>
            <p:cNvPr id="72" name="Rectangle 4"/>
            <p:cNvSpPr>
              <a:spLocks noChangeArrowheads="1"/>
            </p:cNvSpPr>
            <p:nvPr/>
          </p:nvSpPr>
          <p:spPr bwMode="gray">
            <a:xfrm>
              <a:off x="7800099" y="4238183"/>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6</a:t>
              </a:r>
            </a:p>
          </p:txBody>
        </p:sp>
        <p:sp>
          <p:nvSpPr>
            <p:cNvPr id="73" name="Rectangle 4"/>
            <p:cNvSpPr>
              <a:spLocks noChangeArrowheads="1"/>
            </p:cNvSpPr>
            <p:nvPr/>
          </p:nvSpPr>
          <p:spPr bwMode="gray">
            <a:xfrm>
              <a:off x="7800099" y="4540973"/>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74" name="Rectangle 4"/>
            <p:cNvSpPr>
              <a:spLocks noChangeArrowheads="1"/>
            </p:cNvSpPr>
            <p:nvPr/>
          </p:nvSpPr>
          <p:spPr bwMode="gray">
            <a:xfrm>
              <a:off x="7800099" y="4843763"/>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75" name="Rectangle 4"/>
            <p:cNvSpPr>
              <a:spLocks noChangeArrowheads="1"/>
            </p:cNvSpPr>
            <p:nvPr/>
          </p:nvSpPr>
          <p:spPr bwMode="gray">
            <a:xfrm>
              <a:off x="7800099" y="5152022"/>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8</a:t>
              </a:r>
            </a:p>
          </p:txBody>
        </p:sp>
        <p:sp>
          <p:nvSpPr>
            <p:cNvPr id="76" name="Rectangle 4"/>
            <p:cNvSpPr>
              <a:spLocks noChangeArrowheads="1"/>
            </p:cNvSpPr>
            <p:nvPr/>
          </p:nvSpPr>
          <p:spPr bwMode="gray">
            <a:xfrm>
              <a:off x="8672935" y="4237517"/>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6</a:t>
              </a:r>
            </a:p>
          </p:txBody>
        </p:sp>
        <p:sp>
          <p:nvSpPr>
            <p:cNvPr id="77" name="Rectangle 4"/>
            <p:cNvSpPr>
              <a:spLocks noChangeArrowheads="1"/>
            </p:cNvSpPr>
            <p:nvPr/>
          </p:nvSpPr>
          <p:spPr bwMode="gray">
            <a:xfrm>
              <a:off x="8672935" y="4540307"/>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78" name="Rectangle 4"/>
            <p:cNvSpPr>
              <a:spLocks noChangeArrowheads="1"/>
            </p:cNvSpPr>
            <p:nvPr/>
          </p:nvSpPr>
          <p:spPr bwMode="gray">
            <a:xfrm>
              <a:off x="8672935" y="4843097"/>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79" name="Rectangle 4"/>
            <p:cNvSpPr>
              <a:spLocks noChangeArrowheads="1"/>
            </p:cNvSpPr>
            <p:nvPr/>
          </p:nvSpPr>
          <p:spPr bwMode="gray">
            <a:xfrm>
              <a:off x="8672935" y="5152022"/>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8</a:t>
              </a:r>
            </a:p>
          </p:txBody>
        </p:sp>
        <p:sp>
          <p:nvSpPr>
            <p:cNvPr id="80" name="Rectangle 4"/>
            <p:cNvSpPr>
              <a:spLocks noChangeArrowheads="1"/>
            </p:cNvSpPr>
            <p:nvPr/>
          </p:nvSpPr>
          <p:spPr bwMode="gray">
            <a:xfrm>
              <a:off x="9559925" y="423065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6</a:t>
              </a:r>
            </a:p>
          </p:txBody>
        </p:sp>
        <p:sp>
          <p:nvSpPr>
            <p:cNvPr id="81" name="Rectangle 4"/>
            <p:cNvSpPr>
              <a:spLocks noChangeArrowheads="1"/>
            </p:cNvSpPr>
            <p:nvPr/>
          </p:nvSpPr>
          <p:spPr bwMode="gray">
            <a:xfrm>
              <a:off x="9559925" y="453344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82" name="Rectangle 4"/>
            <p:cNvSpPr>
              <a:spLocks noChangeArrowheads="1"/>
            </p:cNvSpPr>
            <p:nvPr/>
          </p:nvSpPr>
          <p:spPr bwMode="gray">
            <a:xfrm>
              <a:off x="9559925" y="483623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83" name="Rectangle 4"/>
            <p:cNvSpPr>
              <a:spLocks noChangeArrowheads="1"/>
            </p:cNvSpPr>
            <p:nvPr/>
          </p:nvSpPr>
          <p:spPr bwMode="gray">
            <a:xfrm>
              <a:off x="9559925" y="5152022"/>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4</a:t>
              </a:r>
            </a:p>
          </p:txBody>
        </p:sp>
        <p:sp>
          <p:nvSpPr>
            <p:cNvPr id="84" name="Rectangle 4"/>
            <p:cNvSpPr>
              <a:spLocks noChangeArrowheads="1"/>
            </p:cNvSpPr>
            <p:nvPr/>
          </p:nvSpPr>
          <p:spPr bwMode="gray">
            <a:xfrm>
              <a:off x="10366900" y="423065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6</a:t>
              </a:r>
            </a:p>
          </p:txBody>
        </p:sp>
        <p:sp>
          <p:nvSpPr>
            <p:cNvPr id="85" name="Rectangle 4"/>
            <p:cNvSpPr>
              <a:spLocks noChangeArrowheads="1"/>
            </p:cNvSpPr>
            <p:nvPr/>
          </p:nvSpPr>
          <p:spPr bwMode="gray">
            <a:xfrm>
              <a:off x="10366900" y="453344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86" name="Rectangle 4"/>
            <p:cNvSpPr>
              <a:spLocks noChangeArrowheads="1"/>
            </p:cNvSpPr>
            <p:nvPr/>
          </p:nvSpPr>
          <p:spPr bwMode="gray">
            <a:xfrm>
              <a:off x="10366900" y="483623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2</a:t>
              </a:r>
            </a:p>
          </p:txBody>
        </p:sp>
        <p:sp>
          <p:nvSpPr>
            <p:cNvPr id="87" name="Rectangle 4"/>
            <p:cNvSpPr>
              <a:spLocks noChangeArrowheads="1"/>
            </p:cNvSpPr>
            <p:nvPr/>
          </p:nvSpPr>
          <p:spPr bwMode="gray">
            <a:xfrm>
              <a:off x="10366900" y="5152022"/>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a:t>
              </a:r>
            </a:p>
          </p:txBody>
        </p:sp>
        <p:sp>
          <p:nvSpPr>
            <p:cNvPr id="88" name="Rectangle 4"/>
            <p:cNvSpPr>
              <a:spLocks noChangeArrowheads="1"/>
            </p:cNvSpPr>
            <p:nvPr/>
          </p:nvSpPr>
          <p:spPr bwMode="gray">
            <a:xfrm>
              <a:off x="11239736" y="423065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3</a:t>
              </a:r>
            </a:p>
          </p:txBody>
        </p:sp>
        <p:sp>
          <p:nvSpPr>
            <p:cNvPr id="89" name="Rectangle 4"/>
            <p:cNvSpPr>
              <a:spLocks noChangeArrowheads="1"/>
            </p:cNvSpPr>
            <p:nvPr/>
          </p:nvSpPr>
          <p:spPr bwMode="gray">
            <a:xfrm>
              <a:off x="11239736" y="453344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1</a:t>
              </a:r>
            </a:p>
          </p:txBody>
        </p:sp>
        <p:sp>
          <p:nvSpPr>
            <p:cNvPr id="90" name="Rectangle 4"/>
            <p:cNvSpPr>
              <a:spLocks noChangeArrowheads="1"/>
            </p:cNvSpPr>
            <p:nvPr/>
          </p:nvSpPr>
          <p:spPr bwMode="gray">
            <a:xfrm>
              <a:off x="11239736" y="4836230"/>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a:t>
              </a:r>
            </a:p>
          </p:txBody>
        </p:sp>
        <p:sp>
          <p:nvSpPr>
            <p:cNvPr id="91" name="Rectangle 4"/>
            <p:cNvSpPr>
              <a:spLocks noChangeArrowheads="1"/>
            </p:cNvSpPr>
            <p:nvPr/>
          </p:nvSpPr>
          <p:spPr bwMode="gray">
            <a:xfrm>
              <a:off x="11239736" y="5152022"/>
              <a:ext cx="365760" cy="182880"/>
            </a:xfrm>
            <a:prstGeom prst="rect">
              <a:avLst/>
            </a:prstGeom>
            <a:solidFill>
              <a:schemeClr val="bg2">
                <a:lumMod val="40000"/>
                <a:lumOff val="60000"/>
              </a:schemeClr>
            </a:solidFill>
            <a:ln w="9525">
              <a:noFill/>
              <a:miter lim="800000"/>
              <a:headEnd/>
              <a:tailEnd/>
            </a:ln>
            <a:effectLst/>
          </p:spPr>
          <p:txBody>
            <a:bodyPr lIns="88900" tIns="88900" rIns="88900" bIns="88900" anchor="ctr"/>
            <a:lstStyle/>
            <a:p>
              <a:pPr algn="ctr"/>
              <a:r>
                <a:rPr lang="en-US" sz="1000" dirty="0">
                  <a:solidFill>
                    <a:schemeClr val="tx2"/>
                  </a:solidFill>
                  <a:latin typeface="Arial"/>
                </a:rPr>
                <a:t>-</a:t>
              </a:r>
            </a:p>
          </p:txBody>
        </p:sp>
      </p:grpSp>
      <p:grpSp>
        <p:nvGrpSpPr>
          <p:cNvPr id="17" name="Group 16"/>
          <p:cNvGrpSpPr/>
          <p:nvPr/>
        </p:nvGrpSpPr>
        <p:grpSpPr>
          <a:xfrm>
            <a:off x="445121" y="2812066"/>
            <a:ext cx="4534203" cy="3570994"/>
            <a:chOff x="469899" y="2775173"/>
            <a:chExt cx="4737052" cy="3410743"/>
          </a:xfrm>
        </p:grpSpPr>
        <p:sp>
          <p:nvSpPr>
            <p:cNvPr id="92" name="Text Box 10"/>
            <p:cNvSpPr txBox="1">
              <a:spLocks noChangeArrowheads="1"/>
            </p:cNvSpPr>
            <p:nvPr/>
          </p:nvSpPr>
          <p:spPr bwMode="auto">
            <a:xfrm>
              <a:off x="469900" y="2775173"/>
              <a:ext cx="4451338" cy="365760"/>
            </a:xfrm>
            <a:prstGeom prst="rect">
              <a:avLst/>
            </a:prstGeom>
            <a:solidFill>
              <a:schemeClr val="accent3"/>
            </a:solidFill>
            <a:ln w="12700" algn="ctr">
              <a:noFill/>
              <a:miter lim="800000"/>
              <a:headEnd/>
              <a:tailEnd type="none" w="sm" len="med"/>
            </a:ln>
          </p:spPr>
          <p:txBody>
            <a:bodyPr lIns="88900" tIns="88900" rIns="88900" bIns="88900" anchor="ctr" anchorCtr="0"/>
            <a:lstStyle/>
            <a:p>
              <a:pPr defTabSz="957263">
                <a:spcBef>
                  <a:spcPts val="200"/>
                </a:spcBef>
              </a:pPr>
              <a:r>
                <a:rPr lang="en-US" sz="1200" dirty="0">
                  <a:solidFill>
                    <a:schemeClr val="bg1"/>
                  </a:solidFill>
                  <a:cs typeface="Arial" pitchFamily="34" charset="0"/>
                </a:rPr>
                <a:t>Calculation</a:t>
              </a:r>
            </a:p>
          </p:txBody>
        </p:sp>
        <p:sp>
          <p:nvSpPr>
            <p:cNvPr id="93" name="Rectangle 11"/>
            <p:cNvSpPr>
              <a:spLocks noChangeArrowheads="1"/>
            </p:cNvSpPr>
            <p:nvPr/>
          </p:nvSpPr>
          <p:spPr bwMode="auto">
            <a:xfrm>
              <a:off x="469899" y="3129183"/>
              <a:ext cx="4451339" cy="3056733"/>
            </a:xfrm>
            <a:prstGeom prst="rect">
              <a:avLst/>
            </a:prstGeom>
            <a:solidFill>
              <a:schemeClr val="bg1">
                <a:lumMod val="95000"/>
              </a:schemeClr>
            </a:solidFill>
            <a:ln w="12700" algn="ctr">
              <a:noFill/>
              <a:miter lim="800000"/>
              <a:headEnd/>
              <a:tailEnd/>
            </a:ln>
          </p:spPr>
          <p:txBody>
            <a:bodyPr lIns="88900" tIns="88900" rIns="88900" bIns="88900" anchor="t" anchorCtr="0"/>
            <a:lstStyle/>
            <a:p>
              <a:pPr marL="228600" indent="-228600" defTabSz="957263">
                <a:spcBef>
                  <a:spcPts val="200"/>
                </a:spcBef>
                <a:spcAft>
                  <a:spcPts val="300"/>
                </a:spcAft>
                <a:buFont typeface="+mj-lt"/>
                <a:buAutoNum type="alphaUcPeriod"/>
              </a:pPr>
              <a:r>
                <a:rPr lang="fr-FR" sz="900" b="1" dirty="0">
                  <a:cs typeface="Arial" pitchFamily="34" charset="0"/>
                </a:rPr>
                <a:t>Automation Efforts = 1131 Hrs.</a:t>
              </a:r>
              <a:endParaRPr lang="fr-FR" sz="900" dirty="0">
                <a:cs typeface="Arial" pitchFamily="34" charset="0"/>
              </a:endParaRPr>
            </a:p>
            <a:p>
              <a:pPr marL="228600" indent="-228600" defTabSz="957263">
                <a:spcBef>
                  <a:spcPts val="200"/>
                </a:spcBef>
                <a:spcAft>
                  <a:spcPts val="300"/>
                </a:spcAft>
                <a:buFont typeface="+mj-lt"/>
                <a:buAutoNum type="alphaUcPeriod"/>
              </a:pPr>
              <a:endParaRPr lang="fr-FR" sz="900" dirty="0">
                <a:cs typeface="Arial" pitchFamily="34" charset="0"/>
              </a:endParaRPr>
            </a:p>
            <a:p>
              <a:pPr marL="228600" indent="-228600" defTabSz="957263">
                <a:spcBef>
                  <a:spcPts val="200"/>
                </a:spcBef>
                <a:spcAft>
                  <a:spcPts val="300"/>
                </a:spcAft>
                <a:buFont typeface="+mj-lt"/>
                <a:buAutoNum type="alphaUcPeriod"/>
              </a:pPr>
              <a:endParaRPr lang="fr-FR" sz="900" b="1" dirty="0">
                <a:cs typeface="Arial" pitchFamily="34" charset="0"/>
              </a:endParaRPr>
            </a:p>
            <a:p>
              <a:pPr marL="228600" indent="-228600" defTabSz="957263">
                <a:spcBef>
                  <a:spcPts val="200"/>
                </a:spcBef>
                <a:spcAft>
                  <a:spcPts val="300"/>
                </a:spcAft>
                <a:buFont typeface="+mj-lt"/>
                <a:buAutoNum type="alphaUcPeriod"/>
              </a:pPr>
              <a:endParaRPr lang="fr-FR" sz="900" b="1" dirty="0">
                <a:cs typeface="Arial" pitchFamily="34" charset="0"/>
              </a:endParaRPr>
            </a:p>
            <a:p>
              <a:pPr marL="228600" indent="-228600" defTabSz="957263">
                <a:spcBef>
                  <a:spcPts val="200"/>
                </a:spcBef>
                <a:spcAft>
                  <a:spcPts val="300"/>
                </a:spcAft>
                <a:buFont typeface="+mj-lt"/>
                <a:buAutoNum type="alphaUcPeriod"/>
              </a:pPr>
              <a:endParaRPr lang="fr-FR" sz="900" b="1" dirty="0">
                <a:cs typeface="Arial" pitchFamily="34" charset="0"/>
              </a:endParaRPr>
            </a:p>
            <a:p>
              <a:pPr marL="228600" indent="-228600" defTabSz="957263">
                <a:spcBef>
                  <a:spcPts val="200"/>
                </a:spcBef>
                <a:spcAft>
                  <a:spcPts val="300"/>
                </a:spcAft>
                <a:buFont typeface="+mj-lt"/>
                <a:buAutoNum type="alphaUcPeriod"/>
              </a:pPr>
              <a:endParaRPr lang="fr-FR" sz="900" b="1" dirty="0">
                <a:cs typeface="Arial" pitchFamily="34" charset="0"/>
              </a:endParaRPr>
            </a:p>
            <a:p>
              <a:pPr marL="228600" indent="-228600" defTabSz="957263">
                <a:spcBef>
                  <a:spcPts val="200"/>
                </a:spcBef>
                <a:spcAft>
                  <a:spcPts val="300"/>
                </a:spcAft>
                <a:buFont typeface="+mj-lt"/>
                <a:buAutoNum type="alphaUcPeriod"/>
              </a:pPr>
              <a:endParaRPr lang="fr-FR" sz="900" b="1" dirty="0">
                <a:cs typeface="Arial" pitchFamily="34" charset="0"/>
              </a:endParaRPr>
            </a:p>
            <a:p>
              <a:pPr marL="228600" indent="-228600" defTabSz="957263">
                <a:spcBef>
                  <a:spcPts val="200"/>
                </a:spcBef>
                <a:spcAft>
                  <a:spcPts val="300"/>
                </a:spcAft>
                <a:buFont typeface="+mj-lt"/>
                <a:buAutoNum type="alphaUcPeriod"/>
              </a:pPr>
              <a:r>
                <a:rPr lang="fr-FR" sz="900" b="1" dirty="0">
                  <a:cs typeface="Arial" pitchFamily="34" charset="0"/>
                </a:rPr>
                <a:t>Cloud ERP Functional Efforts = 1350 Hrs. </a:t>
              </a:r>
            </a:p>
            <a:p>
              <a:pPr marL="554038" lvl="1" indent="-228600" defTabSz="957263">
                <a:spcBef>
                  <a:spcPts val="200"/>
                </a:spcBef>
                <a:spcAft>
                  <a:spcPts val="300"/>
                </a:spcAft>
                <a:buFont typeface="Wingdings" panose="05000000000000000000" pitchFamily="2" charset="2"/>
                <a:buChar char="§"/>
              </a:pPr>
              <a:r>
                <a:rPr lang="fr-FR" sz="900" dirty="0">
                  <a:cs typeface="Arial" pitchFamily="34" charset="0"/>
                </a:rPr>
                <a:t>2 FTE/</a:t>
              </a:r>
              <a:r>
                <a:rPr lang="fr-FR" sz="900" dirty="0" err="1">
                  <a:cs typeface="Arial" pitchFamily="34" charset="0"/>
                </a:rPr>
                <a:t>process</a:t>
              </a:r>
              <a:r>
                <a:rPr lang="fr-FR" sz="900" dirty="0">
                  <a:cs typeface="Arial" pitchFamily="34" charset="0"/>
                </a:rPr>
                <a:t> area</a:t>
              </a:r>
            </a:p>
            <a:p>
              <a:pPr marL="554038" lvl="1" indent="-228600" defTabSz="957263">
                <a:spcBef>
                  <a:spcPts val="200"/>
                </a:spcBef>
                <a:spcAft>
                  <a:spcPts val="300"/>
                </a:spcAft>
                <a:buFont typeface="Wingdings" panose="05000000000000000000" pitchFamily="2" charset="2"/>
                <a:buChar char="§"/>
              </a:pPr>
              <a:r>
                <a:rPr lang="fr-FR" sz="900" dirty="0" err="1">
                  <a:cs typeface="Arial" pitchFamily="34" charset="0"/>
                </a:rPr>
                <a:t>Based</a:t>
              </a:r>
              <a:r>
                <a:rPr lang="fr-FR" sz="900" dirty="0">
                  <a:cs typeface="Arial" pitchFamily="34" charset="0"/>
                </a:rPr>
                <a:t> on phase</a:t>
              </a:r>
              <a:endParaRPr lang="fr-FR" sz="900" b="1" dirty="0">
                <a:cs typeface="Arial" pitchFamily="34" charset="0"/>
              </a:endParaRPr>
            </a:p>
            <a:p>
              <a:pPr marL="228600" indent="-228600" defTabSz="957263">
                <a:spcBef>
                  <a:spcPts val="200"/>
                </a:spcBef>
                <a:spcAft>
                  <a:spcPts val="300"/>
                </a:spcAft>
                <a:buFont typeface="+mj-lt"/>
                <a:buAutoNum type="alphaUcPeriod"/>
              </a:pPr>
              <a:r>
                <a:rPr lang="fr-FR" sz="900" b="1" dirty="0">
                  <a:cs typeface="Arial" pitchFamily="34" charset="0"/>
                </a:rPr>
                <a:t>Test </a:t>
              </a:r>
              <a:r>
                <a:rPr lang="fr-FR" sz="900" b="1" dirty="0" err="1">
                  <a:cs typeface="Arial" pitchFamily="34" charset="0"/>
                </a:rPr>
                <a:t>Execution</a:t>
              </a:r>
              <a:r>
                <a:rPr lang="fr-FR" sz="900" b="1" dirty="0">
                  <a:cs typeface="Arial" pitchFamily="34" charset="0"/>
                </a:rPr>
                <a:t> Efforts = 450 Hrs. </a:t>
              </a:r>
            </a:p>
            <a:p>
              <a:pPr marL="574675" lvl="1" indent="-228600" defTabSz="957263">
                <a:spcBef>
                  <a:spcPts val="200"/>
                </a:spcBef>
                <a:spcAft>
                  <a:spcPts val="300"/>
                </a:spcAft>
                <a:buFont typeface="Wingdings" panose="05000000000000000000" pitchFamily="2" charset="2"/>
                <a:buChar char="§"/>
              </a:pPr>
              <a:r>
                <a:rPr lang="fr-FR" sz="900" dirty="0">
                  <a:cs typeface="Arial" pitchFamily="34" charset="0"/>
                </a:rPr>
                <a:t>Avg. 2 FTE/</a:t>
              </a:r>
              <a:r>
                <a:rPr lang="fr-FR" sz="900" dirty="0" err="1">
                  <a:cs typeface="Arial" pitchFamily="34" charset="0"/>
                </a:rPr>
                <a:t>week</a:t>
              </a:r>
              <a:endParaRPr lang="fr-FR" sz="900" b="1" dirty="0">
                <a:cs typeface="Arial" pitchFamily="34" charset="0"/>
              </a:endParaRPr>
            </a:p>
            <a:p>
              <a:pPr marL="228600" indent="-228600" defTabSz="957263">
                <a:spcBef>
                  <a:spcPts val="200"/>
                </a:spcBef>
                <a:spcAft>
                  <a:spcPts val="300"/>
                </a:spcAft>
                <a:buFont typeface="+mj-lt"/>
                <a:buAutoNum type="alphaUcPeriod"/>
              </a:pPr>
              <a:r>
                <a:rPr lang="fr-FR" sz="900" b="1" dirty="0">
                  <a:cs typeface="Arial" pitchFamily="34" charset="0"/>
                </a:rPr>
                <a:t>Cloud ERP </a:t>
              </a:r>
              <a:r>
                <a:rPr lang="fr-FR" sz="900" b="1" dirty="0" err="1">
                  <a:cs typeface="Arial" pitchFamily="34" charset="0"/>
                </a:rPr>
                <a:t>Technical</a:t>
              </a:r>
              <a:r>
                <a:rPr lang="fr-FR" sz="900" b="1" dirty="0">
                  <a:cs typeface="Arial" pitchFamily="34" charset="0"/>
                </a:rPr>
                <a:t> Efforts = 495 Hrs</a:t>
              </a:r>
            </a:p>
            <a:p>
              <a:pPr marL="574675" lvl="1" indent="-228600" defTabSz="957263">
                <a:spcBef>
                  <a:spcPts val="200"/>
                </a:spcBef>
                <a:spcAft>
                  <a:spcPts val="300"/>
                </a:spcAft>
                <a:buFont typeface="Wingdings" panose="05000000000000000000" pitchFamily="2" charset="2"/>
                <a:buChar char="§"/>
              </a:pPr>
              <a:r>
                <a:rPr lang="fr-FR" sz="900" dirty="0">
                  <a:cs typeface="Arial" pitchFamily="34" charset="0"/>
                </a:rPr>
                <a:t>Avg. 2 FTE/</a:t>
              </a:r>
              <a:r>
                <a:rPr lang="fr-FR" sz="900" dirty="0" err="1">
                  <a:cs typeface="Arial" pitchFamily="34" charset="0"/>
                </a:rPr>
                <a:t>week</a:t>
              </a:r>
              <a:endParaRPr lang="fr-FR" sz="900" b="1" dirty="0">
                <a:cs typeface="Arial" pitchFamily="34" charset="0"/>
              </a:endParaRPr>
            </a:p>
            <a:p>
              <a:pPr defTabSz="957263">
                <a:spcBef>
                  <a:spcPts val="1200"/>
                </a:spcBef>
                <a:spcAft>
                  <a:spcPts val="300"/>
                </a:spcAft>
              </a:pPr>
              <a:r>
                <a:rPr lang="fr-FR" sz="900" b="1" dirty="0">
                  <a:cs typeface="Arial" pitchFamily="34" charset="0"/>
                </a:rPr>
                <a:t>Total Efforts : 3426 Hrs.</a:t>
              </a:r>
            </a:p>
          </p:txBody>
        </p:sp>
        <p:sp>
          <p:nvSpPr>
            <p:cNvPr id="94" name="Isosceles Triangle 93"/>
            <p:cNvSpPr/>
            <p:nvPr/>
          </p:nvSpPr>
          <p:spPr bwMode="gray">
            <a:xfrm rot="5400000">
              <a:off x="4749751" y="4405727"/>
              <a:ext cx="731520" cy="182880"/>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aphicFrame>
        <p:nvGraphicFramePr>
          <p:cNvPr id="4" name="Table 3"/>
          <p:cNvGraphicFramePr>
            <a:graphicFrameLocks noGrp="1"/>
          </p:cNvGraphicFramePr>
          <p:nvPr>
            <p:extLst>
              <p:ext uri="{D42A27DB-BD31-4B8C-83A1-F6EECF244321}">
                <p14:modId xmlns:p14="http://schemas.microsoft.com/office/powerpoint/2010/main" val="3227417957"/>
              </p:ext>
            </p:extLst>
          </p:nvPr>
        </p:nvGraphicFramePr>
        <p:xfrm>
          <a:off x="469900" y="3460597"/>
          <a:ext cx="4235945" cy="1066800"/>
        </p:xfrm>
        <a:graphic>
          <a:graphicData uri="http://schemas.openxmlformats.org/drawingml/2006/table">
            <a:tbl>
              <a:tblPr firstRow="1" bandRow="1">
                <a:tableStyleId>{5C22544A-7EE6-4342-B048-85BDC9FD1C3A}</a:tableStyleId>
              </a:tblPr>
              <a:tblGrid>
                <a:gridCol w="605135">
                  <a:extLst>
                    <a:ext uri="{9D8B030D-6E8A-4147-A177-3AD203B41FA5}">
                      <a16:colId xmlns:a16="http://schemas.microsoft.com/office/drawing/2014/main" val="20006"/>
                    </a:ext>
                  </a:extLst>
                </a:gridCol>
                <a:gridCol w="605135">
                  <a:extLst>
                    <a:ext uri="{9D8B030D-6E8A-4147-A177-3AD203B41FA5}">
                      <a16:colId xmlns:a16="http://schemas.microsoft.com/office/drawing/2014/main" val="20000"/>
                    </a:ext>
                  </a:extLst>
                </a:gridCol>
                <a:gridCol w="605135">
                  <a:extLst>
                    <a:ext uri="{9D8B030D-6E8A-4147-A177-3AD203B41FA5}">
                      <a16:colId xmlns:a16="http://schemas.microsoft.com/office/drawing/2014/main" val="20001"/>
                    </a:ext>
                  </a:extLst>
                </a:gridCol>
                <a:gridCol w="605135">
                  <a:extLst>
                    <a:ext uri="{9D8B030D-6E8A-4147-A177-3AD203B41FA5}">
                      <a16:colId xmlns:a16="http://schemas.microsoft.com/office/drawing/2014/main" val="20002"/>
                    </a:ext>
                  </a:extLst>
                </a:gridCol>
                <a:gridCol w="605135">
                  <a:extLst>
                    <a:ext uri="{9D8B030D-6E8A-4147-A177-3AD203B41FA5}">
                      <a16:colId xmlns:a16="http://schemas.microsoft.com/office/drawing/2014/main" val="20003"/>
                    </a:ext>
                  </a:extLst>
                </a:gridCol>
                <a:gridCol w="605135">
                  <a:extLst>
                    <a:ext uri="{9D8B030D-6E8A-4147-A177-3AD203B41FA5}">
                      <a16:colId xmlns:a16="http://schemas.microsoft.com/office/drawing/2014/main" val="20004"/>
                    </a:ext>
                  </a:extLst>
                </a:gridCol>
                <a:gridCol w="605135">
                  <a:extLst>
                    <a:ext uri="{9D8B030D-6E8A-4147-A177-3AD203B41FA5}">
                      <a16:colId xmlns:a16="http://schemas.microsoft.com/office/drawing/2014/main" val="20005"/>
                    </a:ext>
                  </a:extLst>
                </a:gridCol>
              </a:tblGrid>
              <a:tr h="150419">
                <a:tc>
                  <a:txBody>
                    <a:bodyPr/>
                    <a:lstStyle/>
                    <a:p>
                      <a:pPr algn="ctr"/>
                      <a:endParaRPr lang="en-US" sz="1000" dirty="0"/>
                    </a:p>
                  </a:txBody>
                  <a:tcPr anchor="ctr"/>
                </a:tc>
                <a:tc gridSpan="2">
                  <a:txBody>
                    <a:bodyPr/>
                    <a:lstStyle/>
                    <a:p>
                      <a:pPr algn="ctr"/>
                      <a:r>
                        <a:rPr lang="en-US" sz="1000" dirty="0"/>
                        <a:t>Simple</a:t>
                      </a:r>
                    </a:p>
                  </a:txBody>
                  <a:tcPr anchor="ctr"/>
                </a:tc>
                <a:tc hMerge="1">
                  <a:txBody>
                    <a:bodyPr/>
                    <a:lstStyle/>
                    <a:p>
                      <a:endParaRPr lang="en-US" dirty="0"/>
                    </a:p>
                  </a:txBody>
                  <a:tcPr/>
                </a:tc>
                <a:tc gridSpan="2">
                  <a:txBody>
                    <a:bodyPr/>
                    <a:lstStyle/>
                    <a:p>
                      <a:pPr algn="ctr"/>
                      <a:r>
                        <a:rPr lang="en-US" sz="1000" dirty="0"/>
                        <a:t>Medium</a:t>
                      </a:r>
                    </a:p>
                  </a:txBody>
                  <a:tcPr anchor="ctr"/>
                </a:tc>
                <a:tc hMerge="1">
                  <a:txBody>
                    <a:bodyPr/>
                    <a:lstStyle/>
                    <a:p>
                      <a:endParaRPr lang="en-US" dirty="0"/>
                    </a:p>
                  </a:txBody>
                  <a:tcPr/>
                </a:tc>
                <a:tc gridSpan="2">
                  <a:txBody>
                    <a:bodyPr/>
                    <a:lstStyle/>
                    <a:p>
                      <a:pPr algn="ctr"/>
                      <a:r>
                        <a:rPr lang="en-US" sz="1000" dirty="0"/>
                        <a:t>Complex</a:t>
                      </a:r>
                    </a:p>
                  </a:txBody>
                  <a:tcPr anchor="ctr"/>
                </a:tc>
                <a:tc hMerge="1">
                  <a:txBody>
                    <a:bodyPr/>
                    <a:lstStyle/>
                    <a:p>
                      <a:endParaRPr lang="en-US" dirty="0"/>
                    </a:p>
                  </a:txBody>
                  <a:tcPr/>
                </a:tc>
                <a:extLst>
                  <a:ext uri="{0D108BD9-81ED-4DB2-BD59-A6C34878D82A}">
                    <a16:rowId xmlns:a16="http://schemas.microsoft.com/office/drawing/2014/main" val="10000"/>
                  </a:ext>
                </a:extLst>
              </a:tr>
              <a:tr h="310238">
                <a:tc>
                  <a:txBody>
                    <a:bodyPr/>
                    <a:lstStyle/>
                    <a:p>
                      <a:pPr algn="ctr"/>
                      <a:r>
                        <a:rPr lang="en-US" sz="900" b="1" dirty="0"/>
                        <a:t>Type</a:t>
                      </a:r>
                    </a:p>
                  </a:txBody>
                  <a:tcPr anchor="ctr"/>
                </a:tc>
                <a:tc>
                  <a:txBody>
                    <a:bodyPr/>
                    <a:lstStyle/>
                    <a:p>
                      <a:pPr algn="ctr"/>
                      <a:r>
                        <a:rPr lang="en-US" sz="900" dirty="0"/>
                        <a:t>No. of Scripts</a:t>
                      </a:r>
                    </a:p>
                  </a:txBody>
                  <a:tcPr anchor="ctr"/>
                </a:tc>
                <a:tc>
                  <a:txBody>
                    <a:bodyPr/>
                    <a:lstStyle/>
                    <a:p>
                      <a:pPr algn="ctr"/>
                      <a:r>
                        <a:rPr lang="en-US" sz="900" dirty="0"/>
                        <a:t>Efforts/script</a:t>
                      </a:r>
                    </a:p>
                  </a:txBody>
                  <a:tcPr anchor="ctr"/>
                </a:tc>
                <a:tc>
                  <a:txBody>
                    <a:bodyPr/>
                    <a:lstStyle/>
                    <a:p>
                      <a:pPr algn="ctr"/>
                      <a:r>
                        <a:rPr lang="en-US" sz="900" dirty="0"/>
                        <a:t>No. of Scripts</a:t>
                      </a:r>
                    </a:p>
                  </a:txBody>
                  <a:tcPr anchor="ctr"/>
                </a:tc>
                <a:tc>
                  <a:txBody>
                    <a:bodyPr/>
                    <a:lstStyle/>
                    <a:p>
                      <a:pPr algn="ctr"/>
                      <a:r>
                        <a:rPr lang="en-US" sz="900" dirty="0"/>
                        <a:t>Efforts/script</a:t>
                      </a:r>
                    </a:p>
                  </a:txBody>
                  <a:tcPr anchor="ctr"/>
                </a:tc>
                <a:tc>
                  <a:txBody>
                    <a:bodyPr/>
                    <a:lstStyle/>
                    <a:p>
                      <a:pPr algn="ctr"/>
                      <a:r>
                        <a:rPr lang="en-US" sz="900" dirty="0"/>
                        <a:t>No. of Scripts</a:t>
                      </a:r>
                    </a:p>
                  </a:txBody>
                  <a:tcPr anchor="ctr"/>
                </a:tc>
                <a:tc>
                  <a:txBody>
                    <a:bodyPr/>
                    <a:lstStyle/>
                    <a:p>
                      <a:pPr algn="ctr"/>
                      <a:r>
                        <a:rPr lang="en-US" sz="900" dirty="0"/>
                        <a:t>Efforts/script</a:t>
                      </a:r>
                    </a:p>
                  </a:txBody>
                  <a:tcPr anchor="ctr"/>
                </a:tc>
                <a:extLst>
                  <a:ext uri="{0D108BD9-81ED-4DB2-BD59-A6C34878D82A}">
                    <a16:rowId xmlns:a16="http://schemas.microsoft.com/office/drawing/2014/main" val="10001"/>
                  </a:ext>
                </a:extLst>
              </a:tr>
              <a:tr h="141017">
                <a:tc>
                  <a:txBody>
                    <a:bodyPr/>
                    <a:lstStyle/>
                    <a:p>
                      <a:pPr algn="ctr"/>
                      <a:r>
                        <a:rPr lang="en-US" sz="800" dirty="0"/>
                        <a:t>New</a:t>
                      </a:r>
                    </a:p>
                  </a:txBody>
                  <a:tcPr anchor="ctr"/>
                </a:tc>
                <a:tc>
                  <a:txBody>
                    <a:bodyPr/>
                    <a:lstStyle/>
                    <a:p>
                      <a:pPr algn="ctr"/>
                      <a:r>
                        <a:rPr lang="en-US" sz="900" dirty="0"/>
                        <a:t>5</a:t>
                      </a:r>
                    </a:p>
                  </a:txBody>
                  <a:tcPr anchor="ctr"/>
                </a:tc>
                <a:tc>
                  <a:txBody>
                    <a:bodyPr/>
                    <a:lstStyle/>
                    <a:p>
                      <a:pPr algn="ctr"/>
                      <a:r>
                        <a:rPr lang="en-US" sz="900" dirty="0"/>
                        <a:t>27</a:t>
                      </a:r>
                    </a:p>
                  </a:txBody>
                  <a:tcPr anchor="ctr"/>
                </a:tc>
                <a:tc>
                  <a:txBody>
                    <a:bodyPr/>
                    <a:lstStyle/>
                    <a:p>
                      <a:pPr algn="ctr"/>
                      <a:r>
                        <a:rPr lang="en-US" sz="900" dirty="0"/>
                        <a:t>2</a:t>
                      </a:r>
                    </a:p>
                  </a:txBody>
                  <a:tcPr anchor="ctr"/>
                </a:tc>
                <a:tc>
                  <a:txBody>
                    <a:bodyPr/>
                    <a:lstStyle/>
                    <a:p>
                      <a:pPr algn="ctr"/>
                      <a:r>
                        <a:rPr lang="en-US" sz="900" dirty="0"/>
                        <a:t>45</a:t>
                      </a:r>
                    </a:p>
                  </a:txBody>
                  <a:tcPr anchor="ctr"/>
                </a:tc>
                <a:tc>
                  <a:txBody>
                    <a:bodyPr/>
                    <a:lstStyle/>
                    <a:p>
                      <a:pPr algn="ctr"/>
                      <a:r>
                        <a:rPr lang="en-US" sz="900" dirty="0"/>
                        <a:t>3</a:t>
                      </a:r>
                    </a:p>
                  </a:txBody>
                  <a:tcPr anchor="ctr"/>
                </a:tc>
                <a:tc>
                  <a:txBody>
                    <a:bodyPr/>
                    <a:lstStyle/>
                    <a:p>
                      <a:pPr algn="ctr"/>
                      <a:r>
                        <a:rPr lang="en-US" sz="900" dirty="0"/>
                        <a:t>72</a:t>
                      </a:r>
                    </a:p>
                  </a:txBody>
                  <a:tcPr anchor="ctr"/>
                </a:tc>
                <a:extLst>
                  <a:ext uri="{0D108BD9-81ED-4DB2-BD59-A6C34878D82A}">
                    <a16:rowId xmlns:a16="http://schemas.microsoft.com/office/drawing/2014/main" val="10002"/>
                  </a:ext>
                </a:extLst>
              </a:tr>
              <a:tr h="141017">
                <a:tc>
                  <a:txBody>
                    <a:bodyPr/>
                    <a:lstStyle/>
                    <a:p>
                      <a:pPr algn="ctr"/>
                      <a:r>
                        <a:rPr lang="en-US" sz="800" dirty="0"/>
                        <a:t>Retrofit</a:t>
                      </a:r>
                    </a:p>
                  </a:txBody>
                  <a:tcPr anchor="ctr"/>
                </a:tc>
                <a:tc>
                  <a:txBody>
                    <a:bodyPr/>
                    <a:lstStyle/>
                    <a:p>
                      <a:pPr algn="ctr"/>
                      <a:r>
                        <a:rPr lang="en-US" sz="900" dirty="0"/>
                        <a:t>15</a:t>
                      </a:r>
                    </a:p>
                  </a:txBody>
                  <a:tcPr anchor="ctr"/>
                </a:tc>
                <a:tc>
                  <a:txBody>
                    <a:bodyPr/>
                    <a:lstStyle/>
                    <a:p>
                      <a:pPr algn="ctr"/>
                      <a:r>
                        <a:rPr lang="en-US" sz="900" dirty="0"/>
                        <a:t>10</a:t>
                      </a:r>
                    </a:p>
                  </a:txBody>
                  <a:tcPr anchor="ctr"/>
                </a:tc>
                <a:tc>
                  <a:txBody>
                    <a:bodyPr/>
                    <a:lstStyle/>
                    <a:p>
                      <a:pPr algn="ctr"/>
                      <a:r>
                        <a:rPr lang="en-US" sz="900" dirty="0"/>
                        <a:t>15</a:t>
                      </a:r>
                    </a:p>
                  </a:txBody>
                  <a:tcPr anchor="ctr"/>
                </a:tc>
                <a:tc>
                  <a:txBody>
                    <a:bodyPr/>
                    <a:lstStyle/>
                    <a:p>
                      <a:pPr algn="ctr"/>
                      <a:r>
                        <a:rPr lang="en-US" sz="900" dirty="0"/>
                        <a:t>18</a:t>
                      </a:r>
                    </a:p>
                  </a:txBody>
                  <a:tcPr anchor="ctr"/>
                </a:tc>
                <a:tc>
                  <a:txBody>
                    <a:bodyPr/>
                    <a:lstStyle/>
                    <a:p>
                      <a:pPr algn="ctr"/>
                      <a:r>
                        <a:rPr lang="en-US" sz="900" dirty="0"/>
                        <a:t>10</a:t>
                      </a:r>
                    </a:p>
                  </a:txBody>
                  <a:tcPr anchor="ctr"/>
                </a:tc>
                <a:tc>
                  <a:txBody>
                    <a:bodyPr/>
                    <a:lstStyle/>
                    <a:p>
                      <a:pPr algn="ctr"/>
                      <a:r>
                        <a:rPr lang="en-US" sz="900" dirty="0"/>
                        <a:t>27</a:t>
                      </a:r>
                    </a:p>
                  </a:txBody>
                  <a:tcPr anchor="ctr"/>
                </a:tc>
                <a:extLst>
                  <a:ext uri="{0D108BD9-81ED-4DB2-BD59-A6C34878D82A}">
                    <a16:rowId xmlns:a16="http://schemas.microsoft.com/office/drawing/2014/main" val="10003"/>
                  </a:ext>
                </a:extLst>
              </a:tr>
            </a:tbl>
          </a:graphicData>
        </a:graphic>
      </p:graphicFrame>
      <p:sp>
        <p:nvSpPr>
          <p:cNvPr id="51" name="Cross 50"/>
          <p:cNvSpPr>
            <a:spLocks noChangeAspect="1"/>
          </p:cNvSpPr>
          <p:nvPr/>
        </p:nvSpPr>
        <p:spPr bwMode="gray">
          <a:xfrm>
            <a:off x="4029873" y="1761869"/>
            <a:ext cx="365760" cy="365760"/>
          </a:xfrm>
          <a:prstGeom prst="plus">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52" name="Group 3"/>
          <p:cNvGraphicFramePr>
            <a:graphicFrameLocks noGrp="1"/>
          </p:cNvGraphicFramePr>
          <p:nvPr>
            <p:extLst>
              <p:ext uri="{D42A27DB-BD31-4B8C-83A1-F6EECF244321}">
                <p14:modId xmlns:p14="http://schemas.microsoft.com/office/powerpoint/2010/main" val="1185764905"/>
              </p:ext>
            </p:extLst>
          </p:nvPr>
        </p:nvGraphicFramePr>
        <p:xfrm>
          <a:off x="444126" y="1043530"/>
          <a:ext cx="3517445" cy="1686676"/>
        </p:xfrm>
        <a:graphic>
          <a:graphicData uri="http://schemas.openxmlformats.org/drawingml/2006/table">
            <a:tbl>
              <a:tblPr/>
              <a:tblGrid>
                <a:gridCol w="3517445">
                  <a:extLst>
                    <a:ext uri="{9D8B030D-6E8A-4147-A177-3AD203B41FA5}">
                      <a16:colId xmlns:a16="http://schemas.microsoft.com/office/drawing/2014/main" val="20000"/>
                    </a:ext>
                  </a:extLst>
                </a:gridCol>
              </a:tblGrid>
              <a:tr h="411528">
                <a:tc>
                  <a:txBody>
                    <a:bodyPr/>
                    <a:lstStyle/>
                    <a:p>
                      <a:pPr marL="0" marR="0" lvl="0" indent="0" algn="l" defTabSz="684213" rtl="0" eaLnBrk="0" fontAlgn="base" latinLnBrk="0" hangingPunct="0">
                        <a:lnSpc>
                          <a:spcPct val="100000"/>
                        </a:lnSpc>
                        <a:spcBef>
                          <a:spcPts val="400"/>
                        </a:spcBef>
                        <a:spcAft>
                          <a:spcPct val="0"/>
                        </a:spcAft>
                        <a:buClrTx/>
                        <a:buSzPct val="25000"/>
                        <a:buFont typeface="Wingdings" pitchFamily="2" charset="2"/>
                        <a:buNone/>
                        <a:tabLst/>
                      </a:pPr>
                      <a:r>
                        <a:rPr kumimoji="0" lang="en-US" sz="1200" b="0" u="none" strike="noStrike" kern="1200" cap="none" normalizeH="0" baseline="0" dirty="0">
                          <a:ln>
                            <a:noFill/>
                          </a:ln>
                          <a:solidFill>
                            <a:schemeClr val="accent1"/>
                          </a:solidFill>
                          <a:effectLst/>
                          <a:latin typeface="+mn-lt"/>
                          <a:ea typeface="+mn-ea"/>
                          <a:cs typeface="+mn-cs"/>
                        </a:rPr>
                        <a:t>Yearly Licensing Cost (</a:t>
                      </a:r>
                      <a:r>
                        <a:rPr kumimoji="0" lang="en-US" sz="1200" b="0" u="none" strike="noStrike" kern="1200" cap="none" normalizeH="0" baseline="0" dirty="0" err="1">
                          <a:ln>
                            <a:noFill/>
                          </a:ln>
                          <a:solidFill>
                            <a:schemeClr val="accent1"/>
                          </a:solidFill>
                          <a:effectLst/>
                          <a:latin typeface="+mn-lt"/>
                          <a:ea typeface="+mn-ea"/>
                          <a:cs typeface="+mn-cs"/>
                        </a:rPr>
                        <a:t>UiPath</a:t>
                      </a:r>
                      <a:r>
                        <a:rPr kumimoji="0" lang="en-US" sz="1200" b="0" u="none" strike="noStrike" kern="1200" cap="none" normalizeH="0" baseline="0" dirty="0">
                          <a:ln>
                            <a:noFill/>
                          </a:ln>
                          <a:solidFill>
                            <a:schemeClr val="accent1"/>
                          </a:solidFill>
                          <a:effectLst/>
                          <a:latin typeface="+mn-lt"/>
                          <a:ea typeface="+mn-ea"/>
                          <a:cs typeface="+mn-cs"/>
                        </a:rPr>
                        <a:t>)</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275148">
                <a:tc>
                  <a:txBody>
                    <a:bodyPr/>
                    <a:lstStyle/>
                    <a:p>
                      <a:pPr defTabSz="762000"/>
                      <a:r>
                        <a:rPr lang="en-US" sz="900" b="1" dirty="0"/>
                        <a:t>Software</a:t>
                      </a:r>
                      <a:r>
                        <a:rPr lang="en-US" sz="900" b="1" baseline="0" dirty="0"/>
                        <a:t> Cost</a:t>
                      </a:r>
                      <a:endParaRPr lang="en-US" sz="900" b="1" dirty="0"/>
                    </a:p>
                    <a:p>
                      <a:pPr defTabSz="762000"/>
                      <a:r>
                        <a:rPr lang="en-US" sz="900" dirty="0"/>
                        <a:t>1</a:t>
                      </a:r>
                      <a:r>
                        <a:rPr lang="en-US" sz="900" baseline="0" dirty="0"/>
                        <a:t> X </a:t>
                      </a:r>
                      <a:r>
                        <a:rPr lang="en-US" sz="900" dirty="0"/>
                        <a:t>Studio</a:t>
                      </a:r>
                      <a:r>
                        <a:rPr lang="en-US" sz="900" b="1" baseline="30000" dirty="0"/>
                        <a:t>1                               </a:t>
                      </a:r>
                      <a:r>
                        <a:rPr lang="en-US" sz="900" dirty="0"/>
                        <a:t>–</a:t>
                      </a:r>
                      <a:r>
                        <a:rPr lang="en-US" sz="900" b="0" baseline="0" dirty="0"/>
                        <a:t> $3,000 </a:t>
                      </a:r>
                      <a:r>
                        <a:rPr lang="en-US" sz="900" dirty="0"/>
                        <a:t> </a:t>
                      </a:r>
                    </a:p>
                    <a:p>
                      <a:pPr defTabSz="762000"/>
                      <a:r>
                        <a:rPr lang="en-US" sz="900" dirty="0"/>
                        <a:t>1 X Orchestrator</a:t>
                      </a:r>
                      <a:r>
                        <a:rPr lang="en-US" sz="900" b="1" baseline="30000" dirty="0"/>
                        <a:t>1</a:t>
                      </a:r>
                      <a:r>
                        <a:rPr lang="en-US" sz="900" dirty="0"/>
                        <a:t>           – $20,000</a:t>
                      </a:r>
                    </a:p>
                    <a:p>
                      <a:pPr defTabSz="762000"/>
                      <a:endParaRPr lang="en-US" sz="900" b="1" dirty="0"/>
                    </a:p>
                    <a:p>
                      <a:pPr defTabSz="762000"/>
                      <a:r>
                        <a:rPr lang="en-US" sz="900" b="1" dirty="0"/>
                        <a:t>Bots</a:t>
                      </a:r>
                    </a:p>
                    <a:p>
                      <a:pPr defTabSz="762000"/>
                      <a:r>
                        <a:rPr lang="en-US" sz="900" dirty="0"/>
                        <a:t>3 X Bots (Unattended</a:t>
                      </a:r>
                      <a:r>
                        <a:rPr lang="en-US" sz="900" b="1" baseline="30000" dirty="0"/>
                        <a:t>1 2</a:t>
                      </a:r>
                      <a:r>
                        <a:rPr lang="en-US" sz="900" dirty="0"/>
                        <a:t>) – $18,000 ($6,000 per bot)</a:t>
                      </a:r>
                      <a:r>
                        <a:rPr lang="en-US" sz="700" baseline="0" dirty="0"/>
                        <a:t>  </a:t>
                      </a:r>
                      <a:r>
                        <a:rPr lang="en-US" sz="900" b="1" baseline="0" dirty="0"/>
                        <a:t>or</a:t>
                      </a:r>
                      <a:endParaRPr lang="en-US" sz="900" b="1" dirty="0"/>
                    </a:p>
                    <a:p>
                      <a:pPr defTabSz="762000"/>
                      <a:r>
                        <a:rPr lang="en-US" sz="900" dirty="0"/>
                        <a:t>7 X Bots (Attended</a:t>
                      </a:r>
                      <a:r>
                        <a:rPr lang="en-US" sz="900" b="1" baseline="30000" dirty="0"/>
                        <a:t>1 2</a:t>
                      </a:r>
                      <a:r>
                        <a:rPr lang="en-US" sz="900" b="0" baseline="0" dirty="0"/>
                        <a:t>)     </a:t>
                      </a:r>
                      <a:r>
                        <a:rPr lang="en-US" sz="900" dirty="0"/>
                        <a:t>– $8,400 ($1,200</a:t>
                      </a:r>
                      <a:r>
                        <a:rPr lang="en-US" sz="900" baseline="0" dirty="0"/>
                        <a:t> per bot)</a:t>
                      </a:r>
                      <a:r>
                        <a:rPr lang="en-US" sz="900" dirty="0"/>
                        <a:t> </a:t>
                      </a:r>
                      <a:r>
                        <a:rPr lang="en-US" sz="900" b="0" baseline="0" dirty="0"/>
                        <a:t> </a:t>
                      </a:r>
                      <a:endParaRPr lang="en-US" sz="900" b="0" dirty="0"/>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53" name="Rectangle 52"/>
          <p:cNvSpPr/>
          <p:nvPr/>
        </p:nvSpPr>
        <p:spPr>
          <a:xfrm>
            <a:off x="4463935" y="6444629"/>
            <a:ext cx="5912369" cy="338554"/>
          </a:xfrm>
          <a:prstGeom prst="rect">
            <a:avLst/>
          </a:prstGeom>
        </p:spPr>
        <p:txBody>
          <a:bodyPr wrap="square">
            <a:spAutoFit/>
          </a:bodyPr>
          <a:lstStyle/>
          <a:p>
            <a:r>
              <a:rPr lang="en-US" sz="800" b="1" baseline="30000" dirty="0"/>
              <a:t>1</a:t>
            </a:r>
            <a:r>
              <a:rPr lang="en-US" sz="800" b="1" dirty="0"/>
              <a:t> </a:t>
            </a:r>
            <a:r>
              <a:rPr lang="en-US" sz="800" dirty="0"/>
              <a:t>Licensing cost provided by </a:t>
            </a:r>
            <a:r>
              <a:rPr lang="en-US" sz="800" dirty="0" err="1"/>
              <a:t>UiPath</a:t>
            </a:r>
            <a:r>
              <a:rPr lang="en-US" sz="800" dirty="0"/>
              <a:t> sales team and subject to change.</a:t>
            </a:r>
          </a:p>
          <a:p>
            <a:r>
              <a:rPr lang="en-US" sz="800" b="1" baseline="30000" dirty="0"/>
              <a:t>2</a:t>
            </a:r>
            <a:r>
              <a:rPr lang="en-US" sz="800" dirty="0"/>
              <a:t> Calculation of bots provided in the attached sheet</a:t>
            </a:r>
          </a:p>
        </p:txBody>
      </p:sp>
      <p:grpSp>
        <p:nvGrpSpPr>
          <p:cNvPr id="56" name="Group 55"/>
          <p:cNvGrpSpPr/>
          <p:nvPr/>
        </p:nvGrpSpPr>
        <p:grpSpPr>
          <a:xfrm>
            <a:off x="10086771" y="0"/>
            <a:ext cx="1871806" cy="1504232"/>
            <a:chOff x="8592593" y="3603844"/>
            <a:chExt cx="2900170" cy="2497941"/>
          </a:xfrm>
        </p:grpSpPr>
        <p:grpSp>
          <p:nvGrpSpPr>
            <p:cNvPr id="57" name="Group 56"/>
            <p:cNvGrpSpPr/>
            <p:nvPr/>
          </p:nvGrpSpPr>
          <p:grpSpPr>
            <a:xfrm rot="20700000">
              <a:off x="8592593" y="4212461"/>
              <a:ext cx="2882450" cy="1889324"/>
              <a:chOff x="8582451" y="4204876"/>
              <a:chExt cx="2882450" cy="1967694"/>
            </a:xfrm>
          </p:grpSpPr>
          <p:sp>
            <p:nvSpPr>
              <p:cNvPr id="61" name="Rounded Rectangle 60"/>
              <p:cNvSpPr/>
              <p:nvPr/>
            </p:nvSpPr>
            <p:spPr bwMode="gray">
              <a:xfrm>
                <a:off x="8582451" y="4204876"/>
                <a:ext cx="2882450" cy="1967694"/>
              </a:xfrm>
              <a:prstGeom prst="roundRect">
                <a:avLst>
                  <a:gd name="adj" fmla="val 10785"/>
                </a:avLst>
              </a:prstGeom>
              <a:solidFill>
                <a:schemeClr val="accent3">
                  <a:lumMod val="40000"/>
                  <a:lumOff val="60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defTabSz="1219170">
                  <a:lnSpc>
                    <a:spcPct val="106000"/>
                  </a:lnSpc>
                  <a:buFont typeface="Wingdings 2" pitchFamily="18" charset="2"/>
                  <a:buNone/>
                </a:pPr>
                <a:endParaRPr lang="en-US" sz="1000" b="1" dirty="0">
                  <a:solidFill>
                    <a:prstClr val="white"/>
                  </a:solidFill>
                </a:endParaRPr>
              </a:p>
            </p:txBody>
          </p:sp>
          <p:sp>
            <p:nvSpPr>
              <p:cNvPr id="62" name="TextBox 61"/>
              <p:cNvSpPr txBox="1"/>
              <p:nvPr/>
            </p:nvSpPr>
            <p:spPr>
              <a:xfrm>
                <a:off x="8725486" y="4406920"/>
                <a:ext cx="2560428" cy="1703350"/>
              </a:xfrm>
              <a:prstGeom prst="rect">
                <a:avLst/>
              </a:prstGeom>
              <a:noFill/>
            </p:spPr>
            <p:txBody>
              <a:bodyPr wrap="square" lIns="0" tIns="0" rIns="0" bIns="0" rtlCol="0">
                <a:spAutoFit/>
              </a:bodyPr>
              <a:lstStyle/>
              <a:p>
                <a:pPr algn="ctr" defTabSz="1219170">
                  <a:spcBef>
                    <a:spcPts val="400"/>
                  </a:spcBef>
                </a:pPr>
                <a:r>
                  <a:rPr lang="en-US" sz="1600" dirty="0">
                    <a:solidFill>
                      <a:prstClr val="black"/>
                    </a:solidFill>
                  </a:rPr>
                  <a:t>Minimum Cost </a:t>
                </a:r>
                <a:r>
                  <a:rPr lang="en-US" sz="1600" dirty="0">
                    <a:solidFill>
                      <a:schemeClr val="bg1">
                        <a:lumMod val="75000"/>
                      </a:schemeClr>
                    </a:solidFill>
                  </a:rPr>
                  <a:t>using attended bots</a:t>
                </a:r>
                <a:r>
                  <a:rPr lang="en-US" sz="1600" dirty="0">
                    <a:solidFill>
                      <a:prstClr val="black"/>
                    </a:solidFill>
                  </a:rPr>
                  <a:t>: </a:t>
                </a:r>
                <a:r>
                  <a:rPr lang="en-US" sz="1600" b="1" dirty="0">
                    <a:solidFill>
                      <a:prstClr val="black"/>
                    </a:solidFill>
                  </a:rPr>
                  <a:t>$150,000</a:t>
                </a:r>
              </a:p>
            </p:txBody>
          </p:sp>
        </p:grpSp>
        <p:grpSp>
          <p:nvGrpSpPr>
            <p:cNvPr id="58" name="Group 57"/>
            <p:cNvGrpSpPr/>
            <p:nvPr/>
          </p:nvGrpSpPr>
          <p:grpSpPr>
            <a:xfrm>
              <a:off x="10936665" y="3603844"/>
              <a:ext cx="556098" cy="568876"/>
              <a:chOff x="13997622" y="2547701"/>
              <a:chExt cx="556098" cy="568876"/>
            </a:xfrm>
          </p:grpSpPr>
          <p:sp>
            <p:nvSpPr>
              <p:cNvPr id="59" name="Oval 58"/>
              <p:cNvSpPr/>
              <p:nvPr/>
            </p:nvSpPr>
            <p:spPr bwMode="gray">
              <a:xfrm>
                <a:off x="13997622" y="2994957"/>
                <a:ext cx="121620" cy="121620"/>
              </a:xfrm>
              <a:prstGeom prst="ellipse">
                <a:avLst/>
              </a:prstGeom>
              <a:solidFill>
                <a:schemeClr val="bg1"/>
              </a:solidFill>
              <a:ln w="19050" algn="ctr">
                <a:solidFill>
                  <a:schemeClr val="tx2"/>
                </a:solidFill>
                <a:miter lim="800000"/>
                <a:headEnd/>
                <a:tailEnd/>
              </a:ln>
            </p:spPr>
            <p:txBody>
              <a:bodyPr wrap="square" lIns="45720" tIns="45720" rIns="45720" bIns="45720" rtlCol="0" anchor="ctr"/>
              <a:lstStyle/>
              <a:p>
                <a:pPr algn="ctr" defTabSz="1219170">
                  <a:lnSpc>
                    <a:spcPct val="106000"/>
                  </a:lnSpc>
                  <a:buFont typeface="Wingdings 2" pitchFamily="18" charset="2"/>
                  <a:buNone/>
                </a:pPr>
                <a:endParaRPr lang="en-US" sz="1000" b="1" dirty="0">
                  <a:solidFill>
                    <a:prstClr val="white"/>
                  </a:solidFill>
                </a:endParaRPr>
              </a:p>
            </p:txBody>
          </p:sp>
          <p:pic>
            <p:nvPicPr>
              <p:cNvPr id="60" name="Picture 5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1425801" flipV="1">
                <a:off x="14054135" y="2547701"/>
                <a:ext cx="499585" cy="523489"/>
              </a:xfrm>
              <a:prstGeom prst="rect">
                <a:avLst/>
              </a:prstGeom>
            </p:spPr>
          </p:pic>
        </p:grpSp>
      </p:grpSp>
    </p:spTree>
    <p:extLst>
      <p:ext uri="{BB962C8B-B14F-4D97-AF65-F5344CB8AC3E}">
        <p14:creationId xmlns:p14="http://schemas.microsoft.com/office/powerpoint/2010/main" val="279160541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Continuous Deployment</a:t>
            </a:r>
            <a:endParaRPr lang="en-US" dirty="0"/>
          </a:p>
        </p:txBody>
      </p:sp>
      <p:sp>
        <p:nvSpPr>
          <p:cNvPr id="3" name="Text Placeholder 2"/>
          <p:cNvSpPr>
            <a:spLocks noGrp="1"/>
          </p:cNvSpPr>
          <p:nvPr>
            <p:ph type="body" idx="1"/>
          </p:nvPr>
        </p:nvSpPr>
        <p:spPr/>
        <p:txBody>
          <a:bodyPr/>
          <a:lstStyle/>
          <a:p>
            <a:r>
              <a:rPr lang="en-US" dirty="0"/>
              <a:t>Resource Deployment and Execution</a:t>
            </a:r>
          </a:p>
        </p:txBody>
      </p:sp>
    </p:spTree>
    <p:extLst>
      <p:ext uri="{BB962C8B-B14F-4D97-AF65-F5344CB8AC3E}">
        <p14:creationId xmlns:p14="http://schemas.microsoft.com/office/powerpoint/2010/main" val="373301448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Continuous Support : Year-round support &amp; regular patch deployment</a:t>
            </a:r>
            <a:endParaRPr lang="en-US" dirty="0"/>
          </a:p>
        </p:txBody>
      </p:sp>
      <p:graphicFrame>
        <p:nvGraphicFramePr>
          <p:cNvPr id="5" name="Table 4"/>
          <p:cNvGraphicFramePr>
            <a:graphicFrameLocks noGrp="1"/>
          </p:cNvGraphicFramePr>
          <p:nvPr>
            <p:extLst/>
          </p:nvPr>
        </p:nvGraphicFramePr>
        <p:xfrm>
          <a:off x="469900" y="1100709"/>
          <a:ext cx="11252187" cy="640080"/>
        </p:xfrm>
        <a:graphic>
          <a:graphicData uri="http://schemas.openxmlformats.org/drawingml/2006/table">
            <a:tbl>
              <a:tblPr bandRow="1">
                <a:tableStyleId>{5C22544A-7EE6-4342-B048-85BDC9FD1C3A}</a:tableStyleId>
              </a:tblPr>
              <a:tblGrid>
                <a:gridCol w="1224747">
                  <a:extLst>
                    <a:ext uri="{9D8B030D-6E8A-4147-A177-3AD203B41FA5}">
                      <a16:colId xmlns:a16="http://schemas.microsoft.com/office/drawing/2014/main" val="20000"/>
                    </a:ext>
                  </a:extLst>
                </a:gridCol>
                <a:gridCol w="208905">
                  <a:extLst>
                    <a:ext uri="{9D8B030D-6E8A-4147-A177-3AD203B41FA5}">
                      <a16:colId xmlns:a16="http://schemas.microsoft.com/office/drawing/2014/main" val="20001"/>
                    </a:ext>
                  </a:extLst>
                </a:gridCol>
                <a:gridCol w="208905">
                  <a:extLst>
                    <a:ext uri="{9D8B030D-6E8A-4147-A177-3AD203B41FA5}">
                      <a16:colId xmlns:a16="http://schemas.microsoft.com/office/drawing/2014/main" val="20002"/>
                    </a:ext>
                  </a:extLst>
                </a:gridCol>
                <a:gridCol w="208905">
                  <a:extLst>
                    <a:ext uri="{9D8B030D-6E8A-4147-A177-3AD203B41FA5}">
                      <a16:colId xmlns:a16="http://schemas.microsoft.com/office/drawing/2014/main" val="20003"/>
                    </a:ext>
                  </a:extLst>
                </a:gridCol>
                <a:gridCol w="208905">
                  <a:extLst>
                    <a:ext uri="{9D8B030D-6E8A-4147-A177-3AD203B41FA5}">
                      <a16:colId xmlns:a16="http://schemas.microsoft.com/office/drawing/2014/main" val="20004"/>
                    </a:ext>
                  </a:extLst>
                </a:gridCol>
                <a:gridCol w="208905">
                  <a:extLst>
                    <a:ext uri="{9D8B030D-6E8A-4147-A177-3AD203B41FA5}">
                      <a16:colId xmlns:a16="http://schemas.microsoft.com/office/drawing/2014/main" val="20005"/>
                    </a:ext>
                  </a:extLst>
                </a:gridCol>
                <a:gridCol w="208905">
                  <a:extLst>
                    <a:ext uri="{9D8B030D-6E8A-4147-A177-3AD203B41FA5}">
                      <a16:colId xmlns:a16="http://schemas.microsoft.com/office/drawing/2014/main" val="20006"/>
                    </a:ext>
                  </a:extLst>
                </a:gridCol>
                <a:gridCol w="208905">
                  <a:extLst>
                    <a:ext uri="{9D8B030D-6E8A-4147-A177-3AD203B41FA5}">
                      <a16:colId xmlns:a16="http://schemas.microsoft.com/office/drawing/2014/main" val="20007"/>
                    </a:ext>
                  </a:extLst>
                </a:gridCol>
                <a:gridCol w="208905">
                  <a:extLst>
                    <a:ext uri="{9D8B030D-6E8A-4147-A177-3AD203B41FA5}">
                      <a16:colId xmlns:a16="http://schemas.microsoft.com/office/drawing/2014/main" val="20008"/>
                    </a:ext>
                  </a:extLst>
                </a:gridCol>
                <a:gridCol w="208905">
                  <a:extLst>
                    <a:ext uri="{9D8B030D-6E8A-4147-A177-3AD203B41FA5}">
                      <a16:colId xmlns:a16="http://schemas.microsoft.com/office/drawing/2014/main" val="20009"/>
                    </a:ext>
                  </a:extLst>
                </a:gridCol>
                <a:gridCol w="208905">
                  <a:extLst>
                    <a:ext uri="{9D8B030D-6E8A-4147-A177-3AD203B41FA5}">
                      <a16:colId xmlns:a16="http://schemas.microsoft.com/office/drawing/2014/main" val="20010"/>
                    </a:ext>
                  </a:extLst>
                </a:gridCol>
                <a:gridCol w="208905">
                  <a:extLst>
                    <a:ext uri="{9D8B030D-6E8A-4147-A177-3AD203B41FA5}">
                      <a16:colId xmlns:a16="http://schemas.microsoft.com/office/drawing/2014/main" val="20011"/>
                    </a:ext>
                  </a:extLst>
                </a:gridCol>
                <a:gridCol w="208905">
                  <a:extLst>
                    <a:ext uri="{9D8B030D-6E8A-4147-A177-3AD203B41FA5}">
                      <a16:colId xmlns:a16="http://schemas.microsoft.com/office/drawing/2014/main" val="20012"/>
                    </a:ext>
                  </a:extLst>
                </a:gridCol>
                <a:gridCol w="208905">
                  <a:extLst>
                    <a:ext uri="{9D8B030D-6E8A-4147-A177-3AD203B41FA5}">
                      <a16:colId xmlns:a16="http://schemas.microsoft.com/office/drawing/2014/main" val="20013"/>
                    </a:ext>
                  </a:extLst>
                </a:gridCol>
                <a:gridCol w="208905">
                  <a:extLst>
                    <a:ext uri="{9D8B030D-6E8A-4147-A177-3AD203B41FA5}">
                      <a16:colId xmlns:a16="http://schemas.microsoft.com/office/drawing/2014/main" val="20014"/>
                    </a:ext>
                  </a:extLst>
                </a:gridCol>
                <a:gridCol w="208905">
                  <a:extLst>
                    <a:ext uri="{9D8B030D-6E8A-4147-A177-3AD203B41FA5}">
                      <a16:colId xmlns:a16="http://schemas.microsoft.com/office/drawing/2014/main" val="20015"/>
                    </a:ext>
                  </a:extLst>
                </a:gridCol>
                <a:gridCol w="208905">
                  <a:extLst>
                    <a:ext uri="{9D8B030D-6E8A-4147-A177-3AD203B41FA5}">
                      <a16:colId xmlns:a16="http://schemas.microsoft.com/office/drawing/2014/main" val="20016"/>
                    </a:ext>
                  </a:extLst>
                </a:gridCol>
                <a:gridCol w="208905">
                  <a:extLst>
                    <a:ext uri="{9D8B030D-6E8A-4147-A177-3AD203B41FA5}">
                      <a16:colId xmlns:a16="http://schemas.microsoft.com/office/drawing/2014/main" val="20017"/>
                    </a:ext>
                  </a:extLst>
                </a:gridCol>
                <a:gridCol w="208905">
                  <a:extLst>
                    <a:ext uri="{9D8B030D-6E8A-4147-A177-3AD203B41FA5}">
                      <a16:colId xmlns:a16="http://schemas.microsoft.com/office/drawing/2014/main" val="20018"/>
                    </a:ext>
                  </a:extLst>
                </a:gridCol>
                <a:gridCol w="208905">
                  <a:extLst>
                    <a:ext uri="{9D8B030D-6E8A-4147-A177-3AD203B41FA5}">
                      <a16:colId xmlns:a16="http://schemas.microsoft.com/office/drawing/2014/main" val="20019"/>
                    </a:ext>
                  </a:extLst>
                </a:gridCol>
                <a:gridCol w="208905">
                  <a:extLst>
                    <a:ext uri="{9D8B030D-6E8A-4147-A177-3AD203B41FA5}">
                      <a16:colId xmlns:a16="http://schemas.microsoft.com/office/drawing/2014/main" val="20020"/>
                    </a:ext>
                  </a:extLst>
                </a:gridCol>
                <a:gridCol w="208905">
                  <a:extLst>
                    <a:ext uri="{9D8B030D-6E8A-4147-A177-3AD203B41FA5}">
                      <a16:colId xmlns:a16="http://schemas.microsoft.com/office/drawing/2014/main" val="20021"/>
                    </a:ext>
                  </a:extLst>
                </a:gridCol>
                <a:gridCol w="208905">
                  <a:extLst>
                    <a:ext uri="{9D8B030D-6E8A-4147-A177-3AD203B41FA5}">
                      <a16:colId xmlns:a16="http://schemas.microsoft.com/office/drawing/2014/main" val="20022"/>
                    </a:ext>
                  </a:extLst>
                </a:gridCol>
                <a:gridCol w="208905">
                  <a:extLst>
                    <a:ext uri="{9D8B030D-6E8A-4147-A177-3AD203B41FA5}">
                      <a16:colId xmlns:a16="http://schemas.microsoft.com/office/drawing/2014/main" val="20023"/>
                    </a:ext>
                  </a:extLst>
                </a:gridCol>
                <a:gridCol w="208905">
                  <a:extLst>
                    <a:ext uri="{9D8B030D-6E8A-4147-A177-3AD203B41FA5}">
                      <a16:colId xmlns:a16="http://schemas.microsoft.com/office/drawing/2014/main" val="20024"/>
                    </a:ext>
                  </a:extLst>
                </a:gridCol>
                <a:gridCol w="208905">
                  <a:extLst>
                    <a:ext uri="{9D8B030D-6E8A-4147-A177-3AD203B41FA5}">
                      <a16:colId xmlns:a16="http://schemas.microsoft.com/office/drawing/2014/main" val="20025"/>
                    </a:ext>
                  </a:extLst>
                </a:gridCol>
                <a:gridCol w="208905">
                  <a:extLst>
                    <a:ext uri="{9D8B030D-6E8A-4147-A177-3AD203B41FA5}">
                      <a16:colId xmlns:a16="http://schemas.microsoft.com/office/drawing/2014/main" val="20026"/>
                    </a:ext>
                  </a:extLst>
                </a:gridCol>
                <a:gridCol w="208905">
                  <a:extLst>
                    <a:ext uri="{9D8B030D-6E8A-4147-A177-3AD203B41FA5}">
                      <a16:colId xmlns:a16="http://schemas.microsoft.com/office/drawing/2014/main" val="20027"/>
                    </a:ext>
                  </a:extLst>
                </a:gridCol>
                <a:gridCol w="208905">
                  <a:extLst>
                    <a:ext uri="{9D8B030D-6E8A-4147-A177-3AD203B41FA5}">
                      <a16:colId xmlns:a16="http://schemas.microsoft.com/office/drawing/2014/main" val="20028"/>
                    </a:ext>
                  </a:extLst>
                </a:gridCol>
                <a:gridCol w="208905">
                  <a:extLst>
                    <a:ext uri="{9D8B030D-6E8A-4147-A177-3AD203B41FA5}">
                      <a16:colId xmlns:a16="http://schemas.microsoft.com/office/drawing/2014/main" val="20029"/>
                    </a:ext>
                  </a:extLst>
                </a:gridCol>
                <a:gridCol w="208905">
                  <a:extLst>
                    <a:ext uri="{9D8B030D-6E8A-4147-A177-3AD203B41FA5}">
                      <a16:colId xmlns:a16="http://schemas.microsoft.com/office/drawing/2014/main" val="20030"/>
                    </a:ext>
                  </a:extLst>
                </a:gridCol>
                <a:gridCol w="208905">
                  <a:extLst>
                    <a:ext uri="{9D8B030D-6E8A-4147-A177-3AD203B41FA5}">
                      <a16:colId xmlns:a16="http://schemas.microsoft.com/office/drawing/2014/main" val="20031"/>
                    </a:ext>
                  </a:extLst>
                </a:gridCol>
                <a:gridCol w="208905">
                  <a:extLst>
                    <a:ext uri="{9D8B030D-6E8A-4147-A177-3AD203B41FA5}">
                      <a16:colId xmlns:a16="http://schemas.microsoft.com/office/drawing/2014/main" val="20032"/>
                    </a:ext>
                  </a:extLst>
                </a:gridCol>
                <a:gridCol w="208905">
                  <a:extLst>
                    <a:ext uri="{9D8B030D-6E8A-4147-A177-3AD203B41FA5}">
                      <a16:colId xmlns:a16="http://schemas.microsoft.com/office/drawing/2014/main" val="20033"/>
                    </a:ext>
                  </a:extLst>
                </a:gridCol>
                <a:gridCol w="208905">
                  <a:extLst>
                    <a:ext uri="{9D8B030D-6E8A-4147-A177-3AD203B41FA5}">
                      <a16:colId xmlns:a16="http://schemas.microsoft.com/office/drawing/2014/main" val="20034"/>
                    </a:ext>
                  </a:extLst>
                </a:gridCol>
                <a:gridCol w="208905">
                  <a:extLst>
                    <a:ext uri="{9D8B030D-6E8A-4147-A177-3AD203B41FA5}">
                      <a16:colId xmlns:a16="http://schemas.microsoft.com/office/drawing/2014/main" val="20035"/>
                    </a:ext>
                  </a:extLst>
                </a:gridCol>
                <a:gridCol w="208905">
                  <a:extLst>
                    <a:ext uri="{9D8B030D-6E8A-4147-A177-3AD203B41FA5}">
                      <a16:colId xmlns:a16="http://schemas.microsoft.com/office/drawing/2014/main" val="20036"/>
                    </a:ext>
                  </a:extLst>
                </a:gridCol>
                <a:gridCol w="208905">
                  <a:extLst>
                    <a:ext uri="{9D8B030D-6E8A-4147-A177-3AD203B41FA5}">
                      <a16:colId xmlns:a16="http://schemas.microsoft.com/office/drawing/2014/main" val="20037"/>
                    </a:ext>
                  </a:extLst>
                </a:gridCol>
                <a:gridCol w="208905">
                  <a:extLst>
                    <a:ext uri="{9D8B030D-6E8A-4147-A177-3AD203B41FA5}">
                      <a16:colId xmlns:a16="http://schemas.microsoft.com/office/drawing/2014/main" val="20038"/>
                    </a:ext>
                  </a:extLst>
                </a:gridCol>
                <a:gridCol w="208905">
                  <a:extLst>
                    <a:ext uri="{9D8B030D-6E8A-4147-A177-3AD203B41FA5}">
                      <a16:colId xmlns:a16="http://schemas.microsoft.com/office/drawing/2014/main" val="20039"/>
                    </a:ext>
                  </a:extLst>
                </a:gridCol>
                <a:gridCol w="208905">
                  <a:extLst>
                    <a:ext uri="{9D8B030D-6E8A-4147-A177-3AD203B41FA5}">
                      <a16:colId xmlns:a16="http://schemas.microsoft.com/office/drawing/2014/main" val="20040"/>
                    </a:ext>
                  </a:extLst>
                </a:gridCol>
                <a:gridCol w="208905">
                  <a:extLst>
                    <a:ext uri="{9D8B030D-6E8A-4147-A177-3AD203B41FA5}">
                      <a16:colId xmlns:a16="http://schemas.microsoft.com/office/drawing/2014/main" val="20041"/>
                    </a:ext>
                  </a:extLst>
                </a:gridCol>
                <a:gridCol w="208905">
                  <a:extLst>
                    <a:ext uri="{9D8B030D-6E8A-4147-A177-3AD203B41FA5}">
                      <a16:colId xmlns:a16="http://schemas.microsoft.com/office/drawing/2014/main" val="20042"/>
                    </a:ext>
                  </a:extLst>
                </a:gridCol>
                <a:gridCol w="208905">
                  <a:extLst>
                    <a:ext uri="{9D8B030D-6E8A-4147-A177-3AD203B41FA5}">
                      <a16:colId xmlns:a16="http://schemas.microsoft.com/office/drawing/2014/main" val="20043"/>
                    </a:ext>
                  </a:extLst>
                </a:gridCol>
                <a:gridCol w="208905">
                  <a:extLst>
                    <a:ext uri="{9D8B030D-6E8A-4147-A177-3AD203B41FA5}">
                      <a16:colId xmlns:a16="http://schemas.microsoft.com/office/drawing/2014/main" val="20044"/>
                    </a:ext>
                  </a:extLst>
                </a:gridCol>
                <a:gridCol w="208905">
                  <a:extLst>
                    <a:ext uri="{9D8B030D-6E8A-4147-A177-3AD203B41FA5}">
                      <a16:colId xmlns:a16="http://schemas.microsoft.com/office/drawing/2014/main" val="20045"/>
                    </a:ext>
                  </a:extLst>
                </a:gridCol>
                <a:gridCol w="208905">
                  <a:extLst>
                    <a:ext uri="{9D8B030D-6E8A-4147-A177-3AD203B41FA5}">
                      <a16:colId xmlns:a16="http://schemas.microsoft.com/office/drawing/2014/main" val="20046"/>
                    </a:ext>
                  </a:extLst>
                </a:gridCol>
                <a:gridCol w="208905">
                  <a:extLst>
                    <a:ext uri="{9D8B030D-6E8A-4147-A177-3AD203B41FA5}">
                      <a16:colId xmlns:a16="http://schemas.microsoft.com/office/drawing/2014/main" val="20047"/>
                    </a:ext>
                  </a:extLst>
                </a:gridCol>
                <a:gridCol w="208905">
                  <a:extLst>
                    <a:ext uri="{9D8B030D-6E8A-4147-A177-3AD203B41FA5}">
                      <a16:colId xmlns:a16="http://schemas.microsoft.com/office/drawing/2014/main" val="20048"/>
                    </a:ext>
                  </a:extLst>
                </a:gridCol>
              </a:tblGrid>
              <a:tr h="182880">
                <a:tc>
                  <a:txBody>
                    <a:bodyPr/>
                    <a:lstStyle/>
                    <a:p>
                      <a:pPr>
                        <a:lnSpc>
                          <a:spcPct val="100000"/>
                        </a:lnSpc>
                        <a:spcBef>
                          <a:spcPts val="400"/>
                        </a:spcBef>
                      </a:pPr>
                      <a:r>
                        <a:rPr lang="en-US" sz="1000" dirty="0">
                          <a:solidFill>
                            <a:schemeClr val="tx1"/>
                          </a:solidFill>
                          <a:latin typeface="+mn-lt"/>
                        </a:rPr>
                        <a:t>Calendar</a:t>
                      </a:r>
                      <a:r>
                        <a:rPr lang="en-US" sz="1000" baseline="0" dirty="0">
                          <a:solidFill>
                            <a:schemeClr val="tx1"/>
                          </a:solidFill>
                          <a:latin typeface="+mn-lt"/>
                        </a:rPr>
                        <a:t> Month</a:t>
                      </a:r>
                      <a:r>
                        <a:rPr lang="en-US" sz="1000" baseline="30000" dirty="0">
                          <a:solidFill>
                            <a:schemeClr val="tx1"/>
                          </a:solidFill>
                          <a:latin typeface="+mn-lt"/>
                        </a:rPr>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Jan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Feb</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Mar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Apr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May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Jun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Jul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Aug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Sep</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Oct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5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Nov</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9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9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9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100000"/>
                        </a:lnSpc>
                        <a:spcBef>
                          <a:spcPts val="400"/>
                        </a:spcBef>
                      </a:pPr>
                      <a:r>
                        <a:rPr lang="en-US" sz="900" dirty="0">
                          <a:solidFill>
                            <a:schemeClr val="tx1"/>
                          </a:solidFill>
                          <a:latin typeface="+mn-lt"/>
                        </a:rPr>
                        <a:t>Dec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9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9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0000"/>
                        </a:lnSpc>
                        <a:spcBef>
                          <a:spcPts val="400"/>
                        </a:spcBef>
                      </a:pPr>
                      <a:endParaRPr lang="en-US" sz="900" dirty="0">
                        <a:solidFill>
                          <a:schemeClr val="tx1"/>
                        </a:solidFill>
                        <a:latin typeface="+mn-lt"/>
                      </a:endParaRPr>
                    </a:p>
                  </a:txBody>
                  <a:tcPr marL="45720" marR="4572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2880">
                <a:tc>
                  <a:txBody>
                    <a:bodyPr/>
                    <a:lstStyle/>
                    <a:p>
                      <a:pPr marL="0" algn="l" defTabSz="1219170" rtl="0" eaLnBrk="1" latinLnBrk="0" hangingPunct="1">
                        <a:lnSpc>
                          <a:spcPct val="100000"/>
                        </a:lnSpc>
                        <a:spcBef>
                          <a:spcPts val="400"/>
                        </a:spcBef>
                      </a:pPr>
                      <a:r>
                        <a:rPr lang="en-US" sz="1000" kern="1200" dirty="0">
                          <a:solidFill>
                            <a:schemeClr val="tx1"/>
                          </a:solidFill>
                          <a:latin typeface="+mn-lt"/>
                          <a:ea typeface="+mn-ea"/>
                          <a:cs typeface="+mn-cs"/>
                        </a:rPr>
                        <a:t>Patching Schedule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chemeClr val="tx1"/>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rgbClr val="D0D0CE"/>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500" dirty="0">
                        <a:solidFill>
                          <a:schemeClr val="tx1"/>
                        </a:solidFill>
                        <a:latin typeface="+mn-lt"/>
                      </a:endParaRPr>
                    </a:p>
                  </a:txBody>
                  <a:tcPr marL="45720" marR="45720" anchor="ctr">
                    <a:lnL w="12700" cap="flat" cmpd="sng" algn="ctr">
                      <a:solidFill>
                        <a:srgbClr val="D0D0CE"/>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 name="Right Brace 6"/>
          <p:cNvSpPr/>
          <p:nvPr/>
        </p:nvSpPr>
        <p:spPr>
          <a:xfrm rot="5400000">
            <a:off x="2806528" y="1482643"/>
            <a:ext cx="255129" cy="843698"/>
          </a:xfrm>
          <a:prstGeom prst="rightBrace">
            <a:avLst>
              <a:gd name="adj1" fmla="val 23148"/>
              <a:gd name="adj2"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8" name="Right Brace 7"/>
          <p:cNvSpPr/>
          <p:nvPr/>
        </p:nvSpPr>
        <p:spPr>
          <a:xfrm rot="5400000">
            <a:off x="4062649" y="1070221"/>
            <a:ext cx="255130" cy="1668545"/>
          </a:xfrm>
          <a:prstGeom prst="rightBrace">
            <a:avLst>
              <a:gd name="adj1" fmla="val 23148"/>
              <a:gd name="adj2"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9" name="TextBox 8"/>
          <p:cNvSpPr txBox="1"/>
          <p:nvPr/>
        </p:nvSpPr>
        <p:spPr>
          <a:xfrm>
            <a:off x="2427400" y="2083217"/>
            <a:ext cx="1051091" cy="492443"/>
          </a:xfrm>
          <a:prstGeom prst="rect">
            <a:avLst/>
          </a:prstGeom>
          <a:noFill/>
        </p:spPr>
        <p:txBody>
          <a:bodyPr vert="horz" wrap="square" lIns="0" tIns="0" rIns="0" bIns="0" rtlCol="0">
            <a:spAutoFit/>
          </a:bodyPr>
          <a:lstStyle/>
          <a:p>
            <a:pPr>
              <a:spcBef>
                <a:spcPts val="200"/>
              </a:spcBef>
              <a:buSzPct val="100000"/>
            </a:pPr>
            <a:r>
              <a:rPr lang="en-US" sz="800" b="1" dirty="0">
                <a:solidFill>
                  <a:prstClr val="black"/>
                </a:solidFill>
              </a:rPr>
              <a:t>Patching Week</a:t>
            </a:r>
          </a:p>
          <a:p>
            <a:pPr marL="169863" indent="-112713">
              <a:buSzPct val="100000"/>
              <a:buFont typeface="Arial" panose="020B0604020202020204" pitchFamily="34" charset="0"/>
              <a:buChar char="•"/>
            </a:pPr>
            <a:r>
              <a:rPr lang="en-US" sz="800" dirty="0">
                <a:solidFill>
                  <a:prstClr val="black"/>
                </a:solidFill>
              </a:rPr>
              <a:t>Prep      – 1 </a:t>
            </a:r>
            <a:r>
              <a:rPr lang="en-US" sz="800" dirty="0" err="1">
                <a:solidFill>
                  <a:prstClr val="black"/>
                </a:solidFill>
              </a:rPr>
              <a:t>wk</a:t>
            </a:r>
            <a:endParaRPr lang="en-US" sz="800" dirty="0">
              <a:solidFill>
                <a:prstClr val="black"/>
              </a:solidFill>
            </a:endParaRPr>
          </a:p>
          <a:p>
            <a:pPr marL="169863" indent="-112713">
              <a:buSzPct val="100000"/>
              <a:buFont typeface="Arial" panose="020B0604020202020204" pitchFamily="34" charset="0"/>
              <a:buChar char="•"/>
            </a:pPr>
            <a:r>
              <a:rPr lang="en-US" sz="800" dirty="0">
                <a:solidFill>
                  <a:prstClr val="black"/>
                </a:solidFill>
              </a:rPr>
              <a:t>Testing  – 2 </a:t>
            </a:r>
            <a:r>
              <a:rPr lang="en-US" sz="800" dirty="0" err="1">
                <a:solidFill>
                  <a:prstClr val="black"/>
                </a:solidFill>
              </a:rPr>
              <a:t>wks</a:t>
            </a:r>
            <a:endParaRPr lang="en-US" sz="800" dirty="0">
              <a:solidFill>
                <a:prstClr val="black"/>
              </a:solidFill>
            </a:endParaRPr>
          </a:p>
          <a:p>
            <a:pPr marL="169863" indent="-112713">
              <a:buSzPct val="100000"/>
              <a:buFont typeface="Arial" panose="020B0604020202020204" pitchFamily="34" charset="0"/>
              <a:buChar char="•"/>
            </a:pPr>
            <a:r>
              <a:rPr lang="en-US" sz="800" dirty="0">
                <a:solidFill>
                  <a:prstClr val="black"/>
                </a:solidFill>
              </a:rPr>
              <a:t>Support – 1 </a:t>
            </a:r>
            <a:r>
              <a:rPr lang="en-US" sz="800" dirty="0" err="1">
                <a:solidFill>
                  <a:prstClr val="black"/>
                </a:solidFill>
              </a:rPr>
              <a:t>wk</a:t>
            </a:r>
            <a:endParaRPr lang="en-US" sz="800" dirty="0">
              <a:solidFill>
                <a:prstClr val="black"/>
              </a:solidFill>
            </a:endParaRPr>
          </a:p>
        </p:txBody>
      </p:sp>
      <p:sp>
        <p:nvSpPr>
          <p:cNvPr id="10" name="Rectangle 9"/>
          <p:cNvSpPr/>
          <p:nvPr/>
        </p:nvSpPr>
        <p:spPr>
          <a:xfrm>
            <a:off x="3786097" y="2032057"/>
            <a:ext cx="808235" cy="364202"/>
          </a:xfrm>
          <a:prstGeom prst="rect">
            <a:avLst/>
          </a:prstGeom>
        </p:spPr>
        <p:txBody>
          <a:bodyPr wrap="none">
            <a:spAutoFit/>
          </a:bodyPr>
          <a:lstStyle/>
          <a:p>
            <a:pPr algn="ctr">
              <a:spcBef>
                <a:spcPts val="200"/>
              </a:spcBef>
              <a:buSzPct val="100000"/>
            </a:pPr>
            <a:r>
              <a:rPr lang="en-US" sz="800" b="1" dirty="0">
                <a:solidFill>
                  <a:prstClr val="black"/>
                </a:solidFill>
              </a:rPr>
              <a:t>Support</a:t>
            </a:r>
          </a:p>
          <a:p>
            <a:pPr algn="ctr">
              <a:spcBef>
                <a:spcPts val="200"/>
              </a:spcBef>
              <a:buSzPct val="100000"/>
            </a:pPr>
            <a:r>
              <a:rPr lang="en-US" sz="800" b="1" dirty="0">
                <a:solidFill>
                  <a:prstClr val="black"/>
                </a:solidFill>
              </a:rPr>
              <a:t>&amp; Maintain</a:t>
            </a:r>
          </a:p>
        </p:txBody>
      </p:sp>
      <p:sp>
        <p:nvSpPr>
          <p:cNvPr id="11" name="Rectangle 10"/>
          <p:cNvSpPr/>
          <p:nvPr/>
        </p:nvSpPr>
        <p:spPr>
          <a:xfrm>
            <a:off x="3959257" y="6519446"/>
            <a:ext cx="7532018" cy="338554"/>
          </a:xfrm>
          <a:prstGeom prst="rect">
            <a:avLst/>
          </a:prstGeom>
        </p:spPr>
        <p:txBody>
          <a:bodyPr wrap="square">
            <a:spAutoFit/>
          </a:bodyPr>
          <a:lstStyle/>
          <a:p>
            <a:r>
              <a:rPr lang="en-US" sz="800" baseline="30000" dirty="0">
                <a:solidFill>
                  <a:prstClr val="black"/>
                </a:solidFill>
              </a:rPr>
              <a:t>1</a:t>
            </a:r>
            <a:r>
              <a:rPr lang="en-US" sz="800" dirty="0">
                <a:solidFill>
                  <a:prstClr val="black"/>
                </a:solidFill>
              </a:rPr>
              <a:t> Only applicable once first iteration of patch testing strategy put in place including testing scenarios, scripts and automation (including tools)</a:t>
            </a:r>
          </a:p>
          <a:p>
            <a:r>
              <a:rPr lang="en-US" sz="800" baseline="30000" dirty="0">
                <a:solidFill>
                  <a:prstClr val="black"/>
                </a:solidFill>
              </a:rPr>
              <a:t>2</a:t>
            </a:r>
            <a:r>
              <a:rPr lang="en-US" sz="800" dirty="0">
                <a:solidFill>
                  <a:prstClr val="black"/>
                </a:solidFill>
              </a:rPr>
              <a:t> Taking 4 weeks a month for ease of use</a:t>
            </a:r>
          </a:p>
        </p:txBody>
      </p:sp>
      <p:graphicFrame>
        <p:nvGraphicFramePr>
          <p:cNvPr id="12" name="Table 11"/>
          <p:cNvGraphicFramePr>
            <a:graphicFrameLocks noGrp="1"/>
          </p:cNvGraphicFramePr>
          <p:nvPr>
            <p:extLst/>
          </p:nvPr>
        </p:nvGraphicFramePr>
        <p:xfrm>
          <a:off x="451047" y="2698717"/>
          <a:ext cx="11252187" cy="457200"/>
        </p:xfrm>
        <a:graphic>
          <a:graphicData uri="http://schemas.openxmlformats.org/drawingml/2006/table">
            <a:tbl>
              <a:tblPr bandRow="1">
                <a:tableStyleId>{5C22544A-7EE6-4342-B048-85BDC9FD1C3A}</a:tableStyleId>
              </a:tblPr>
              <a:tblGrid>
                <a:gridCol w="1224747">
                  <a:extLst>
                    <a:ext uri="{9D8B030D-6E8A-4147-A177-3AD203B41FA5}">
                      <a16:colId xmlns:a16="http://schemas.microsoft.com/office/drawing/2014/main" val="20000"/>
                    </a:ext>
                  </a:extLst>
                </a:gridCol>
                <a:gridCol w="835620">
                  <a:extLst>
                    <a:ext uri="{9D8B030D-6E8A-4147-A177-3AD203B41FA5}">
                      <a16:colId xmlns:a16="http://schemas.microsoft.com/office/drawing/2014/main" val="20001"/>
                    </a:ext>
                  </a:extLst>
                </a:gridCol>
                <a:gridCol w="835620">
                  <a:extLst>
                    <a:ext uri="{9D8B030D-6E8A-4147-A177-3AD203B41FA5}">
                      <a16:colId xmlns:a16="http://schemas.microsoft.com/office/drawing/2014/main" val="20002"/>
                    </a:ext>
                  </a:extLst>
                </a:gridCol>
                <a:gridCol w="835620">
                  <a:extLst>
                    <a:ext uri="{9D8B030D-6E8A-4147-A177-3AD203B41FA5}">
                      <a16:colId xmlns:a16="http://schemas.microsoft.com/office/drawing/2014/main" val="20003"/>
                    </a:ext>
                  </a:extLst>
                </a:gridCol>
                <a:gridCol w="835620">
                  <a:extLst>
                    <a:ext uri="{9D8B030D-6E8A-4147-A177-3AD203B41FA5}">
                      <a16:colId xmlns:a16="http://schemas.microsoft.com/office/drawing/2014/main" val="20004"/>
                    </a:ext>
                  </a:extLst>
                </a:gridCol>
                <a:gridCol w="835620">
                  <a:extLst>
                    <a:ext uri="{9D8B030D-6E8A-4147-A177-3AD203B41FA5}">
                      <a16:colId xmlns:a16="http://schemas.microsoft.com/office/drawing/2014/main" val="20005"/>
                    </a:ext>
                  </a:extLst>
                </a:gridCol>
                <a:gridCol w="835620">
                  <a:extLst>
                    <a:ext uri="{9D8B030D-6E8A-4147-A177-3AD203B41FA5}">
                      <a16:colId xmlns:a16="http://schemas.microsoft.com/office/drawing/2014/main" val="20006"/>
                    </a:ext>
                  </a:extLst>
                </a:gridCol>
                <a:gridCol w="835620">
                  <a:extLst>
                    <a:ext uri="{9D8B030D-6E8A-4147-A177-3AD203B41FA5}">
                      <a16:colId xmlns:a16="http://schemas.microsoft.com/office/drawing/2014/main" val="20007"/>
                    </a:ext>
                  </a:extLst>
                </a:gridCol>
                <a:gridCol w="835620">
                  <a:extLst>
                    <a:ext uri="{9D8B030D-6E8A-4147-A177-3AD203B41FA5}">
                      <a16:colId xmlns:a16="http://schemas.microsoft.com/office/drawing/2014/main" val="20008"/>
                    </a:ext>
                  </a:extLst>
                </a:gridCol>
                <a:gridCol w="835620">
                  <a:extLst>
                    <a:ext uri="{9D8B030D-6E8A-4147-A177-3AD203B41FA5}">
                      <a16:colId xmlns:a16="http://schemas.microsoft.com/office/drawing/2014/main" val="20009"/>
                    </a:ext>
                  </a:extLst>
                </a:gridCol>
                <a:gridCol w="835620">
                  <a:extLst>
                    <a:ext uri="{9D8B030D-6E8A-4147-A177-3AD203B41FA5}">
                      <a16:colId xmlns:a16="http://schemas.microsoft.com/office/drawing/2014/main" val="20010"/>
                    </a:ext>
                  </a:extLst>
                </a:gridCol>
                <a:gridCol w="835620">
                  <a:extLst>
                    <a:ext uri="{9D8B030D-6E8A-4147-A177-3AD203B41FA5}">
                      <a16:colId xmlns:a16="http://schemas.microsoft.com/office/drawing/2014/main" val="20011"/>
                    </a:ext>
                  </a:extLst>
                </a:gridCol>
                <a:gridCol w="835620">
                  <a:extLst>
                    <a:ext uri="{9D8B030D-6E8A-4147-A177-3AD203B41FA5}">
                      <a16:colId xmlns:a16="http://schemas.microsoft.com/office/drawing/2014/main" val="20012"/>
                    </a:ext>
                  </a:extLst>
                </a:gridCol>
              </a:tblGrid>
              <a:tr h="259386">
                <a:tc>
                  <a:txBody>
                    <a:bodyPr/>
                    <a:lstStyle/>
                    <a:p>
                      <a:pPr>
                        <a:lnSpc>
                          <a:spcPct val="100000"/>
                        </a:lnSpc>
                        <a:spcBef>
                          <a:spcPts val="400"/>
                        </a:spcBef>
                      </a:pPr>
                      <a:r>
                        <a:rPr lang="en-US" sz="1000" kern="1200" dirty="0">
                          <a:solidFill>
                            <a:schemeClr val="tx1"/>
                          </a:solidFill>
                          <a:latin typeface="+mn-lt"/>
                          <a:ea typeface="+mn-ea"/>
                          <a:cs typeface="+mn-cs"/>
                        </a:rPr>
                        <a:t>Team Structure</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Support</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pPr>
                      <a:r>
                        <a:rPr lang="en-US" sz="800" dirty="0">
                          <a:solidFill>
                            <a:schemeClr val="tx1"/>
                          </a:solidFill>
                          <a:latin typeface="+mn-lt"/>
                        </a:rPr>
                        <a:t>Support </a:t>
                      </a:r>
                    </a:p>
                    <a:p>
                      <a:pPr algn="ctr">
                        <a:lnSpc>
                          <a:spcPct val="100000"/>
                        </a:lnSpc>
                        <a:spcBef>
                          <a:spcPts val="0"/>
                        </a:spcBef>
                      </a:pPr>
                      <a:r>
                        <a:rPr lang="en-US" sz="800" dirty="0">
                          <a:solidFill>
                            <a:schemeClr val="tx1"/>
                          </a:solidFill>
                          <a:latin typeface="+mn-lt"/>
                        </a:rPr>
                        <a:t>+</a:t>
                      </a:r>
                      <a:r>
                        <a:rPr lang="en-US" sz="800" baseline="0" dirty="0">
                          <a:solidFill>
                            <a:schemeClr val="tx1"/>
                          </a:solidFill>
                          <a:latin typeface="+mn-lt"/>
                        </a:rPr>
                        <a:t> </a:t>
                      </a:r>
                    </a:p>
                    <a:p>
                      <a:pPr algn="ctr">
                        <a:lnSpc>
                          <a:spcPct val="100000"/>
                        </a:lnSpc>
                        <a:spcBef>
                          <a:spcPts val="0"/>
                        </a:spcBef>
                      </a:pPr>
                      <a:r>
                        <a:rPr lang="en-US" sz="800" baseline="0" dirty="0">
                          <a:solidFill>
                            <a:schemeClr val="tx1"/>
                          </a:solidFill>
                          <a:latin typeface="+mn-lt"/>
                        </a:rPr>
                        <a:t>Testing</a:t>
                      </a:r>
                      <a:endParaRPr lang="en-US" sz="800" dirty="0">
                        <a:solidFill>
                          <a:schemeClr val="tx1"/>
                        </a:solidFill>
                        <a:latin typeface="+mn-lt"/>
                      </a:endParaRP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Support</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Support</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pPr>
                      <a:r>
                        <a:rPr lang="en-US" sz="800" dirty="0">
                          <a:solidFill>
                            <a:schemeClr val="tx1"/>
                          </a:solidFill>
                          <a:latin typeface="+mn-lt"/>
                        </a:rPr>
                        <a:t>Support </a:t>
                      </a:r>
                    </a:p>
                    <a:p>
                      <a:pPr algn="ctr">
                        <a:lnSpc>
                          <a:spcPct val="100000"/>
                        </a:lnSpc>
                        <a:spcBef>
                          <a:spcPts val="0"/>
                        </a:spcBef>
                      </a:pPr>
                      <a:r>
                        <a:rPr lang="en-US" sz="800" dirty="0">
                          <a:solidFill>
                            <a:schemeClr val="tx1"/>
                          </a:solidFill>
                          <a:latin typeface="+mn-lt"/>
                        </a:rPr>
                        <a:t>+</a:t>
                      </a:r>
                      <a:r>
                        <a:rPr lang="en-US" sz="800" baseline="0" dirty="0">
                          <a:solidFill>
                            <a:schemeClr val="tx1"/>
                          </a:solidFill>
                          <a:latin typeface="+mn-lt"/>
                        </a:rPr>
                        <a:t> </a:t>
                      </a:r>
                    </a:p>
                    <a:p>
                      <a:pPr algn="ctr">
                        <a:lnSpc>
                          <a:spcPct val="100000"/>
                        </a:lnSpc>
                        <a:spcBef>
                          <a:spcPts val="0"/>
                        </a:spcBef>
                      </a:pPr>
                      <a:r>
                        <a:rPr lang="en-US" sz="800" baseline="0" dirty="0">
                          <a:solidFill>
                            <a:schemeClr val="tx1"/>
                          </a:solidFill>
                          <a:latin typeface="+mn-lt"/>
                        </a:rPr>
                        <a:t>Testing</a:t>
                      </a:r>
                      <a:endParaRPr lang="en-US" sz="800" dirty="0">
                        <a:solidFill>
                          <a:schemeClr val="tx1"/>
                        </a:solidFill>
                        <a:latin typeface="+mn-lt"/>
                      </a:endParaRP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Support</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Support</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pPr>
                      <a:r>
                        <a:rPr lang="en-US" sz="800" dirty="0">
                          <a:solidFill>
                            <a:schemeClr val="tx1"/>
                          </a:solidFill>
                          <a:latin typeface="+mn-lt"/>
                        </a:rPr>
                        <a:t>Support </a:t>
                      </a:r>
                    </a:p>
                    <a:p>
                      <a:pPr algn="ctr">
                        <a:lnSpc>
                          <a:spcPct val="100000"/>
                        </a:lnSpc>
                        <a:spcBef>
                          <a:spcPts val="0"/>
                        </a:spcBef>
                      </a:pPr>
                      <a:r>
                        <a:rPr lang="en-US" sz="800" dirty="0">
                          <a:solidFill>
                            <a:schemeClr val="tx1"/>
                          </a:solidFill>
                          <a:latin typeface="+mn-lt"/>
                        </a:rPr>
                        <a:t>+</a:t>
                      </a:r>
                      <a:r>
                        <a:rPr lang="en-US" sz="800" baseline="0" dirty="0">
                          <a:solidFill>
                            <a:schemeClr val="tx1"/>
                          </a:solidFill>
                          <a:latin typeface="+mn-lt"/>
                        </a:rPr>
                        <a:t> </a:t>
                      </a:r>
                    </a:p>
                    <a:p>
                      <a:pPr algn="ctr">
                        <a:lnSpc>
                          <a:spcPct val="100000"/>
                        </a:lnSpc>
                        <a:spcBef>
                          <a:spcPts val="0"/>
                        </a:spcBef>
                      </a:pPr>
                      <a:r>
                        <a:rPr lang="en-US" sz="800" baseline="0" dirty="0">
                          <a:solidFill>
                            <a:schemeClr val="tx1"/>
                          </a:solidFill>
                          <a:latin typeface="+mn-lt"/>
                        </a:rPr>
                        <a:t>Testing</a:t>
                      </a:r>
                      <a:endParaRPr lang="en-US" sz="800" dirty="0">
                        <a:solidFill>
                          <a:schemeClr val="tx1"/>
                        </a:solidFill>
                        <a:latin typeface="+mn-lt"/>
                      </a:endParaRP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Support</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Support</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0"/>
                        </a:spcBef>
                      </a:pPr>
                      <a:r>
                        <a:rPr lang="en-US" sz="800" dirty="0">
                          <a:solidFill>
                            <a:schemeClr val="tx1"/>
                          </a:solidFill>
                          <a:latin typeface="+mn-lt"/>
                        </a:rPr>
                        <a:t>Support </a:t>
                      </a:r>
                    </a:p>
                    <a:p>
                      <a:pPr algn="ctr">
                        <a:lnSpc>
                          <a:spcPct val="100000"/>
                        </a:lnSpc>
                        <a:spcBef>
                          <a:spcPts val="0"/>
                        </a:spcBef>
                      </a:pPr>
                      <a:r>
                        <a:rPr lang="en-US" sz="800" dirty="0">
                          <a:solidFill>
                            <a:schemeClr val="tx1"/>
                          </a:solidFill>
                          <a:latin typeface="+mn-lt"/>
                        </a:rPr>
                        <a:t>+</a:t>
                      </a:r>
                      <a:r>
                        <a:rPr lang="en-US" sz="800" baseline="0" dirty="0">
                          <a:solidFill>
                            <a:schemeClr val="tx1"/>
                          </a:solidFill>
                          <a:latin typeface="+mn-lt"/>
                        </a:rPr>
                        <a:t> </a:t>
                      </a:r>
                    </a:p>
                    <a:p>
                      <a:pPr algn="ctr">
                        <a:lnSpc>
                          <a:spcPct val="100000"/>
                        </a:lnSpc>
                        <a:spcBef>
                          <a:spcPts val="0"/>
                        </a:spcBef>
                      </a:pPr>
                      <a:r>
                        <a:rPr lang="en-US" sz="800" baseline="0" dirty="0">
                          <a:solidFill>
                            <a:schemeClr val="tx1"/>
                          </a:solidFill>
                          <a:latin typeface="+mn-lt"/>
                        </a:rPr>
                        <a:t>Testing</a:t>
                      </a:r>
                      <a:endParaRPr lang="en-US" sz="800" dirty="0">
                        <a:solidFill>
                          <a:schemeClr val="tx1"/>
                        </a:solidFill>
                        <a:latin typeface="+mn-lt"/>
                      </a:endParaRP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Support</a:t>
                      </a:r>
                    </a:p>
                  </a:txBody>
                  <a:tcPr marL="45720" marR="4572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7" name="Chart 16"/>
          <p:cNvGraphicFramePr/>
          <p:nvPr>
            <p:extLst/>
          </p:nvPr>
        </p:nvGraphicFramePr>
        <p:xfrm>
          <a:off x="1545995" y="2467788"/>
          <a:ext cx="10350631" cy="595129"/>
        </p:xfrm>
        <a:graphic>
          <a:graphicData uri="http://schemas.openxmlformats.org/drawingml/2006/chart">
            <c:chart xmlns:c="http://schemas.openxmlformats.org/drawingml/2006/chart" xmlns:r="http://schemas.openxmlformats.org/officeDocument/2006/relationships" r:id="rId3"/>
          </a:graphicData>
        </a:graphic>
      </p:graphicFrame>
      <p:grpSp>
        <p:nvGrpSpPr>
          <p:cNvPr id="3" name="Group 2"/>
          <p:cNvGrpSpPr/>
          <p:nvPr/>
        </p:nvGrpSpPr>
        <p:grpSpPr>
          <a:xfrm>
            <a:off x="361119" y="3775256"/>
            <a:ext cx="8304899" cy="2260798"/>
            <a:chOff x="1787366" y="3678391"/>
            <a:chExt cx="8466426" cy="2260798"/>
          </a:xfrm>
        </p:grpSpPr>
        <p:grpSp>
          <p:nvGrpSpPr>
            <p:cNvPr id="45" name="Group 44"/>
            <p:cNvGrpSpPr/>
            <p:nvPr/>
          </p:nvGrpSpPr>
          <p:grpSpPr>
            <a:xfrm>
              <a:off x="1787366" y="3678391"/>
              <a:ext cx="8466426" cy="2260798"/>
              <a:chOff x="625310" y="1779256"/>
              <a:chExt cx="10836114" cy="3362522"/>
            </a:xfrm>
          </p:grpSpPr>
          <p:graphicFrame>
            <p:nvGraphicFramePr>
              <p:cNvPr id="47" name="Chart Placeholder 45"/>
              <p:cNvGraphicFramePr>
                <a:graphicFrameLocks/>
              </p:cNvGraphicFramePr>
              <p:nvPr>
                <p:extLst/>
              </p:nvPr>
            </p:nvGraphicFramePr>
            <p:xfrm>
              <a:off x="4724400" y="1779260"/>
              <a:ext cx="27432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48" name="Right Brace 47"/>
              <p:cNvSpPr/>
              <p:nvPr/>
            </p:nvSpPr>
            <p:spPr>
              <a:xfrm>
                <a:off x="7467600" y="2387286"/>
                <a:ext cx="443060" cy="1527143"/>
              </a:xfrm>
              <a:prstGeom prst="rightBrace">
                <a:avLst>
                  <a:gd name="adj1" fmla="val 32277"/>
                  <a:gd name="adj2" fmla="val 50000"/>
                </a:avLst>
              </a:prstGeom>
              <a:ln w="15875">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Rectangle 49"/>
              <p:cNvSpPr/>
              <p:nvPr/>
            </p:nvSpPr>
            <p:spPr>
              <a:xfrm>
                <a:off x="7910660" y="2385121"/>
                <a:ext cx="3550764" cy="1529309"/>
              </a:xfrm>
              <a:prstGeom prst="rect">
                <a:avLst/>
              </a:prstGeom>
            </p:spPr>
            <p:txBody>
              <a:bodyPr wrap="square">
                <a:spAutoFit/>
              </a:bodyPr>
              <a:lstStyle/>
              <a:p>
                <a:pPr marL="114300" lvl="1" indent="-114300">
                  <a:spcBef>
                    <a:spcPts val="600"/>
                  </a:spcBef>
                  <a:buSzPct val="100000"/>
                  <a:buFont typeface="Arial" panose="020B0604020202020204" pitchFamily="34" charset="0"/>
                  <a:buChar char="•"/>
                </a:pPr>
                <a:r>
                  <a:rPr lang="en-US" sz="1000" dirty="0">
                    <a:solidFill>
                      <a:prstClr val="black"/>
                    </a:solidFill>
                  </a:rPr>
                  <a:t>33% of the time patch support/testing is required</a:t>
                </a:r>
              </a:p>
              <a:p>
                <a:pPr marL="114300" lvl="1" indent="-114300">
                  <a:spcBef>
                    <a:spcPts val="600"/>
                  </a:spcBef>
                  <a:buSzPct val="100000"/>
                  <a:buFont typeface="Arial" panose="020B0604020202020204" pitchFamily="34" charset="0"/>
                  <a:buChar char="•"/>
                </a:pPr>
                <a:r>
                  <a:rPr lang="en-US" sz="1000" dirty="0">
                    <a:solidFill>
                      <a:prstClr val="black"/>
                    </a:solidFill>
                  </a:rPr>
                  <a:t>Increased resource leverage</a:t>
                </a:r>
              </a:p>
              <a:p>
                <a:pPr marL="114300" lvl="1" indent="-114300">
                  <a:spcBef>
                    <a:spcPts val="600"/>
                  </a:spcBef>
                  <a:buSzPct val="100000"/>
                  <a:buFont typeface="Arial" panose="020B0604020202020204" pitchFamily="34" charset="0"/>
                  <a:buChar char="•"/>
                </a:pPr>
                <a:r>
                  <a:rPr lang="en-US" sz="1000" dirty="0">
                    <a:solidFill>
                      <a:prstClr val="black"/>
                    </a:solidFill>
                  </a:rPr>
                  <a:t>Allocation based on impacted area</a:t>
                </a:r>
              </a:p>
            </p:txBody>
          </p:sp>
          <p:sp>
            <p:nvSpPr>
              <p:cNvPr id="51" name="Text Placeholder 5"/>
              <p:cNvSpPr txBox="1">
                <a:spLocks/>
              </p:cNvSpPr>
              <p:nvPr/>
            </p:nvSpPr>
            <p:spPr>
              <a:xfrm>
                <a:off x="4986327" y="4522458"/>
                <a:ext cx="2219344" cy="619320"/>
              </a:xfrm>
              <a:prstGeom prst="rect">
                <a:avLst/>
              </a:prstGeom>
            </p:spPr>
            <p:txBody>
              <a:bodyPr/>
              <a:lstStyle>
                <a:lvl1pPr marL="0" indent="0" algn="l" defTabSz="914400" rtl="0" eaLnBrk="1" latinLnBrk="0" hangingPunct="1">
                  <a:spcBef>
                    <a:spcPts val="0"/>
                  </a:spcBef>
                  <a:spcAft>
                    <a:spcPts val="1000"/>
                  </a:spcAft>
                  <a:buSzPct val="100000"/>
                  <a:buFontTx/>
                  <a:buNone/>
                  <a:defRPr sz="1200" b="0" kern="1200">
                    <a:solidFill>
                      <a:schemeClr val="tx1"/>
                    </a:solidFill>
                    <a:latin typeface="+mn-lt"/>
                    <a:ea typeface="+mn-ea"/>
                    <a:cs typeface="+mn-cs"/>
                  </a:defRPr>
                </a:lvl1pPr>
                <a:lvl2pPr marL="127000" indent="-127000" algn="l" defTabSz="914400" rtl="0" eaLnBrk="1" latinLnBrk="0" hangingPunct="1">
                  <a:spcBef>
                    <a:spcPts val="0"/>
                  </a:spcBef>
                  <a:spcAft>
                    <a:spcPts val="1000"/>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798513" rtl="0" eaLnBrk="1" latinLnBrk="0" hangingPunct="1">
                  <a:spcBef>
                    <a:spcPts val="0"/>
                  </a:spcBef>
                  <a:spcAft>
                    <a:spcPts val="100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Aft>
                    <a:spcPts val="0"/>
                  </a:spcAft>
                </a:pPr>
                <a:r>
                  <a:rPr lang="en-US" sz="1050" b="1" dirty="0">
                    <a:solidFill>
                      <a:srgbClr val="86BC25"/>
                    </a:solidFill>
                  </a:rPr>
                  <a:t>PATCH </a:t>
                </a:r>
              </a:p>
              <a:p>
                <a:pPr algn="ctr">
                  <a:spcAft>
                    <a:spcPts val="0"/>
                  </a:spcAft>
                </a:pPr>
                <a:r>
                  <a:rPr lang="en-US" sz="1050" dirty="0">
                    <a:solidFill>
                      <a:prstClr val="black"/>
                    </a:solidFill>
                  </a:rPr>
                  <a:t>vs </a:t>
                </a:r>
              </a:p>
              <a:p>
                <a:pPr algn="ctr">
                  <a:spcAft>
                    <a:spcPts val="0"/>
                  </a:spcAft>
                </a:pPr>
                <a:r>
                  <a:rPr lang="en-US" sz="1050" b="1" dirty="0">
                    <a:solidFill>
                      <a:prstClr val="white">
                        <a:lumMod val="65000"/>
                      </a:prstClr>
                    </a:solidFill>
                  </a:rPr>
                  <a:t>REGULAR SUPPORT</a:t>
                </a:r>
              </a:p>
              <a:p>
                <a:pPr algn="ctr">
                  <a:spcAft>
                    <a:spcPts val="0"/>
                  </a:spcAft>
                </a:pPr>
                <a:endParaRPr lang="en-US" sz="1050" dirty="0">
                  <a:solidFill>
                    <a:prstClr val="black"/>
                  </a:solidFill>
                </a:endParaRPr>
              </a:p>
            </p:txBody>
          </p:sp>
          <p:sp>
            <p:nvSpPr>
              <p:cNvPr id="55" name="Right Brace 54"/>
              <p:cNvSpPr/>
              <p:nvPr/>
            </p:nvSpPr>
            <p:spPr>
              <a:xfrm rot="10800000">
                <a:off x="4176074" y="1779256"/>
                <a:ext cx="443060" cy="2743201"/>
              </a:xfrm>
              <a:prstGeom prst="rightBrace">
                <a:avLst>
                  <a:gd name="adj1" fmla="val 32277"/>
                  <a:gd name="adj2" fmla="val 50000"/>
                </a:avLst>
              </a:prstGeom>
              <a:ln w="15875">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6" name="Rectangle 55"/>
              <p:cNvSpPr/>
              <p:nvPr/>
            </p:nvSpPr>
            <p:spPr>
              <a:xfrm>
                <a:off x="625310" y="2467047"/>
                <a:ext cx="3550762" cy="1447382"/>
              </a:xfrm>
              <a:prstGeom prst="rect">
                <a:avLst/>
              </a:prstGeom>
            </p:spPr>
            <p:txBody>
              <a:bodyPr wrap="square">
                <a:spAutoFit/>
              </a:bodyPr>
              <a:lstStyle/>
              <a:p>
                <a:pPr marL="114300" lvl="1" indent="-114300">
                  <a:spcBef>
                    <a:spcPts val="600"/>
                  </a:spcBef>
                  <a:buSzPct val="100000"/>
                  <a:buFont typeface="Arial" panose="020B0604020202020204" pitchFamily="34" charset="0"/>
                  <a:buChar char="•"/>
                </a:pPr>
                <a:r>
                  <a:rPr lang="en-US" sz="1000" dirty="0">
                    <a:solidFill>
                      <a:prstClr val="black"/>
                    </a:solidFill>
                  </a:rPr>
                  <a:t>Regular support will continue 100% of the time</a:t>
                </a:r>
              </a:p>
              <a:p>
                <a:pPr marL="114300" lvl="1" indent="-114300">
                  <a:spcBef>
                    <a:spcPts val="600"/>
                  </a:spcBef>
                  <a:buSzPct val="100000"/>
                  <a:buFont typeface="Arial" panose="020B0604020202020204" pitchFamily="34" charset="0"/>
                  <a:buChar char="•"/>
                </a:pPr>
                <a:r>
                  <a:rPr lang="en-US" sz="1000" dirty="0">
                    <a:solidFill>
                      <a:prstClr val="black"/>
                    </a:solidFill>
                  </a:rPr>
                  <a:t>Manage only daily production issues</a:t>
                </a:r>
              </a:p>
            </p:txBody>
          </p:sp>
        </p:grpSp>
        <p:sp>
          <p:nvSpPr>
            <p:cNvPr id="2" name="Rectangle 1"/>
            <p:cNvSpPr/>
            <p:nvPr/>
          </p:nvSpPr>
          <p:spPr>
            <a:xfrm>
              <a:off x="5618133" y="4370088"/>
              <a:ext cx="894758" cy="461665"/>
            </a:xfrm>
            <a:prstGeom prst="rect">
              <a:avLst/>
            </a:prstGeom>
          </p:spPr>
          <p:txBody>
            <a:bodyPr wrap="square">
              <a:spAutoFit/>
            </a:bodyPr>
            <a:lstStyle/>
            <a:p>
              <a:pPr algn="ctr">
                <a:defRPr sz="3600" b="0" i="0" u="none" strike="noStrike" kern="1200" baseline="0">
                  <a:solidFill>
                    <a:srgbClr val="046A38"/>
                  </a:solidFill>
                  <a:latin typeface="+mn-lt"/>
                  <a:ea typeface="+mn-ea"/>
                  <a:cs typeface="+mn-cs"/>
                </a:defRPr>
              </a:pPr>
              <a:r>
                <a:rPr lang="en-US" sz="1200" dirty="0">
                  <a:solidFill>
                    <a:srgbClr val="046A38"/>
                  </a:solidFill>
                </a:rPr>
                <a:t>Calendar Year</a:t>
              </a:r>
            </a:p>
          </p:txBody>
        </p:sp>
      </p:grpSp>
      <p:sp>
        <p:nvSpPr>
          <p:cNvPr id="19" name="SHP_229"/>
          <p:cNvSpPr txBox="1">
            <a:spLocks/>
          </p:cNvSpPr>
          <p:nvPr/>
        </p:nvSpPr>
        <p:spPr bwMode="gray">
          <a:xfrm>
            <a:off x="8666018" y="3492418"/>
            <a:ext cx="3144982" cy="2934027"/>
          </a:xfrm>
          <a:prstGeom prst="rect">
            <a:avLst/>
          </a:prstGeom>
          <a:ln w="12700">
            <a:solidFill>
              <a:schemeClr val="accent1"/>
            </a:solidFill>
          </a:ln>
        </p:spPr>
        <p:txBody>
          <a:bodyPr lIns="0" tIns="0" rIns="0" bIns="0"/>
          <a:lstStyle/>
          <a:p>
            <a:pPr marL="0" lvl="1" algn="ctr">
              <a:spcBef>
                <a:spcPts val="600"/>
              </a:spcBef>
              <a:buSzPct val="100000"/>
            </a:pPr>
            <a:r>
              <a:rPr lang="en-US" sz="1050" b="1" dirty="0">
                <a:solidFill>
                  <a:prstClr val="black"/>
                </a:solidFill>
              </a:rPr>
              <a:t>Activities during the Advisory Phase (phase between patching)</a:t>
            </a:r>
          </a:p>
          <a:p>
            <a:pPr marL="114300" lvl="1" indent="-114300">
              <a:spcBef>
                <a:spcPts val="600"/>
              </a:spcBef>
              <a:buSzPct val="100000"/>
              <a:buFont typeface="Arial" panose="020B0604020202020204" pitchFamily="34" charset="0"/>
              <a:buChar char="•"/>
            </a:pPr>
            <a:r>
              <a:rPr lang="en-US" sz="1000" dirty="0">
                <a:solidFill>
                  <a:prstClr val="black"/>
                </a:solidFill>
              </a:rPr>
              <a:t>Design and Development of Enhancements and Change Requests for modified scope and functionality</a:t>
            </a:r>
          </a:p>
          <a:p>
            <a:pPr marL="114300" lvl="1" indent="-114300">
              <a:spcBef>
                <a:spcPts val="600"/>
              </a:spcBef>
              <a:buSzPct val="100000"/>
              <a:buFont typeface="Arial" panose="020B0604020202020204" pitchFamily="34" charset="0"/>
              <a:buChar char="•"/>
            </a:pPr>
            <a:r>
              <a:rPr lang="en-US" sz="1000" dirty="0">
                <a:solidFill>
                  <a:prstClr val="black"/>
                </a:solidFill>
              </a:rPr>
              <a:t>Perform Proof-of-Concept and Demonstrations of new functionality available through new releases</a:t>
            </a:r>
          </a:p>
          <a:p>
            <a:pPr marL="114300" lvl="1" indent="-114300">
              <a:spcBef>
                <a:spcPts val="600"/>
              </a:spcBef>
              <a:buSzPct val="100000"/>
              <a:buFont typeface="Arial" panose="020B0604020202020204" pitchFamily="34" charset="0"/>
              <a:buChar char="•"/>
            </a:pPr>
            <a:r>
              <a:rPr lang="en-US" sz="1000" dirty="0">
                <a:solidFill>
                  <a:prstClr val="black"/>
                </a:solidFill>
              </a:rPr>
              <a:t>Design and implement new modules or functionality</a:t>
            </a:r>
          </a:p>
          <a:p>
            <a:pPr marL="114300" lvl="1" indent="-114300">
              <a:spcBef>
                <a:spcPts val="600"/>
              </a:spcBef>
              <a:buSzPct val="100000"/>
              <a:buFont typeface="Arial" panose="020B0604020202020204" pitchFamily="34" charset="0"/>
              <a:buChar char="•"/>
            </a:pPr>
            <a:r>
              <a:rPr lang="en-US" sz="1000" dirty="0">
                <a:solidFill>
                  <a:prstClr val="black"/>
                </a:solidFill>
              </a:rPr>
              <a:t>Prepare training documentation and conduct knowledge transfer sessions around new functionality through new releases</a:t>
            </a:r>
          </a:p>
          <a:p>
            <a:pPr marL="114300" lvl="1" indent="-114300">
              <a:spcBef>
                <a:spcPts val="600"/>
              </a:spcBef>
              <a:buSzPct val="100000"/>
              <a:buFont typeface="Arial" panose="020B0604020202020204" pitchFamily="34" charset="0"/>
              <a:buChar char="•"/>
            </a:pPr>
            <a:r>
              <a:rPr lang="en-US" sz="1000" dirty="0">
                <a:solidFill>
                  <a:prstClr val="black"/>
                </a:solidFill>
              </a:rPr>
              <a:t>Assess and design for solutions where standard functionality through new releases can replace previously built custom solutions</a:t>
            </a:r>
          </a:p>
          <a:p>
            <a:pPr marL="114300" lvl="1" indent="-114300">
              <a:spcBef>
                <a:spcPts val="600"/>
              </a:spcBef>
              <a:buSzPct val="100000"/>
              <a:buFont typeface="Arial" panose="020B0604020202020204" pitchFamily="34" charset="0"/>
              <a:buChar char="•"/>
            </a:pPr>
            <a:endParaRPr lang="en-US" sz="1000" dirty="0">
              <a:solidFill>
                <a:prstClr val="black"/>
              </a:solidFill>
            </a:endParaRPr>
          </a:p>
        </p:txBody>
      </p:sp>
    </p:spTree>
    <p:extLst>
      <p:ext uri="{BB962C8B-B14F-4D97-AF65-F5344CB8AC3E}">
        <p14:creationId xmlns:p14="http://schemas.microsoft.com/office/powerpoint/2010/main" val="89762259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Continuous Support : Resource deployment strategy</a:t>
            </a:r>
            <a:br>
              <a:rPr lang="en-US" dirty="0"/>
            </a:br>
            <a:endParaRPr lang="en-US" dirty="0"/>
          </a:p>
        </p:txBody>
      </p:sp>
      <p:graphicFrame>
        <p:nvGraphicFramePr>
          <p:cNvPr id="20" name="Table 19"/>
          <p:cNvGraphicFramePr>
            <a:graphicFrameLocks noGrp="1"/>
          </p:cNvGraphicFramePr>
          <p:nvPr>
            <p:extLst>
              <p:ext uri="{D42A27DB-BD31-4B8C-83A1-F6EECF244321}">
                <p14:modId xmlns:p14="http://schemas.microsoft.com/office/powerpoint/2010/main" val="2977856829"/>
              </p:ext>
            </p:extLst>
          </p:nvPr>
        </p:nvGraphicFramePr>
        <p:xfrm>
          <a:off x="469900" y="3717502"/>
          <a:ext cx="11233323" cy="426720"/>
        </p:xfrm>
        <a:graphic>
          <a:graphicData uri="http://schemas.openxmlformats.org/drawingml/2006/table">
            <a:tbl>
              <a:tblPr bandRow="1">
                <a:tableStyleId>{5C22544A-7EE6-4342-B048-85BDC9FD1C3A}</a:tableStyleId>
              </a:tblPr>
              <a:tblGrid>
                <a:gridCol w="1222695">
                  <a:extLst>
                    <a:ext uri="{9D8B030D-6E8A-4147-A177-3AD203B41FA5}">
                      <a16:colId xmlns:a16="http://schemas.microsoft.com/office/drawing/2014/main" val="20000"/>
                    </a:ext>
                  </a:extLst>
                </a:gridCol>
                <a:gridCol w="834219">
                  <a:extLst>
                    <a:ext uri="{9D8B030D-6E8A-4147-A177-3AD203B41FA5}">
                      <a16:colId xmlns:a16="http://schemas.microsoft.com/office/drawing/2014/main" val="20001"/>
                    </a:ext>
                  </a:extLst>
                </a:gridCol>
                <a:gridCol w="834219">
                  <a:extLst>
                    <a:ext uri="{9D8B030D-6E8A-4147-A177-3AD203B41FA5}">
                      <a16:colId xmlns:a16="http://schemas.microsoft.com/office/drawing/2014/main" val="20002"/>
                    </a:ext>
                  </a:extLst>
                </a:gridCol>
                <a:gridCol w="834219">
                  <a:extLst>
                    <a:ext uri="{9D8B030D-6E8A-4147-A177-3AD203B41FA5}">
                      <a16:colId xmlns:a16="http://schemas.microsoft.com/office/drawing/2014/main" val="20003"/>
                    </a:ext>
                  </a:extLst>
                </a:gridCol>
                <a:gridCol w="834219">
                  <a:extLst>
                    <a:ext uri="{9D8B030D-6E8A-4147-A177-3AD203B41FA5}">
                      <a16:colId xmlns:a16="http://schemas.microsoft.com/office/drawing/2014/main" val="20004"/>
                    </a:ext>
                  </a:extLst>
                </a:gridCol>
                <a:gridCol w="834219">
                  <a:extLst>
                    <a:ext uri="{9D8B030D-6E8A-4147-A177-3AD203B41FA5}">
                      <a16:colId xmlns:a16="http://schemas.microsoft.com/office/drawing/2014/main" val="20005"/>
                    </a:ext>
                  </a:extLst>
                </a:gridCol>
                <a:gridCol w="834219">
                  <a:extLst>
                    <a:ext uri="{9D8B030D-6E8A-4147-A177-3AD203B41FA5}">
                      <a16:colId xmlns:a16="http://schemas.microsoft.com/office/drawing/2014/main" val="20006"/>
                    </a:ext>
                  </a:extLst>
                </a:gridCol>
                <a:gridCol w="834219">
                  <a:extLst>
                    <a:ext uri="{9D8B030D-6E8A-4147-A177-3AD203B41FA5}">
                      <a16:colId xmlns:a16="http://schemas.microsoft.com/office/drawing/2014/main" val="20007"/>
                    </a:ext>
                  </a:extLst>
                </a:gridCol>
                <a:gridCol w="834219">
                  <a:extLst>
                    <a:ext uri="{9D8B030D-6E8A-4147-A177-3AD203B41FA5}">
                      <a16:colId xmlns:a16="http://schemas.microsoft.com/office/drawing/2014/main" val="20008"/>
                    </a:ext>
                  </a:extLst>
                </a:gridCol>
                <a:gridCol w="834219">
                  <a:extLst>
                    <a:ext uri="{9D8B030D-6E8A-4147-A177-3AD203B41FA5}">
                      <a16:colId xmlns:a16="http://schemas.microsoft.com/office/drawing/2014/main" val="20009"/>
                    </a:ext>
                  </a:extLst>
                </a:gridCol>
                <a:gridCol w="834219">
                  <a:extLst>
                    <a:ext uri="{9D8B030D-6E8A-4147-A177-3AD203B41FA5}">
                      <a16:colId xmlns:a16="http://schemas.microsoft.com/office/drawing/2014/main" val="20010"/>
                    </a:ext>
                  </a:extLst>
                </a:gridCol>
                <a:gridCol w="834219">
                  <a:extLst>
                    <a:ext uri="{9D8B030D-6E8A-4147-A177-3AD203B41FA5}">
                      <a16:colId xmlns:a16="http://schemas.microsoft.com/office/drawing/2014/main" val="20011"/>
                    </a:ext>
                  </a:extLst>
                </a:gridCol>
                <a:gridCol w="834219">
                  <a:extLst>
                    <a:ext uri="{9D8B030D-6E8A-4147-A177-3AD203B41FA5}">
                      <a16:colId xmlns:a16="http://schemas.microsoft.com/office/drawing/2014/main" val="20012"/>
                    </a:ext>
                  </a:extLst>
                </a:gridCol>
              </a:tblGrid>
              <a:tr h="145545">
                <a:tc>
                  <a:txBody>
                    <a:bodyPr/>
                    <a:lstStyle/>
                    <a:p>
                      <a:pPr>
                        <a:lnSpc>
                          <a:spcPct val="100000"/>
                        </a:lnSpc>
                        <a:spcBef>
                          <a:spcPts val="400"/>
                        </a:spcBef>
                      </a:pPr>
                      <a:r>
                        <a:rPr lang="en-US" sz="800" dirty="0">
                          <a:solidFill>
                            <a:schemeClr val="tx1"/>
                          </a:solidFill>
                          <a:latin typeface="+mn-lt"/>
                        </a:rPr>
                        <a:t>Calendar</a:t>
                      </a:r>
                      <a:r>
                        <a:rPr lang="en-US" sz="800" baseline="0" dirty="0">
                          <a:solidFill>
                            <a:schemeClr val="tx1"/>
                          </a:solidFill>
                          <a:latin typeface="+mn-lt"/>
                        </a:rPr>
                        <a:t> Month</a:t>
                      </a:r>
                      <a:r>
                        <a:rPr lang="en-US" sz="800" baseline="30000" dirty="0">
                          <a:solidFill>
                            <a:schemeClr val="tx1"/>
                          </a:solidFill>
                          <a:latin typeface="+mn-lt"/>
                        </a:rPr>
                        <a:t>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Jan</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Feb</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Mar</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Apr</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May</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Jun</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Jul</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Aug</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Sep</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Oct</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Nov</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r>
                        <a:rPr lang="en-US" sz="800" dirty="0">
                          <a:solidFill>
                            <a:schemeClr val="tx1"/>
                          </a:solidFill>
                          <a:latin typeface="+mn-lt"/>
                        </a:rPr>
                        <a:t>Dec</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5545">
                <a:tc>
                  <a:txBody>
                    <a:bodyPr/>
                    <a:lstStyle/>
                    <a:p>
                      <a:pPr marL="0" algn="l" defTabSz="1219170" rtl="0" eaLnBrk="1" latinLnBrk="0" hangingPunct="1">
                        <a:lnSpc>
                          <a:spcPct val="100000"/>
                        </a:lnSpc>
                        <a:spcBef>
                          <a:spcPts val="400"/>
                        </a:spcBef>
                      </a:pPr>
                      <a:r>
                        <a:rPr lang="en-US" sz="800" kern="1200" dirty="0">
                          <a:solidFill>
                            <a:schemeClr val="tx1"/>
                          </a:solidFill>
                          <a:latin typeface="+mn-lt"/>
                          <a:ea typeface="+mn-ea"/>
                          <a:cs typeface="+mn-cs"/>
                        </a:rPr>
                        <a:t>Patching Schedule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p>
                      <a:pPr algn="ctr">
                        <a:lnSpc>
                          <a:spcPct val="100000"/>
                        </a:lnSpc>
                        <a:spcBef>
                          <a:spcPts val="400"/>
                        </a:spcBef>
                      </a:pPr>
                      <a:endParaRPr lang="en-US" sz="800" dirty="0">
                        <a:solidFill>
                          <a:schemeClr val="tx1"/>
                        </a:solidFill>
                        <a:latin typeface="+mn-lt"/>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BBBCBC"/>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pSp>
        <p:nvGrpSpPr>
          <p:cNvPr id="48" name="Group 47"/>
          <p:cNvGrpSpPr/>
          <p:nvPr/>
        </p:nvGrpSpPr>
        <p:grpSpPr>
          <a:xfrm>
            <a:off x="2484699" y="4159061"/>
            <a:ext cx="2549197" cy="1883494"/>
            <a:chOff x="1768280" y="4206240"/>
            <a:chExt cx="2549197" cy="1742074"/>
          </a:xfrm>
        </p:grpSpPr>
        <p:sp>
          <p:nvSpPr>
            <p:cNvPr id="27" name="Trapezoid 2"/>
            <p:cNvSpPr/>
            <p:nvPr/>
          </p:nvSpPr>
          <p:spPr bwMode="gray">
            <a:xfrm>
              <a:off x="1768280" y="4206240"/>
              <a:ext cx="2549197" cy="502452"/>
            </a:xfrm>
            <a:custGeom>
              <a:avLst/>
              <a:gdLst>
                <a:gd name="connsiteX0" fmla="*/ 0 w 2873830"/>
                <a:gd name="connsiteY0" fmla="*/ 682217 h 682217"/>
                <a:gd name="connsiteX1" fmla="*/ 527906 w 2873830"/>
                <a:gd name="connsiteY1" fmla="*/ 0 h 682217"/>
                <a:gd name="connsiteX2" fmla="*/ 2345924 w 2873830"/>
                <a:gd name="connsiteY2" fmla="*/ 0 h 682217"/>
                <a:gd name="connsiteX3" fmla="*/ 2873830 w 2873830"/>
                <a:gd name="connsiteY3" fmla="*/ 682217 h 682217"/>
                <a:gd name="connsiteX4" fmla="*/ 0 w 2873830"/>
                <a:gd name="connsiteY4" fmla="*/ 682217 h 682217"/>
                <a:gd name="connsiteX0" fmla="*/ 0 w 2510973"/>
                <a:gd name="connsiteY0" fmla="*/ 696731 h 696731"/>
                <a:gd name="connsiteX1" fmla="*/ 165049 w 2510973"/>
                <a:gd name="connsiteY1" fmla="*/ 0 h 696731"/>
                <a:gd name="connsiteX2" fmla="*/ 1983067 w 2510973"/>
                <a:gd name="connsiteY2" fmla="*/ 0 h 696731"/>
                <a:gd name="connsiteX3" fmla="*/ 2510973 w 2510973"/>
                <a:gd name="connsiteY3" fmla="*/ 682217 h 696731"/>
                <a:gd name="connsiteX4" fmla="*/ 0 w 2510973"/>
                <a:gd name="connsiteY4" fmla="*/ 696731 h 696731"/>
                <a:gd name="connsiteX0" fmla="*/ 0 w 8316687"/>
                <a:gd name="connsiteY0" fmla="*/ 696731 h 696731"/>
                <a:gd name="connsiteX1" fmla="*/ 165049 w 8316687"/>
                <a:gd name="connsiteY1" fmla="*/ 0 h 696731"/>
                <a:gd name="connsiteX2" fmla="*/ 1983067 w 8316687"/>
                <a:gd name="connsiteY2" fmla="*/ 0 h 696731"/>
                <a:gd name="connsiteX3" fmla="*/ 8316687 w 8316687"/>
                <a:gd name="connsiteY3" fmla="*/ 667703 h 696731"/>
                <a:gd name="connsiteX4" fmla="*/ 0 w 8316687"/>
                <a:gd name="connsiteY4" fmla="*/ 696731 h 696731"/>
                <a:gd name="connsiteX0" fmla="*/ 0 w 8333940"/>
                <a:gd name="connsiteY0" fmla="*/ 685229 h 685229"/>
                <a:gd name="connsiteX1" fmla="*/ 182302 w 8333940"/>
                <a:gd name="connsiteY1" fmla="*/ 0 h 685229"/>
                <a:gd name="connsiteX2" fmla="*/ 2000320 w 8333940"/>
                <a:gd name="connsiteY2" fmla="*/ 0 h 685229"/>
                <a:gd name="connsiteX3" fmla="*/ 8333940 w 8333940"/>
                <a:gd name="connsiteY3" fmla="*/ 667703 h 685229"/>
                <a:gd name="connsiteX4" fmla="*/ 0 w 8333940"/>
                <a:gd name="connsiteY4" fmla="*/ 685229 h 685229"/>
                <a:gd name="connsiteX0" fmla="*/ 0 w 8333940"/>
                <a:gd name="connsiteY0" fmla="*/ 673727 h 673727"/>
                <a:gd name="connsiteX1" fmla="*/ 182302 w 8333940"/>
                <a:gd name="connsiteY1" fmla="*/ 0 h 673727"/>
                <a:gd name="connsiteX2" fmla="*/ 2000320 w 8333940"/>
                <a:gd name="connsiteY2" fmla="*/ 0 h 673727"/>
                <a:gd name="connsiteX3" fmla="*/ 8333940 w 8333940"/>
                <a:gd name="connsiteY3" fmla="*/ 667703 h 673727"/>
                <a:gd name="connsiteX4" fmla="*/ 0 w 8333940"/>
                <a:gd name="connsiteY4" fmla="*/ 673727 h 673727"/>
                <a:gd name="connsiteX0" fmla="*/ 0 w 8333940"/>
                <a:gd name="connsiteY0" fmla="*/ 673727 h 673727"/>
                <a:gd name="connsiteX1" fmla="*/ 182302 w 8333940"/>
                <a:gd name="connsiteY1" fmla="*/ 0 h 673727"/>
                <a:gd name="connsiteX2" fmla="*/ 2801602 w 8333940"/>
                <a:gd name="connsiteY2" fmla="*/ 0 h 673727"/>
                <a:gd name="connsiteX3" fmla="*/ 8333940 w 8333940"/>
                <a:gd name="connsiteY3" fmla="*/ 667703 h 673727"/>
                <a:gd name="connsiteX4" fmla="*/ 0 w 8333940"/>
                <a:gd name="connsiteY4" fmla="*/ 673727 h 673727"/>
                <a:gd name="connsiteX0" fmla="*/ 0 w 8333940"/>
                <a:gd name="connsiteY0" fmla="*/ 673727 h 673727"/>
                <a:gd name="connsiteX1" fmla="*/ 182302 w 8333940"/>
                <a:gd name="connsiteY1" fmla="*/ 0 h 673727"/>
                <a:gd name="connsiteX2" fmla="*/ 2832422 w 8333940"/>
                <a:gd name="connsiteY2" fmla="*/ 0 h 673727"/>
                <a:gd name="connsiteX3" fmla="*/ 8333940 w 8333940"/>
                <a:gd name="connsiteY3" fmla="*/ 667703 h 673727"/>
                <a:gd name="connsiteX4" fmla="*/ 0 w 8333940"/>
                <a:gd name="connsiteY4" fmla="*/ 673727 h 673727"/>
                <a:gd name="connsiteX0" fmla="*/ 0 w 8333940"/>
                <a:gd name="connsiteY0" fmla="*/ 673727 h 673727"/>
                <a:gd name="connsiteX1" fmla="*/ 151484 w 8333940"/>
                <a:gd name="connsiteY1" fmla="*/ 0 h 673727"/>
                <a:gd name="connsiteX2" fmla="*/ 2832422 w 8333940"/>
                <a:gd name="connsiteY2" fmla="*/ 0 h 673727"/>
                <a:gd name="connsiteX3" fmla="*/ 8333940 w 8333940"/>
                <a:gd name="connsiteY3" fmla="*/ 667703 h 673727"/>
                <a:gd name="connsiteX4" fmla="*/ 0 w 8333940"/>
                <a:gd name="connsiteY4" fmla="*/ 673727 h 673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33940" h="673727">
                  <a:moveTo>
                    <a:pt x="0" y="673727"/>
                  </a:moveTo>
                  <a:lnTo>
                    <a:pt x="151484" y="0"/>
                  </a:lnTo>
                  <a:lnTo>
                    <a:pt x="2832422" y="0"/>
                  </a:lnTo>
                  <a:lnTo>
                    <a:pt x="8333940" y="667703"/>
                  </a:lnTo>
                  <a:lnTo>
                    <a:pt x="0" y="673727"/>
                  </a:lnTo>
                  <a:close/>
                </a:path>
              </a:pathLst>
            </a:custGeom>
            <a:gradFill flip="none" rotWithShape="1">
              <a:gsLst>
                <a:gs pos="4000">
                  <a:srgbClr val="92D050"/>
                </a:gs>
                <a:gs pos="50000">
                  <a:schemeClr val="accent1">
                    <a:lumMod val="40000"/>
                    <a:lumOff val="60000"/>
                  </a:schemeClr>
                </a:gs>
                <a:gs pos="100000">
                  <a:schemeClr val="accent1">
                    <a:lumMod val="20000"/>
                    <a:lumOff val="80000"/>
                  </a:schemeClr>
                </a:gs>
              </a:gsLst>
              <a:lin ang="5400000" scaled="1"/>
              <a:tileRect/>
            </a:gradFill>
            <a:ln w="19050" algn="ctr">
              <a:noFill/>
              <a:miter lim="800000"/>
              <a:headEnd/>
              <a:tailEnd/>
            </a:ln>
          </p:spPr>
          <p:txBody>
            <a:bodyPr wrap="square" lIns="88900" tIns="0" rIns="88900" bIns="88900" rtlCol="0" anchor="b" anchorCtr="0"/>
            <a:lstStyle/>
            <a:p>
              <a:pPr defTabSz="914400">
                <a:defRPr/>
              </a:pPr>
              <a:r>
                <a:rPr lang="en-US" sz="1000" kern="0" dirty="0">
                  <a:latin typeface="+mj-lt"/>
                </a:rPr>
                <a:t>Patch deployment </a:t>
              </a:r>
            </a:p>
            <a:p>
              <a:pPr defTabSz="914400">
                <a:defRPr/>
              </a:pPr>
              <a:r>
                <a:rPr lang="en-US" sz="1000" kern="0" dirty="0">
                  <a:latin typeface="+mj-lt"/>
                </a:rPr>
                <a:t>and testing</a:t>
              </a:r>
              <a:endParaRPr lang="en-US" sz="1200" kern="0" dirty="0">
                <a:latin typeface="+mj-lt"/>
              </a:endParaRPr>
            </a:p>
          </p:txBody>
        </p:sp>
        <p:sp>
          <p:nvSpPr>
            <p:cNvPr id="28" name="SHP_229"/>
            <p:cNvSpPr txBox="1">
              <a:spLocks/>
            </p:cNvSpPr>
            <p:nvPr/>
          </p:nvSpPr>
          <p:spPr bwMode="gray">
            <a:xfrm>
              <a:off x="1768782" y="4730378"/>
              <a:ext cx="2548695" cy="1217936"/>
            </a:xfrm>
            <a:prstGeom prst="rect">
              <a:avLst/>
            </a:prstGeom>
          </p:spPr>
          <p:txBody>
            <a:bodyPr lIns="0" tIns="0" rIns="0" bIns="0"/>
            <a:lstStyle/>
            <a:p>
              <a:pPr marL="114300" lvl="1" indent="-114300">
                <a:spcBef>
                  <a:spcPts val="600"/>
                </a:spcBef>
                <a:buSzPct val="100000"/>
                <a:buFont typeface="Arial" panose="020B0604020202020204" pitchFamily="34" charset="0"/>
                <a:buChar char="•"/>
              </a:pPr>
              <a:r>
                <a:rPr lang="en-US" sz="900" dirty="0">
                  <a:latin typeface="+mj-lt"/>
                </a:rPr>
                <a:t>Timeline: As per </a:t>
              </a:r>
              <a:r>
                <a:rPr lang="en-US" sz="900" dirty="0">
                  <a:latin typeface="+mj-lt"/>
                  <a:hlinkClick r:id="rId2" action="ppaction://hlinksldjump"/>
                </a:rPr>
                <a:t>Oracle guidelines</a:t>
              </a:r>
              <a:endParaRPr lang="en-US" sz="900" dirty="0">
                <a:latin typeface="+mj-lt"/>
              </a:endParaRPr>
            </a:p>
            <a:p>
              <a:pPr marL="114300" lvl="1" indent="-114300">
                <a:spcBef>
                  <a:spcPts val="600"/>
                </a:spcBef>
                <a:buSzPct val="100000"/>
                <a:buFont typeface="Arial" panose="020B0604020202020204" pitchFamily="34" charset="0"/>
                <a:buChar char="•"/>
              </a:pPr>
              <a:r>
                <a:rPr lang="en-US" sz="900" dirty="0">
                  <a:latin typeface="+mj-lt"/>
                </a:rPr>
                <a:t>Resource deployment</a:t>
              </a:r>
            </a:p>
            <a:p>
              <a:pPr marL="254000" lvl="2" indent="-114300">
                <a:spcBef>
                  <a:spcPts val="600"/>
                </a:spcBef>
                <a:buSzPct val="100000"/>
                <a:buFont typeface="Arial" panose="020B0604020202020204" pitchFamily="34" charset="0"/>
                <a:buChar char="−"/>
              </a:pPr>
              <a:r>
                <a:rPr lang="en-US" sz="900" dirty="0">
                  <a:latin typeface="+mj-lt"/>
                </a:rPr>
                <a:t>Model based on </a:t>
              </a:r>
              <a:r>
                <a:rPr lang="en-US" sz="900" dirty="0">
                  <a:latin typeface="+mj-lt"/>
                  <a:hlinkClick r:id="rId3" action="ppaction://hlinksldjump"/>
                </a:rPr>
                <a:t>Testing Automation strategy</a:t>
              </a:r>
              <a:endParaRPr lang="en-US" sz="900" dirty="0">
                <a:latin typeface="+mj-lt"/>
              </a:endParaRPr>
            </a:p>
            <a:p>
              <a:pPr marL="254000" lvl="2" indent="-114300">
                <a:spcBef>
                  <a:spcPts val="600"/>
                </a:spcBef>
                <a:buSzPct val="100000"/>
                <a:buFont typeface="Arial" panose="020B0604020202020204" pitchFamily="34" charset="0"/>
                <a:buChar char="−"/>
              </a:pPr>
              <a:r>
                <a:rPr lang="en-US" sz="900" dirty="0">
                  <a:latin typeface="+mj-lt"/>
                </a:rPr>
                <a:t>Deployment from Execution Team (4 weeks minimum)</a:t>
              </a:r>
            </a:p>
            <a:p>
              <a:pPr marL="254000" lvl="2" indent="-114300">
                <a:spcBef>
                  <a:spcPts val="600"/>
                </a:spcBef>
                <a:buSzPct val="100000"/>
                <a:buFont typeface="Arial" panose="020B0604020202020204" pitchFamily="34" charset="0"/>
                <a:buChar char="−"/>
              </a:pPr>
              <a:r>
                <a:rPr lang="en-US" sz="900" dirty="0">
                  <a:latin typeface="+mj-lt"/>
                </a:rPr>
                <a:t>Advisory team for 1 week of Prep sessions (on-need basis)</a:t>
              </a:r>
            </a:p>
          </p:txBody>
        </p:sp>
      </p:grpSp>
      <p:grpSp>
        <p:nvGrpSpPr>
          <p:cNvPr id="49" name="Group 48"/>
          <p:cNvGrpSpPr/>
          <p:nvPr/>
        </p:nvGrpSpPr>
        <p:grpSpPr>
          <a:xfrm>
            <a:off x="5807510" y="4144222"/>
            <a:ext cx="2978254" cy="2034306"/>
            <a:chOff x="5637845" y="4196812"/>
            <a:chExt cx="2572902" cy="2034306"/>
          </a:xfrm>
        </p:grpSpPr>
        <p:sp>
          <p:nvSpPr>
            <p:cNvPr id="29" name="Trapezoid 2"/>
            <p:cNvSpPr/>
            <p:nvPr/>
          </p:nvSpPr>
          <p:spPr bwMode="gray">
            <a:xfrm>
              <a:off x="5637845" y="4196812"/>
              <a:ext cx="2572902" cy="511879"/>
            </a:xfrm>
            <a:custGeom>
              <a:avLst/>
              <a:gdLst>
                <a:gd name="connsiteX0" fmla="*/ 0 w 2873830"/>
                <a:gd name="connsiteY0" fmla="*/ 682217 h 682217"/>
                <a:gd name="connsiteX1" fmla="*/ 527906 w 2873830"/>
                <a:gd name="connsiteY1" fmla="*/ 0 h 682217"/>
                <a:gd name="connsiteX2" fmla="*/ 2345924 w 2873830"/>
                <a:gd name="connsiteY2" fmla="*/ 0 h 682217"/>
                <a:gd name="connsiteX3" fmla="*/ 2873830 w 2873830"/>
                <a:gd name="connsiteY3" fmla="*/ 682217 h 682217"/>
                <a:gd name="connsiteX4" fmla="*/ 0 w 2873830"/>
                <a:gd name="connsiteY4" fmla="*/ 682217 h 682217"/>
                <a:gd name="connsiteX0" fmla="*/ 0 w 2510973"/>
                <a:gd name="connsiteY0" fmla="*/ 696731 h 696731"/>
                <a:gd name="connsiteX1" fmla="*/ 165049 w 2510973"/>
                <a:gd name="connsiteY1" fmla="*/ 0 h 696731"/>
                <a:gd name="connsiteX2" fmla="*/ 1983067 w 2510973"/>
                <a:gd name="connsiteY2" fmla="*/ 0 h 696731"/>
                <a:gd name="connsiteX3" fmla="*/ 2510973 w 2510973"/>
                <a:gd name="connsiteY3" fmla="*/ 682217 h 696731"/>
                <a:gd name="connsiteX4" fmla="*/ 0 w 2510973"/>
                <a:gd name="connsiteY4" fmla="*/ 696731 h 696731"/>
                <a:gd name="connsiteX0" fmla="*/ 0 w 8316687"/>
                <a:gd name="connsiteY0" fmla="*/ 696731 h 696731"/>
                <a:gd name="connsiteX1" fmla="*/ 165049 w 8316687"/>
                <a:gd name="connsiteY1" fmla="*/ 0 h 696731"/>
                <a:gd name="connsiteX2" fmla="*/ 1983067 w 8316687"/>
                <a:gd name="connsiteY2" fmla="*/ 0 h 696731"/>
                <a:gd name="connsiteX3" fmla="*/ 8316687 w 8316687"/>
                <a:gd name="connsiteY3" fmla="*/ 667703 h 696731"/>
                <a:gd name="connsiteX4" fmla="*/ 0 w 8316687"/>
                <a:gd name="connsiteY4" fmla="*/ 696731 h 696731"/>
                <a:gd name="connsiteX0" fmla="*/ 0 w 8333940"/>
                <a:gd name="connsiteY0" fmla="*/ 685229 h 685229"/>
                <a:gd name="connsiteX1" fmla="*/ 182302 w 8333940"/>
                <a:gd name="connsiteY1" fmla="*/ 0 h 685229"/>
                <a:gd name="connsiteX2" fmla="*/ 2000320 w 8333940"/>
                <a:gd name="connsiteY2" fmla="*/ 0 h 685229"/>
                <a:gd name="connsiteX3" fmla="*/ 8333940 w 8333940"/>
                <a:gd name="connsiteY3" fmla="*/ 667703 h 685229"/>
                <a:gd name="connsiteX4" fmla="*/ 0 w 8333940"/>
                <a:gd name="connsiteY4" fmla="*/ 685229 h 685229"/>
                <a:gd name="connsiteX0" fmla="*/ 0 w 8333940"/>
                <a:gd name="connsiteY0" fmla="*/ 673727 h 673727"/>
                <a:gd name="connsiteX1" fmla="*/ 182302 w 8333940"/>
                <a:gd name="connsiteY1" fmla="*/ 0 h 673727"/>
                <a:gd name="connsiteX2" fmla="*/ 2000320 w 8333940"/>
                <a:gd name="connsiteY2" fmla="*/ 0 h 673727"/>
                <a:gd name="connsiteX3" fmla="*/ 8333940 w 8333940"/>
                <a:gd name="connsiteY3" fmla="*/ 667703 h 673727"/>
                <a:gd name="connsiteX4" fmla="*/ 0 w 8333940"/>
                <a:gd name="connsiteY4" fmla="*/ 673727 h 673727"/>
                <a:gd name="connsiteX0" fmla="*/ 0 w 8333940"/>
                <a:gd name="connsiteY0" fmla="*/ 686367 h 686367"/>
                <a:gd name="connsiteX1" fmla="*/ 182302 w 8333940"/>
                <a:gd name="connsiteY1" fmla="*/ 12640 h 686367"/>
                <a:gd name="connsiteX2" fmla="*/ 3856972 w 8333940"/>
                <a:gd name="connsiteY2" fmla="*/ 0 h 686367"/>
                <a:gd name="connsiteX3" fmla="*/ 8333940 w 8333940"/>
                <a:gd name="connsiteY3" fmla="*/ 680343 h 686367"/>
                <a:gd name="connsiteX4" fmla="*/ 0 w 8333940"/>
                <a:gd name="connsiteY4" fmla="*/ 686367 h 686367"/>
                <a:gd name="connsiteX0" fmla="*/ 0 w 8333940"/>
                <a:gd name="connsiteY0" fmla="*/ 673727 h 673727"/>
                <a:gd name="connsiteX1" fmla="*/ 182302 w 8333940"/>
                <a:gd name="connsiteY1" fmla="*/ 0 h 673727"/>
                <a:gd name="connsiteX2" fmla="*/ 5505838 w 8333940"/>
                <a:gd name="connsiteY2" fmla="*/ 0 h 673727"/>
                <a:gd name="connsiteX3" fmla="*/ 8333940 w 8333940"/>
                <a:gd name="connsiteY3" fmla="*/ 667703 h 673727"/>
                <a:gd name="connsiteX4" fmla="*/ 0 w 8333940"/>
                <a:gd name="connsiteY4" fmla="*/ 673727 h 673727"/>
                <a:gd name="connsiteX0" fmla="*/ 0 w 8333940"/>
                <a:gd name="connsiteY0" fmla="*/ 673727 h 673727"/>
                <a:gd name="connsiteX1" fmla="*/ 182302 w 8333940"/>
                <a:gd name="connsiteY1" fmla="*/ 0 h 673727"/>
                <a:gd name="connsiteX2" fmla="*/ 5566908 w 8333940"/>
                <a:gd name="connsiteY2" fmla="*/ 0 h 673727"/>
                <a:gd name="connsiteX3" fmla="*/ 8333940 w 8333940"/>
                <a:gd name="connsiteY3" fmla="*/ 667703 h 673727"/>
                <a:gd name="connsiteX4" fmla="*/ 0 w 8333940"/>
                <a:gd name="connsiteY4" fmla="*/ 673727 h 673727"/>
                <a:gd name="connsiteX0" fmla="*/ 0 w 8333940"/>
                <a:gd name="connsiteY0" fmla="*/ 686367 h 686367"/>
                <a:gd name="connsiteX1" fmla="*/ 182302 w 8333940"/>
                <a:gd name="connsiteY1" fmla="*/ 12640 h 686367"/>
                <a:gd name="connsiteX2" fmla="*/ 4801927 w 8333940"/>
                <a:gd name="connsiteY2" fmla="*/ 0 h 686367"/>
                <a:gd name="connsiteX3" fmla="*/ 8333940 w 8333940"/>
                <a:gd name="connsiteY3" fmla="*/ 680343 h 686367"/>
                <a:gd name="connsiteX4" fmla="*/ 0 w 8333940"/>
                <a:gd name="connsiteY4" fmla="*/ 686367 h 686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33940" h="686367">
                  <a:moveTo>
                    <a:pt x="0" y="686367"/>
                  </a:moveTo>
                  <a:lnTo>
                    <a:pt x="182302" y="12640"/>
                  </a:lnTo>
                  <a:lnTo>
                    <a:pt x="4801927" y="0"/>
                  </a:lnTo>
                  <a:lnTo>
                    <a:pt x="8333940" y="680343"/>
                  </a:lnTo>
                  <a:lnTo>
                    <a:pt x="0" y="686367"/>
                  </a:lnTo>
                  <a:close/>
                </a:path>
              </a:pathLst>
            </a:custGeom>
            <a:gradFill flip="none" rotWithShape="1">
              <a:gsLst>
                <a:gs pos="4000">
                  <a:schemeClr val="bg1">
                    <a:lumMod val="65000"/>
                  </a:schemeClr>
                </a:gs>
                <a:gs pos="50000">
                  <a:schemeClr val="bg1">
                    <a:lumMod val="75000"/>
                  </a:schemeClr>
                </a:gs>
                <a:gs pos="100000">
                  <a:schemeClr val="bg1">
                    <a:lumMod val="95000"/>
                  </a:schemeClr>
                </a:gs>
              </a:gsLst>
              <a:lin ang="5400000" scaled="1"/>
              <a:tileRect/>
            </a:gradFill>
            <a:ln w="19050" algn="ctr">
              <a:noFill/>
              <a:miter lim="800000"/>
              <a:headEnd/>
              <a:tailEnd/>
            </a:ln>
          </p:spPr>
          <p:txBody>
            <a:bodyPr wrap="square" lIns="88900" tIns="0" rIns="88900" bIns="88900" rtlCol="0" anchor="b" anchorCtr="0"/>
            <a:lstStyle/>
            <a:p>
              <a:pPr defTabSz="914400">
                <a:defRPr/>
              </a:pPr>
              <a:r>
                <a:rPr lang="en-US" sz="1000" kern="0" dirty="0">
                  <a:latin typeface="+mj-lt"/>
                </a:rPr>
                <a:t>Regular support</a:t>
              </a:r>
              <a:endParaRPr lang="en-US" sz="1200" kern="0" dirty="0">
                <a:latin typeface="+mj-lt"/>
              </a:endParaRPr>
            </a:p>
          </p:txBody>
        </p:sp>
        <p:sp>
          <p:nvSpPr>
            <p:cNvPr id="30" name="SHP_229"/>
            <p:cNvSpPr txBox="1">
              <a:spLocks/>
            </p:cNvSpPr>
            <p:nvPr/>
          </p:nvSpPr>
          <p:spPr bwMode="gray">
            <a:xfrm>
              <a:off x="5637845" y="4730378"/>
              <a:ext cx="2572902" cy="1500740"/>
            </a:xfrm>
            <a:prstGeom prst="rect">
              <a:avLst/>
            </a:prstGeom>
          </p:spPr>
          <p:txBody>
            <a:bodyPr lIns="0" tIns="0" rIns="0" bIns="0"/>
            <a:lstStyle/>
            <a:p>
              <a:pPr marL="114300" lvl="1" indent="-114300">
                <a:spcBef>
                  <a:spcPts val="600"/>
                </a:spcBef>
                <a:buSzPct val="100000"/>
                <a:buFont typeface="Arial" panose="020B0604020202020204" pitchFamily="34" charset="0"/>
                <a:buChar char="•"/>
              </a:pPr>
              <a:r>
                <a:rPr lang="en-US" sz="900" dirty="0">
                  <a:latin typeface="+mj-lt"/>
                </a:rPr>
                <a:t>Timeline: Year round</a:t>
              </a:r>
            </a:p>
            <a:p>
              <a:pPr marL="114300" lvl="1" indent="-114300">
                <a:spcBef>
                  <a:spcPts val="600"/>
                </a:spcBef>
                <a:buSzPct val="100000"/>
                <a:buFont typeface="Arial" panose="020B0604020202020204" pitchFamily="34" charset="0"/>
                <a:buChar char="•"/>
              </a:pPr>
              <a:r>
                <a:rPr lang="en-US" sz="900" dirty="0">
                  <a:latin typeface="+mj-lt"/>
                </a:rPr>
                <a:t>Resource deployment</a:t>
              </a:r>
            </a:p>
            <a:p>
              <a:pPr marL="254000" lvl="2" indent="-114300">
                <a:spcBef>
                  <a:spcPts val="600"/>
                </a:spcBef>
                <a:buSzPct val="100000"/>
                <a:buFont typeface="Arial" panose="020B0604020202020204" pitchFamily="34" charset="0"/>
                <a:buChar char="−"/>
              </a:pPr>
              <a:r>
                <a:rPr lang="en-US" sz="900" dirty="0">
                  <a:latin typeface="+mj-lt"/>
                </a:rPr>
                <a:t>As per pre-defined support agreement (Deloitte or external vendor)</a:t>
              </a:r>
            </a:p>
            <a:p>
              <a:pPr marL="254000" lvl="2" indent="-114300">
                <a:spcBef>
                  <a:spcPts val="600"/>
                </a:spcBef>
                <a:buSzPct val="100000"/>
                <a:buFont typeface="Arial" panose="020B0604020202020204" pitchFamily="34" charset="0"/>
                <a:buChar char="−"/>
              </a:pPr>
              <a:r>
                <a:rPr lang="en-US" sz="900" dirty="0">
                  <a:latin typeface="+mj-lt"/>
                </a:rPr>
                <a:t>No impact due to patch deployment</a:t>
              </a:r>
            </a:p>
            <a:p>
              <a:pPr marL="254000" lvl="2" indent="-114300">
                <a:spcBef>
                  <a:spcPts val="600"/>
                </a:spcBef>
                <a:buSzPct val="100000"/>
                <a:buFont typeface="Arial" panose="020B0604020202020204" pitchFamily="34" charset="0"/>
                <a:buChar char="−"/>
              </a:pPr>
              <a:r>
                <a:rPr lang="en-US" sz="900" dirty="0">
                  <a:latin typeface="+mj-lt"/>
                </a:rPr>
                <a:t>Advisory team can be leveraged for enhancements or process improvements followed by execution team</a:t>
              </a:r>
            </a:p>
          </p:txBody>
        </p:sp>
      </p:grpSp>
      <p:grpSp>
        <p:nvGrpSpPr>
          <p:cNvPr id="31" name="Group 30"/>
          <p:cNvGrpSpPr/>
          <p:nvPr/>
        </p:nvGrpSpPr>
        <p:grpSpPr>
          <a:xfrm>
            <a:off x="469900" y="909319"/>
            <a:ext cx="11233334" cy="2416443"/>
            <a:chOff x="967091" y="3662824"/>
            <a:chExt cx="10648876" cy="2773507"/>
          </a:xfrm>
        </p:grpSpPr>
        <p:sp>
          <p:nvSpPr>
            <p:cNvPr id="32" name="AutoShape 8"/>
            <p:cNvSpPr>
              <a:spLocks noChangeArrowheads="1"/>
            </p:cNvSpPr>
            <p:nvPr/>
          </p:nvSpPr>
          <p:spPr bwMode="gray">
            <a:xfrm>
              <a:off x="2723450" y="3933374"/>
              <a:ext cx="4672012" cy="772319"/>
            </a:xfrm>
            <a:prstGeom prst="chevron">
              <a:avLst>
                <a:gd name="adj" fmla="val 9905"/>
              </a:avLst>
            </a:prstGeom>
            <a:solidFill>
              <a:schemeClr val="bg1"/>
            </a:solidFill>
            <a:ln w="9525" algn="ctr">
              <a:solidFill>
                <a:schemeClr val="bg2"/>
              </a:solidFill>
              <a:miter lim="800000"/>
              <a:headEnd/>
              <a:tailEnd/>
            </a:ln>
            <a:effectLst/>
          </p:spPr>
          <p:txBody>
            <a:bodyPr lIns="91440" tIns="91440" rIns="91440" bIns="91440" anchor="ctr">
              <a:noAutofit/>
            </a:bodyPr>
            <a:lstStyle/>
            <a:p>
              <a:pPr marL="114300" lvl="1" indent="-114300">
                <a:spcBef>
                  <a:spcPts val="600"/>
                </a:spcBef>
                <a:buSzPct val="100000"/>
                <a:buFont typeface="Arial"/>
                <a:buChar char="•"/>
              </a:pPr>
              <a:r>
                <a:rPr lang="en-US" sz="900" dirty="0"/>
                <a:t>Subject Matter experts by Process Area</a:t>
              </a:r>
            </a:p>
            <a:p>
              <a:pPr marL="114300" lvl="1" indent="-114300">
                <a:spcBef>
                  <a:spcPts val="600"/>
                </a:spcBef>
                <a:buSzPct val="100000"/>
                <a:buFont typeface="Arial"/>
                <a:buChar char="•"/>
              </a:pPr>
              <a:r>
                <a:rPr lang="en-US" sz="900" dirty="0"/>
                <a:t>Technical Experts by RICEW (e.g. Integration expert, DBA, PaaS extension champion, etc.)</a:t>
              </a:r>
            </a:p>
            <a:p>
              <a:pPr marL="114300" lvl="1" indent="-114300">
                <a:spcBef>
                  <a:spcPts val="600"/>
                </a:spcBef>
                <a:buSzPct val="100000"/>
                <a:buFont typeface="Arial"/>
                <a:buChar char="•"/>
              </a:pPr>
              <a:r>
                <a:rPr lang="en-US" sz="900" dirty="0"/>
                <a:t>RPA Expert</a:t>
              </a:r>
              <a:endParaRPr lang="en-US" sz="1100" dirty="0"/>
            </a:p>
          </p:txBody>
        </p:sp>
        <p:sp>
          <p:nvSpPr>
            <p:cNvPr id="33" name="AutoShape 8"/>
            <p:cNvSpPr>
              <a:spLocks noChangeArrowheads="1"/>
            </p:cNvSpPr>
            <p:nvPr/>
          </p:nvSpPr>
          <p:spPr bwMode="gray">
            <a:xfrm>
              <a:off x="2723450" y="4795626"/>
              <a:ext cx="4672012" cy="772319"/>
            </a:xfrm>
            <a:prstGeom prst="chevron">
              <a:avLst>
                <a:gd name="adj" fmla="val 9905"/>
              </a:avLst>
            </a:prstGeom>
            <a:solidFill>
              <a:schemeClr val="bg1"/>
            </a:solidFill>
            <a:ln w="9525" algn="ctr">
              <a:solidFill>
                <a:schemeClr val="bg2"/>
              </a:solidFill>
              <a:miter lim="800000"/>
              <a:headEnd/>
              <a:tailEnd/>
            </a:ln>
            <a:effectLst/>
          </p:spPr>
          <p:txBody>
            <a:bodyPr lIns="91440" tIns="91440" rIns="91440" bIns="91440" anchor="ctr">
              <a:noAutofit/>
            </a:bodyPr>
            <a:lstStyle/>
            <a:p>
              <a:pPr marL="135463" lvl="1" indent="-135463">
                <a:spcBef>
                  <a:spcPts val="400"/>
                </a:spcBef>
                <a:buSzPct val="100000"/>
                <a:buFont typeface="Arial"/>
                <a:buChar char="•"/>
              </a:pPr>
              <a:r>
                <a:rPr lang="en-US" sz="900" dirty="0"/>
                <a:t>Functional Team Member by modules</a:t>
              </a:r>
            </a:p>
            <a:p>
              <a:pPr marL="135463" lvl="1" indent="-135463">
                <a:spcBef>
                  <a:spcPts val="400"/>
                </a:spcBef>
                <a:buSzPct val="100000"/>
                <a:buFont typeface="Arial"/>
                <a:buChar char="•"/>
              </a:pPr>
              <a:r>
                <a:rPr lang="en-US" sz="900" dirty="0"/>
                <a:t>Technical designers &amp; developers</a:t>
              </a:r>
            </a:p>
            <a:p>
              <a:pPr marL="135463" lvl="1" indent="-135463">
                <a:spcBef>
                  <a:spcPts val="400"/>
                </a:spcBef>
                <a:buSzPct val="100000"/>
                <a:buFont typeface="Arial"/>
                <a:buChar char="•"/>
              </a:pPr>
              <a:r>
                <a:rPr lang="en-US" sz="900" dirty="0"/>
                <a:t>RPA tool script developers</a:t>
              </a:r>
            </a:p>
          </p:txBody>
        </p:sp>
        <p:sp>
          <p:nvSpPr>
            <p:cNvPr id="34" name="AutoShape 8"/>
            <p:cNvSpPr>
              <a:spLocks noChangeArrowheads="1"/>
            </p:cNvSpPr>
            <p:nvPr/>
          </p:nvSpPr>
          <p:spPr bwMode="gray">
            <a:xfrm>
              <a:off x="2723450" y="5664012"/>
              <a:ext cx="4672012" cy="772319"/>
            </a:xfrm>
            <a:prstGeom prst="chevron">
              <a:avLst>
                <a:gd name="adj" fmla="val 9905"/>
              </a:avLst>
            </a:prstGeom>
            <a:solidFill>
              <a:schemeClr val="bg1"/>
            </a:solidFill>
            <a:ln w="9525" algn="ctr">
              <a:solidFill>
                <a:schemeClr val="bg2"/>
              </a:solidFill>
              <a:miter lim="800000"/>
              <a:headEnd/>
              <a:tailEnd/>
            </a:ln>
            <a:effectLst/>
          </p:spPr>
          <p:txBody>
            <a:bodyPr lIns="91440" tIns="91440" rIns="91440" bIns="91440" anchor="ctr">
              <a:noAutofit/>
            </a:bodyPr>
            <a:lstStyle/>
            <a:p>
              <a:pPr marL="135463" lvl="1" indent="-135463">
                <a:spcBef>
                  <a:spcPts val="400"/>
                </a:spcBef>
                <a:buSzPct val="100000"/>
                <a:buFont typeface="Arial"/>
                <a:buChar char="•"/>
              </a:pPr>
              <a:r>
                <a:rPr lang="en-US" sz="900" dirty="0"/>
                <a:t>Daily Support Team staffed to manage day to day production issues</a:t>
              </a:r>
            </a:p>
            <a:p>
              <a:pPr marL="376237" lvl="2" indent="-171450">
                <a:spcBef>
                  <a:spcPts val="400"/>
                </a:spcBef>
                <a:buSzPct val="100000"/>
                <a:buFont typeface="Verdana" panose="020B0604030504040204" pitchFamily="34" charset="0"/>
                <a:buChar char="―"/>
              </a:pPr>
              <a:r>
                <a:rPr lang="en-US" sz="900" dirty="0"/>
                <a:t>Functional</a:t>
              </a:r>
            </a:p>
            <a:p>
              <a:pPr marL="376237" lvl="2" indent="-171450">
                <a:spcBef>
                  <a:spcPts val="400"/>
                </a:spcBef>
                <a:buSzPct val="100000"/>
                <a:buFont typeface="Verdana" panose="020B0604030504040204" pitchFamily="34" charset="0"/>
                <a:buChar char="―"/>
              </a:pPr>
              <a:r>
                <a:rPr lang="en-US" sz="900" dirty="0"/>
                <a:t>Technical</a:t>
              </a:r>
            </a:p>
          </p:txBody>
        </p:sp>
        <p:sp>
          <p:nvSpPr>
            <p:cNvPr id="35" name="AutoShape 7"/>
            <p:cNvSpPr>
              <a:spLocks noChangeArrowheads="1"/>
            </p:cNvSpPr>
            <p:nvPr/>
          </p:nvSpPr>
          <p:spPr bwMode="gray">
            <a:xfrm>
              <a:off x="967091" y="3933374"/>
              <a:ext cx="1490662" cy="772319"/>
            </a:xfrm>
            <a:prstGeom prst="homePlate">
              <a:avLst>
                <a:gd name="adj" fmla="val 1046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lstStyle/>
            <a:p>
              <a:r>
                <a:rPr lang="en-US" sz="1050" b="1" dirty="0">
                  <a:solidFill>
                    <a:schemeClr val="bg1"/>
                  </a:solidFill>
                </a:rPr>
                <a:t>Advisory Team</a:t>
              </a:r>
            </a:p>
            <a:p>
              <a:pPr marL="171450" indent="-171450">
                <a:buFont typeface="Arial" panose="020B0604020202020204" pitchFamily="34" charset="0"/>
                <a:buChar char="•"/>
              </a:pPr>
              <a:r>
                <a:rPr lang="en-US" sz="800" dirty="0">
                  <a:solidFill>
                    <a:schemeClr val="bg1"/>
                  </a:solidFill>
                </a:rPr>
                <a:t>Managers</a:t>
              </a:r>
            </a:p>
            <a:p>
              <a:pPr marL="171450" indent="-171450">
                <a:buFont typeface="Arial" panose="020B0604020202020204" pitchFamily="34" charset="0"/>
                <a:buChar char="•"/>
              </a:pPr>
              <a:r>
                <a:rPr lang="en-US" sz="800" dirty="0">
                  <a:solidFill>
                    <a:schemeClr val="bg1"/>
                  </a:solidFill>
                </a:rPr>
                <a:t>Sr. Consultants</a:t>
              </a:r>
            </a:p>
          </p:txBody>
        </p:sp>
        <p:sp>
          <p:nvSpPr>
            <p:cNvPr id="36" name="AutoShape 7"/>
            <p:cNvSpPr>
              <a:spLocks noChangeArrowheads="1"/>
            </p:cNvSpPr>
            <p:nvPr/>
          </p:nvSpPr>
          <p:spPr bwMode="gray">
            <a:xfrm>
              <a:off x="967091" y="4795626"/>
              <a:ext cx="1490662" cy="772319"/>
            </a:xfrm>
            <a:prstGeom prst="homePlate">
              <a:avLst>
                <a:gd name="adj" fmla="val 1046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lstStyle/>
            <a:p>
              <a:r>
                <a:rPr lang="en-US" sz="1050" b="1" dirty="0">
                  <a:solidFill>
                    <a:schemeClr val="bg1"/>
                  </a:solidFill>
                </a:rPr>
                <a:t>Execution Team</a:t>
              </a:r>
            </a:p>
            <a:p>
              <a:pPr marL="171450" indent="-171450">
                <a:buFont typeface="Arial" panose="020B0604020202020204" pitchFamily="34" charset="0"/>
                <a:buChar char="•"/>
              </a:pPr>
              <a:r>
                <a:rPr lang="en-US" sz="800" dirty="0">
                  <a:solidFill>
                    <a:schemeClr val="bg1"/>
                  </a:solidFill>
                </a:rPr>
                <a:t>Sr. Consultants</a:t>
              </a:r>
            </a:p>
            <a:p>
              <a:pPr marL="171450" indent="-171450">
                <a:buFont typeface="Arial" panose="020B0604020202020204" pitchFamily="34" charset="0"/>
                <a:buChar char="•"/>
              </a:pPr>
              <a:r>
                <a:rPr lang="en-US" sz="800" dirty="0">
                  <a:solidFill>
                    <a:schemeClr val="bg1"/>
                  </a:solidFill>
                </a:rPr>
                <a:t>Consultants</a:t>
              </a:r>
            </a:p>
            <a:p>
              <a:pPr marL="171450" indent="-171450">
                <a:buFont typeface="Arial" panose="020B0604020202020204" pitchFamily="34" charset="0"/>
                <a:buChar char="•"/>
              </a:pPr>
              <a:r>
                <a:rPr lang="en-US" sz="800" dirty="0">
                  <a:solidFill>
                    <a:schemeClr val="bg1"/>
                  </a:solidFill>
                </a:rPr>
                <a:t>BTAs</a:t>
              </a:r>
            </a:p>
          </p:txBody>
        </p:sp>
        <p:sp>
          <p:nvSpPr>
            <p:cNvPr id="37" name="AutoShape 7"/>
            <p:cNvSpPr>
              <a:spLocks noChangeArrowheads="1"/>
            </p:cNvSpPr>
            <p:nvPr/>
          </p:nvSpPr>
          <p:spPr bwMode="gray">
            <a:xfrm>
              <a:off x="967091" y="5664012"/>
              <a:ext cx="1490662" cy="772319"/>
            </a:xfrm>
            <a:prstGeom prst="homePlate">
              <a:avLst>
                <a:gd name="adj" fmla="val 1046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121920" rIns="121920" bIns="121920" rtlCol="0" anchor="ctr"/>
            <a:lstStyle/>
            <a:p>
              <a:r>
                <a:rPr lang="en-US" sz="1050" b="1" dirty="0">
                  <a:solidFill>
                    <a:schemeClr val="bg1"/>
                  </a:solidFill>
                </a:rPr>
                <a:t>Support Team</a:t>
              </a:r>
            </a:p>
            <a:p>
              <a:pPr marL="171450" indent="-171450">
                <a:buFont typeface="Arial" panose="020B0604020202020204" pitchFamily="34" charset="0"/>
                <a:buChar char="•"/>
              </a:pPr>
              <a:r>
                <a:rPr lang="en-US" sz="800" dirty="0">
                  <a:solidFill>
                    <a:schemeClr val="bg1"/>
                  </a:solidFill>
                </a:rPr>
                <a:t>Consultants</a:t>
              </a:r>
            </a:p>
            <a:p>
              <a:pPr marL="171450" indent="-171450">
                <a:buFont typeface="Arial" panose="020B0604020202020204" pitchFamily="34" charset="0"/>
                <a:buChar char="•"/>
              </a:pPr>
              <a:r>
                <a:rPr lang="en-US" sz="800" dirty="0">
                  <a:solidFill>
                    <a:schemeClr val="bg1"/>
                  </a:solidFill>
                </a:rPr>
                <a:t>BTAs</a:t>
              </a:r>
            </a:p>
            <a:p>
              <a:pPr marL="171450" indent="-171450">
                <a:buFont typeface="Arial" panose="020B0604020202020204" pitchFamily="34" charset="0"/>
                <a:buChar char="•"/>
              </a:pPr>
              <a:r>
                <a:rPr lang="en-US" sz="800" dirty="0">
                  <a:solidFill>
                    <a:schemeClr val="bg1"/>
                  </a:solidFill>
                </a:rPr>
                <a:t>AAs</a:t>
              </a:r>
            </a:p>
          </p:txBody>
        </p:sp>
        <p:sp>
          <p:nvSpPr>
            <p:cNvPr id="38" name="Freeform 3"/>
            <p:cNvSpPr>
              <a:spLocks/>
            </p:cNvSpPr>
            <p:nvPr/>
          </p:nvSpPr>
          <p:spPr bwMode="gray">
            <a:xfrm>
              <a:off x="7578589" y="3933374"/>
              <a:ext cx="1836359" cy="772319"/>
            </a:xfrm>
            <a:custGeom>
              <a:avLst/>
              <a:gdLst/>
              <a:ahLst/>
              <a:cxnLst>
                <a:cxn ang="0">
                  <a:pos x="0" y="0"/>
                </a:cxn>
                <a:cxn ang="0">
                  <a:pos x="66" y="288"/>
                </a:cxn>
                <a:cxn ang="0">
                  <a:pos x="4" y="573"/>
                </a:cxn>
                <a:cxn ang="0">
                  <a:pos x="1051" y="573"/>
                </a:cxn>
                <a:cxn ang="0">
                  <a:pos x="1050" y="0"/>
                </a:cxn>
                <a:cxn ang="0">
                  <a:pos x="0" y="0"/>
                </a:cxn>
              </a:cxnLst>
              <a:rect l="0" t="0" r="r" b="b"/>
              <a:pathLst>
                <a:path w="1051" h="573">
                  <a:moveTo>
                    <a:pt x="0" y="0"/>
                  </a:moveTo>
                  <a:lnTo>
                    <a:pt x="66" y="288"/>
                  </a:lnTo>
                  <a:lnTo>
                    <a:pt x="4" y="573"/>
                  </a:lnTo>
                  <a:lnTo>
                    <a:pt x="1051" y="573"/>
                  </a:lnTo>
                  <a:lnTo>
                    <a:pt x="1050" y="0"/>
                  </a:lnTo>
                  <a:lnTo>
                    <a:pt x="0" y="0"/>
                  </a:lnTo>
                  <a:close/>
                </a:path>
              </a:pathLst>
            </a:custGeom>
            <a:solidFill>
              <a:schemeClr val="bg1"/>
            </a:solidFill>
            <a:ln w="9525" cap="flat" cmpd="sng">
              <a:solidFill>
                <a:schemeClr val="bg2"/>
              </a:solidFill>
              <a:prstDash val="solid"/>
              <a:round/>
              <a:headEnd/>
              <a:tailEnd/>
            </a:ln>
            <a:effectLst/>
          </p:spPr>
          <p:txBody>
            <a:bodyPr lIns="274320" tIns="91440" rIns="91440" bIns="91440" anchor="ctr">
              <a:noAutofit/>
            </a:bodyPr>
            <a:lstStyle/>
            <a:p>
              <a:pPr marL="171450" indent="-171450">
                <a:buFont typeface="Arial" panose="020B0604020202020204" pitchFamily="34" charset="0"/>
                <a:buChar char="•"/>
              </a:pPr>
              <a:r>
                <a:rPr lang="en-US" altLang="de-DE" sz="900" dirty="0"/>
                <a:t>Facilitate workshops</a:t>
              </a:r>
            </a:p>
            <a:p>
              <a:pPr marL="171450" indent="-171450">
                <a:buFont typeface="Arial" panose="020B0604020202020204" pitchFamily="34" charset="0"/>
                <a:buChar char="•"/>
              </a:pPr>
              <a:r>
                <a:rPr lang="en-US" altLang="de-DE" sz="900" dirty="0"/>
                <a:t>Deployed for enhancements</a:t>
              </a:r>
            </a:p>
            <a:p>
              <a:pPr marL="171450" indent="-171450">
                <a:buFont typeface="Arial" panose="020B0604020202020204" pitchFamily="34" charset="0"/>
                <a:buChar char="•"/>
              </a:pPr>
              <a:r>
                <a:rPr lang="en-US" altLang="de-DE" sz="900" dirty="0"/>
                <a:t>Critical bug resolutions</a:t>
              </a:r>
            </a:p>
          </p:txBody>
        </p:sp>
        <p:sp>
          <p:nvSpPr>
            <p:cNvPr id="39" name="Freeform 3"/>
            <p:cNvSpPr>
              <a:spLocks/>
            </p:cNvSpPr>
            <p:nvPr/>
          </p:nvSpPr>
          <p:spPr bwMode="gray">
            <a:xfrm>
              <a:off x="7578588" y="4795625"/>
              <a:ext cx="1836359" cy="772319"/>
            </a:xfrm>
            <a:custGeom>
              <a:avLst/>
              <a:gdLst/>
              <a:ahLst/>
              <a:cxnLst>
                <a:cxn ang="0">
                  <a:pos x="0" y="0"/>
                </a:cxn>
                <a:cxn ang="0">
                  <a:pos x="66" y="288"/>
                </a:cxn>
                <a:cxn ang="0">
                  <a:pos x="4" y="573"/>
                </a:cxn>
                <a:cxn ang="0">
                  <a:pos x="1051" y="573"/>
                </a:cxn>
                <a:cxn ang="0">
                  <a:pos x="1050" y="0"/>
                </a:cxn>
                <a:cxn ang="0">
                  <a:pos x="0" y="0"/>
                </a:cxn>
              </a:cxnLst>
              <a:rect l="0" t="0" r="r" b="b"/>
              <a:pathLst>
                <a:path w="1051" h="573">
                  <a:moveTo>
                    <a:pt x="0" y="0"/>
                  </a:moveTo>
                  <a:lnTo>
                    <a:pt x="66" y="288"/>
                  </a:lnTo>
                  <a:lnTo>
                    <a:pt x="4" y="573"/>
                  </a:lnTo>
                  <a:lnTo>
                    <a:pt x="1051" y="573"/>
                  </a:lnTo>
                  <a:lnTo>
                    <a:pt x="1050" y="0"/>
                  </a:lnTo>
                  <a:lnTo>
                    <a:pt x="0" y="0"/>
                  </a:lnTo>
                  <a:close/>
                </a:path>
              </a:pathLst>
            </a:custGeom>
            <a:solidFill>
              <a:schemeClr val="bg1"/>
            </a:solidFill>
            <a:ln w="9525" cap="flat" cmpd="sng">
              <a:solidFill>
                <a:schemeClr val="bg2"/>
              </a:solidFill>
              <a:prstDash val="solid"/>
              <a:round/>
              <a:headEnd/>
              <a:tailEnd/>
            </a:ln>
            <a:effectLst/>
          </p:spPr>
          <p:txBody>
            <a:bodyPr lIns="274320" tIns="91440" rIns="91440" bIns="91440" anchor="ctr">
              <a:noAutofit/>
            </a:bodyPr>
            <a:lstStyle/>
            <a:p>
              <a:pPr marL="171450" indent="-171450">
                <a:buFont typeface="Arial" panose="020B0604020202020204" pitchFamily="34" charset="0"/>
                <a:buChar char="•"/>
              </a:pPr>
              <a:r>
                <a:rPr lang="en-US" altLang="de-DE" sz="900" dirty="0"/>
                <a:t>Deployed on demand exclusively for testing</a:t>
              </a:r>
            </a:p>
            <a:p>
              <a:pPr marL="171450" indent="-171450">
                <a:buFont typeface="Arial" panose="020B0604020202020204" pitchFamily="34" charset="0"/>
                <a:buChar char="•"/>
              </a:pPr>
              <a:r>
                <a:rPr lang="en-US" altLang="de-DE" sz="900" dirty="0"/>
                <a:t>Traditional bugs and issues during testing</a:t>
              </a:r>
            </a:p>
            <a:p>
              <a:pPr marL="171450" indent="-171450">
                <a:buFont typeface="Arial" panose="020B0604020202020204" pitchFamily="34" charset="0"/>
                <a:buChar char="•"/>
              </a:pPr>
              <a:r>
                <a:rPr lang="en-US" altLang="de-DE" sz="900" dirty="0"/>
                <a:t>Documentation</a:t>
              </a:r>
            </a:p>
          </p:txBody>
        </p:sp>
        <p:sp>
          <p:nvSpPr>
            <p:cNvPr id="40" name="Freeform 3"/>
            <p:cNvSpPr>
              <a:spLocks/>
            </p:cNvSpPr>
            <p:nvPr/>
          </p:nvSpPr>
          <p:spPr bwMode="gray">
            <a:xfrm>
              <a:off x="7578587" y="5657876"/>
              <a:ext cx="1836359" cy="772319"/>
            </a:xfrm>
            <a:custGeom>
              <a:avLst/>
              <a:gdLst/>
              <a:ahLst/>
              <a:cxnLst>
                <a:cxn ang="0">
                  <a:pos x="0" y="0"/>
                </a:cxn>
                <a:cxn ang="0">
                  <a:pos x="66" y="288"/>
                </a:cxn>
                <a:cxn ang="0">
                  <a:pos x="4" y="573"/>
                </a:cxn>
                <a:cxn ang="0">
                  <a:pos x="1051" y="573"/>
                </a:cxn>
                <a:cxn ang="0">
                  <a:pos x="1050" y="0"/>
                </a:cxn>
                <a:cxn ang="0">
                  <a:pos x="0" y="0"/>
                </a:cxn>
              </a:cxnLst>
              <a:rect l="0" t="0" r="r" b="b"/>
              <a:pathLst>
                <a:path w="1051" h="573">
                  <a:moveTo>
                    <a:pt x="0" y="0"/>
                  </a:moveTo>
                  <a:lnTo>
                    <a:pt x="66" y="288"/>
                  </a:lnTo>
                  <a:lnTo>
                    <a:pt x="4" y="573"/>
                  </a:lnTo>
                  <a:lnTo>
                    <a:pt x="1051" y="573"/>
                  </a:lnTo>
                  <a:lnTo>
                    <a:pt x="1050" y="0"/>
                  </a:lnTo>
                  <a:lnTo>
                    <a:pt x="0" y="0"/>
                  </a:lnTo>
                  <a:close/>
                </a:path>
              </a:pathLst>
            </a:custGeom>
            <a:solidFill>
              <a:schemeClr val="bg1"/>
            </a:solidFill>
            <a:ln w="9525" cap="flat" cmpd="sng">
              <a:solidFill>
                <a:schemeClr val="bg2"/>
              </a:solidFill>
              <a:prstDash val="solid"/>
              <a:round/>
              <a:headEnd/>
              <a:tailEnd/>
            </a:ln>
            <a:effectLst/>
          </p:spPr>
          <p:txBody>
            <a:bodyPr lIns="274320" tIns="91440" rIns="91440" bIns="91440" anchor="ctr">
              <a:noAutofit/>
            </a:bodyPr>
            <a:lstStyle/>
            <a:p>
              <a:pPr marL="171450" indent="-171450">
                <a:buFont typeface="Arial" panose="020B0604020202020204" pitchFamily="34" charset="0"/>
                <a:buChar char="•"/>
              </a:pPr>
              <a:r>
                <a:rPr lang="en-US" altLang="de-DE" sz="900" dirty="0"/>
                <a:t>Part of the core support team</a:t>
              </a:r>
            </a:p>
          </p:txBody>
        </p:sp>
        <p:sp>
          <p:nvSpPr>
            <p:cNvPr id="41" name="Rectangle 3"/>
            <p:cNvSpPr>
              <a:spLocks noChangeArrowheads="1"/>
            </p:cNvSpPr>
            <p:nvPr/>
          </p:nvSpPr>
          <p:spPr bwMode="gray">
            <a:xfrm>
              <a:off x="967092" y="3662824"/>
              <a:ext cx="1490662" cy="174483"/>
            </a:xfrm>
            <a:prstGeom prst="rect">
              <a:avLst/>
            </a:prstGeom>
            <a:solidFill>
              <a:schemeClr val="accent3"/>
            </a:solidFill>
            <a:ln w="9525" algn="ctr">
              <a:noFill/>
              <a:miter lim="800000"/>
              <a:headEnd/>
              <a:tailEnd/>
            </a:ln>
            <a:effectLst/>
          </p:spPr>
          <p:txBody>
            <a:bodyPr lIns="91440" tIns="91440" rIns="91440" bIns="91440" anchor="ctr"/>
            <a:lstStyle/>
            <a:p>
              <a:pPr algn="ctr"/>
              <a:r>
                <a:rPr lang="en-US" sz="900" b="1" dirty="0">
                  <a:solidFill>
                    <a:schemeClr val="bg1"/>
                  </a:solidFill>
                </a:rPr>
                <a:t>Resource Structure</a:t>
              </a:r>
            </a:p>
          </p:txBody>
        </p:sp>
        <p:sp>
          <p:nvSpPr>
            <p:cNvPr id="42" name="Rectangle 3"/>
            <p:cNvSpPr>
              <a:spLocks noChangeArrowheads="1"/>
            </p:cNvSpPr>
            <p:nvPr/>
          </p:nvSpPr>
          <p:spPr bwMode="gray">
            <a:xfrm>
              <a:off x="2723450" y="3662824"/>
              <a:ext cx="4672012" cy="175081"/>
            </a:xfrm>
            <a:prstGeom prst="rect">
              <a:avLst/>
            </a:prstGeom>
            <a:solidFill>
              <a:schemeClr val="accent3"/>
            </a:solidFill>
            <a:ln w="9525" algn="ctr">
              <a:noFill/>
              <a:miter lim="800000"/>
              <a:headEnd/>
              <a:tailEnd/>
            </a:ln>
            <a:effectLst/>
          </p:spPr>
          <p:txBody>
            <a:bodyPr lIns="91440" tIns="91440" rIns="91440" bIns="91440" anchor="ctr"/>
            <a:lstStyle/>
            <a:p>
              <a:pPr algn="ctr"/>
              <a:r>
                <a:rPr lang="en-US" sz="900" b="1" dirty="0">
                  <a:solidFill>
                    <a:schemeClr val="bg1"/>
                  </a:solidFill>
                </a:rPr>
                <a:t>Profile</a:t>
              </a:r>
            </a:p>
          </p:txBody>
        </p:sp>
        <p:sp>
          <p:nvSpPr>
            <p:cNvPr id="43" name="Rectangle 3"/>
            <p:cNvSpPr>
              <a:spLocks noChangeArrowheads="1"/>
            </p:cNvSpPr>
            <p:nvPr/>
          </p:nvSpPr>
          <p:spPr bwMode="gray">
            <a:xfrm>
              <a:off x="7578586" y="3662824"/>
              <a:ext cx="1836359" cy="174483"/>
            </a:xfrm>
            <a:prstGeom prst="rect">
              <a:avLst/>
            </a:prstGeom>
            <a:solidFill>
              <a:schemeClr val="accent3"/>
            </a:solidFill>
            <a:ln w="9525" algn="ctr">
              <a:noFill/>
              <a:miter lim="800000"/>
              <a:headEnd/>
              <a:tailEnd/>
            </a:ln>
            <a:effectLst/>
          </p:spPr>
          <p:txBody>
            <a:bodyPr lIns="91440" tIns="91440" rIns="91440" bIns="91440" anchor="ctr"/>
            <a:lstStyle/>
            <a:p>
              <a:pPr algn="ctr"/>
              <a:r>
                <a:rPr lang="en-US" sz="900" b="1" dirty="0">
                  <a:solidFill>
                    <a:schemeClr val="bg1"/>
                  </a:solidFill>
                </a:rPr>
                <a:t>Roles &amp; Responsibilities</a:t>
              </a:r>
            </a:p>
          </p:txBody>
        </p:sp>
        <p:sp>
          <p:nvSpPr>
            <p:cNvPr id="44" name="Rectangle 64"/>
            <p:cNvSpPr/>
            <p:nvPr/>
          </p:nvSpPr>
          <p:spPr>
            <a:xfrm>
              <a:off x="9635781" y="5648378"/>
              <a:ext cx="1980186" cy="775169"/>
            </a:xfrm>
            <a:custGeom>
              <a:avLst/>
              <a:gdLst>
                <a:gd name="connsiteX0" fmla="*/ 0 w 1827784"/>
                <a:gd name="connsiteY0" fmla="*/ 0 h 463919"/>
                <a:gd name="connsiteX1" fmla="*/ 1827784 w 1827784"/>
                <a:gd name="connsiteY1" fmla="*/ 0 h 463919"/>
                <a:gd name="connsiteX2" fmla="*/ 1827784 w 1827784"/>
                <a:gd name="connsiteY2" fmla="*/ 463919 h 463919"/>
                <a:gd name="connsiteX3" fmla="*/ 0 w 1827784"/>
                <a:gd name="connsiteY3" fmla="*/ 463919 h 463919"/>
                <a:gd name="connsiteX4" fmla="*/ 0 w 1827784"/>
                <a:gd name="connsiteY4" fmla="*/ 0 h 463919"/>
                <a:gd name="connsiteX0" fmla="*/ 0 w 1827784"/>
                <a:gd name="connsiteY0" fmla="*/ 4254 h 468173"/>
                <a:gd name="connsiteX1" fmla="*/ 1622958 w 1827784"/>
                <a:gd name="connsiteY1" fmla="*/ 0 h 468173"/>
                <a:gd name="connsiteX2" fmla="*/ 1827784 w 1827784"/>
                <a:gd name="connsiteY2" fmla="*/ 4254 h 468173"/>
                <a:gd name="connsiteX3" fmla="*/ 1827784 w 1827784"/>
                <a:gd name="connsiteY3" fmla="*/ 468173 h 468173"/>
                <a:gd name="connsiteX4" fmla="*/ 0 w 1827784"/>
                <a:gd name="connsiteY4" fmla="*/ 468173 h 468173"/>
                <a:gd name="connsiteX5" fmla="*/ 0 w 1827784"/>
                <a:gd name="connsiteY5" fmla="*/ 4254 h 468173"/>
                <a:gd name="connsiteX0" fmla="*/ 0 w 1827784"/>
                <a:gd name="connsiteY0" fmla="*/ 4254 h 468173"/>
                <a:gd name="connsiteX1" fmla="*/ 1622958 w 1827784"/>
                <a:gd name="connsiteY1" fmla="*/ 0 h 468173"/>
                <a:gd name="connsiteX2" fmla="*/ 1827784 w 1827784"/>
                <a:gd name="connsiteY2" fmla="*/ 4254 h 468173"/>
                <a:gd name="connsiteX3" fmla="*/ 1820469 w 1827784"/>
                <a:gd name="connsiteY3" fmla="*/ 175565 h 468173"/>
                <a:gd name="connsiteX4" fmla="*/ 1827784 w 1827784"/>
                <a:gd name="connsiteY4" fmla="*/ 468173 h 468173"/>
                <a:gd name="connsiteX5" fmla="*/ 0 w 1827784"/>
                <a:gd name="connsiteY5" fmla="*/ 468173 h 468173"/>
                <a:gd name="connsiteX6" fmla="*/ 0 w 1827784"/>
                <a:gd name="connsiteY6" fmla="*/ 4254 h 468173"/>
                <a:gd name="connsiteX0" fmla="*/ 0 w 1827784"/>
                <a:gd name="connsiteY0" fmla="*/ 4254 h 468173"/>
                <a:gd name="connsiteX1" fmla="*/ 1622958 w 1827784"/>
                <a:gd name="connsiteY1" fmla="*/ 0 h 468173"/>
                <a:gd name="connsiteX2" fmla="*/ 1820469 w 1827784"/>
                <a:gd name="connsiteY2" fmla="*/ 175565 h 468173"/>
                <a:gd name="connsiteX3" fmla="*/ 1827784 w 1827784"/>
                <a:gd name="connsiteY3" fmla="*/ 468173 h 468173"/>
                <a:gd name="connsiteX4" fmla="*/ 0 w 1827784"/>
                <a:gd name="connsiteY4" fmla="*/ 468173 h 468173"/>
                <a:gd name="connsiteX5" fmla="*/ 0 w 1827784"/>
                <a:gd name="connsiteY5" fmla="*/ 4254 h 468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784" h="468173">
                  <a:moveTo>
                    <a:pt x="0" y="4254"/>
                  </a:moveTo>
                  <a:lnTo>
                    <a:pt x="1622958" y="0"/>
                  </a:lnTo>
                  <a:lnTo>
                    <a:pt x="1820469" y="175565"/>
                  </a:lnTo>
                  <a:lnTo>
                    <a:pt x="1827784" y="468173"/>
                  </a:lnTo>
                  <a:lnTo>
                    <a:pt x="0" y="468173"/>
                  </a:lnTo>
                  <a:lnTo>
                    <a:pt x="0" y="4254"/>
                  </a:lnTo>
                  <a:close/>
                </a:path>
              </a:pathLst>
            </a:custGeom>
            <a:solidFill>
              <a:schemeClr val="bg1"/>
            </a:solidFill>
            <a:ln w="9525" cap="flat" cmpd="sng">
              <a:solidFill>
                <a:schemeClr val="bg2"/>
              </a:solidFill>
              <a:prstDash val="solid"/>
              <a:round/>
              <a:headEnd/>
              <a:tailEnd/>
            </a:ln>
            <a:effectLst/>
          </p:spPr>
          <p:txBody>
            <a:bodyPr lIns="91440" tIns="91440" rIns="91440" bIns="91440" anchor="ctr">
              <a:noAutofit/>
            </a:bodyPr>
            <a:lstStyle/>
            <a:p>
              <a:pPr marL="171450" indent="-171450">
                <a:buFont typeface="Arial" panose="020B0604020202020204" pitchFamily="34" charset="0"/>
                <a:buChar char="•"/>
              </a:pPr>
              <a:r>
                <a:rPr lang="en-US" sz="900" dirty="0"/>
                <a:t>Introduce BTAs and AAs</a:t>
              </a:r>
            </a:p>
            <a:p>
              <a:pPr marL="171450" indent="-171450">
                <a:buFont typeface="Arial" panose="020B0604020202020204" pitchFamily="34" charset="0"/>
                <a:buChar char="•"/>
              </a:pPr>
              <a:r>
                <a:rPr lang="en-US" sz="900" dirty="0"/>
                <a:t>Move high performers to Execution team</a:t>
              </a:r>
            </a:p>
          </p:txBody>
        </p:sp>
        <p:sp>
          <p:nvSpPr>
            <p:cNvPr id="45" name="Rectangle 64"/>
            <p:cNvSpPr/>
            <p:nvPr/>
          </p:nvSpPr>
          <p:spPr>
            <a:xfrm>
              <a:off x="9635781" y="4791133"/>
              <a:ext cx="1980186" cy="775169"/>
            </a:xfrm>
            <a:custGeom>
              <a:avLst/>
              <a:gdLst>
                <a:gd name="connsiteX0" fmla="*/ 0 w 1827784"/>
                <a:gd name="connsiteY0" fmla="*/ 0 h 463919"/>
                <a:gd name="connsiteX1" fmla="*/ 1827784 w 1827784"/>
                <a:gd name="connsiteY1" fmla="*/ 0 h 463919"/>
                <a:gd name="connsiteX2" fmla="*/ 1827784 w 1827784"/>
                <a:gd name="connsiteY2" fmla="*/ 463919 h 463919"/>
                <a:gd name="connsiteX3" fmla="*/ 0 w 1827784"/>
                <a:gd name="connsiteY3" fmla="*/ 463919 h 463919"/>
                <a:gd name="connsiteX4" fmla="*/ 0 w 1827784"/>
                <a:gd name="connsiteY4" fmla="*/ 0 h 463919"/>
                <a:gd name="connsiteX0" fmla="*/ 0 w 1827784"/>
                <a:gd name="connsiteY0" fmla="*/ 4254 h 468173"/>
                <a:gd name="connsiteX1" fmla="*/ 1622958 w 1827784"/>
                <a:gd name="connsiteY1" fmla="*/ 0 h 468173"/>
                <a:gd name="connsiteX2" fmla="*/ 1827784 w 1827784"/>
                <a:gd name="connsiteY2" fmla="*/ 4254 h 468173"/>
                <a:gd name="connsiteX3" fmla="*/ 1827784 w 1827784"/>
                <a:gd name="connsiteY3" fmla="*/ 468173 h 468173"/>
                <a:gd name="connsiteX4" fmla="*/ 0 w 1827784"/>
                <a:gd name="connsiteY4" fmla="*/ 468173 h 468173"/>
                <a:gd name="connsiteX5" fmla="*/ 0 w 1827784"/>
                <a:gd name="connsiteY5" fmla="*/ 4254 h 468173"/>
                <a:gd name="connsiteX0" fmla="*/ 0 w 1827784"/>
                <a:gd name="connsiteY0" fmla="*/ 4254 h 468173"/>
                <a:gd name="connsiteX1" fmla="*/ 1622958 w 1827784"/>
                <a:gd name="connsiteY1" fmla="*/ 0 h 468173"/>
                <a:gd name="connsiteX2" fmla="*/ 1827784 w 1827784"/>
                <a:gd name="connsiteY2" fmla="*/ 4254 h 468173"/>
                <a:gd name="connsiteX3" fmla="*/ 1820469 w 1827784"/>
                <a:gd name="connsiteY3" fmla="*/ 175565 h 468173"/>
                <a:gd name="connsiteX4" fmla="*/ 1827784 w 1827784"/>
                <a:gd name="connsiteY4" fmla="*/ 468173 h 468173"/>
                <a:gd name="connsiteX5" fmla="*/ 0 w 1827784"/>
                <a:gd name="connsiteY5" fmla="*/ 468173 h 468173"/>
                <a:gd name="connsiteX6" fmla="*/ 0 w 1827784"/>
                <a:gd name="connsiteY6" fmla="*/ 4254 h 468173"/>
                <a:gd name="connsiteX0" fmla="*/ 0 w 1827784"/>
                <a:gd name="connsiteY0" fmla="*/ 4254 h 468173"/>
                <a:gd name="connsiteX1" fmla="*/ 1622958 w 1827784"/>
                <a:gd name="connsiteY1" fmla="*/ 0 h 468173"/>
                <a:gd name="connsiteX2" fmla="*/ 1820469 w 1827784"/>
                <a:gd name="connsiteY2" fmla="*/ 175565 h 468173"/>
                <a:gd name="connsiteX3" fmla="*/ 1827784 w 1827784"/>
                <a:gd name="connsiteY3" fmla="*/ 468173 h 468173"/>
                <a:gd name="connsiteX4" fmla="*/ 0 w 1827784"/>
                <a:gd name="connsiteY4" fmla="*/ 468173 h 468173"/>
                <a:gd name="connsiteX5" fmla="*/ 0 w 1827784"/>
                <a:gd name="connsiteY5" fmla="*/ 4254 h 468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784" h="468173">
                  <a:moveTo>
                    <a:pt x="0" y="4254"/>
                  </a:moveTo>
                  <a:lnTo>
                    <a:pt x="1622958" y="0"/>
                  </a:lnTo>
                  <a:lnTo>
                    <a:pt x="1820469" y="175565"/>
                  </a:lnTo>
                  <a:lnTo>
                    <a:pt x="1827784" y="468173"/>
                  </a:lnTo>
                  <a:lnTo>
                    <a:pt x="0" y="468173"/>
                  </a:lnTo>
                  <a:lnTo>
                    <a:pt x="0" y="4254"/>
                  </a:lnTo>
                  <a:close/>
                </a:path>
              </a:pathLst>
            </a:custGeom>
            <a:solidFill>
              <a:schemeClr val="bg1"/>
            </a:solidFill>
            <a:ln w="9525" cap="flat" cmpd="sng">
              <a:solidFill>
                <a:schemeClr val="bg2"/>
              </a:solidFill>
              <a:prstDash val="solid"/>
              <a:round/>
              <a:headEnd/>
              <a:tailEnd/>
            </a:ln>
            <a:effectLst/>
          </p:spPr>
          <p:txBody>
            <a:bodyPr lIns="91440" tIns="91440" rIns="91440" bIns="91440" anchor="ctr">
              <a:noAutofit/>
            </a:bodyPr>
            <a:lstStyle/>
            <a:p>
              <a:pPr marL="171450" indent="-171450">
                <a:buFont typeface="Arial" panose="020B0604020202020204" pitchFamily="34" charset="0"/>
                <a:buChar char="•"/>
              </a:pPr>
              <a:r>
                <a:rPr lang="en-US" sz="900" dirty="0"/>
                <a:t>Resource pool by capability</a:t>
              </a:r>
            </a:p>
            <a:p>
              <a:pPr marL="171450" indent="-171450">
                <a:buFont typeface="Arial" panose="020B0604020202020204" pitchFamily="34" charset="0"/>
                <a:buChar char="•"/>
              </a:pPr>
              <a:r>
                <a:rPr lang="en-US" sz="900" dirty="0"/>
                <a:t>Part of Account/Project team</a:t>
              </a:r>
            </a:p>
            <a:p>
              <a:pPr marL="171450" indent="-171450">
                <a:buFont typeface="Arial" panose="020B0604020202020204" pitchFamily="34" charset="0"/>
                <a:buChar char="•"/>
              </a:pPr>
              <a:r>
                <a:rPr lang="en-US" sz="900" dirty="0"/>
                <a:t>Mostly Sr. Con. and below</a:t>
              </a:r>
            </a:p>
          </p:txBody>
        </p:sp>
        <p:sp>
          <p:nvSpPr>
            <p:cNvPr id="46" name="Rectangle 64"/>
            <p:cNvSpPr/>
            <p:nvPr/>
          </p:nvSpPr>
          <p:spPr>
            <a:xfrm>
              <a:off x="9635781" y="3931948"/>
              <a:ext cx="1980186" cy="775169"/>
            </a:xfrm>
            <a:custGeom>
              <a:avLst/>
              <a:gdLst>
                <a:gd name="connsiteX0" fmla="*/ 0 w 1827784"/>
                <a:gd name="connsiteY0" fmla="*/ 0 h 463919"/>
                <a:gd name="connsiteX1" fmla="*/ 1827784 w 1827784"/>
                <a:gd name="connsiteY1" fmla="*/ 0 h 463919"/>
                <a:gd name="connsiteX2" fmla="*/ 1827784 w 1827784"/>
                <a:gd name="connsiteY2" fmla="*/ 463919 h 463919"/>
                <a:gd name="connsiteX3" fmla="*/ 0 w 1827784"/>
                <a:gd name="connsiteY3" fmla="*/ 463919 h 463919"/>
                <a:gd name="connsiteX4" fmla="*/ 0 w 1827784"/>
                <a:gd name="connsiteY4" fmla="*/ 0 h 463919"/>
                <a:gd name="connsiteX0" fmla="*/ 0 w 1827784"/>
                <a:gd name="connsiteY0" fmla="*/ 4254 h 468173"/>
                <a:gd name="connsiteX1" fmla="*/ 1622958 w 1827784"/>
                <a:gd name="connsiteY1" fmla="*/ 0 h 468173"/>
                <a:gd name="connsiteX2" fmla="*/ 1827784 w 1827784"/>
                <a:gd name="connsiteY2" fmla="*/ 4254 h 468173"/>
                <a:gd name="connsiteX3" fmla="*/ 1827784 w 1827784"/>
                <a:gd name="connsiteY3" fmla="*/ 468173 h 468173"/>
                <a:gd name="connsiteX4" fmla="*/ 0 w 1827784"/>
                <a:gd name="connsiteY4" fmla="*/ 468173 h 468173"/>
                <a:gd name="connsiteX5" fmla="*/ 0 w 1827784"/>
                <a:gd name="connsiteY5" fmla="*/ 4254 h 468173"/>
                <a:gd name="connsiteX0" fmla="*/ 0 w 1827784"/>
                <a:gd name="connsiteY0" fmla="*/ 4254 h 468173"/>
                <a:gd name="connsiteX1" fmla="*/ 1622958 w 1827784"/>
                <a:gd name="connsiteY1" fmla="*/ 0 h 468173"/>
                <a:gd name="connsiteX2" fmla="*/ 1827784 w 1827784"/>
                <a:gd name="connsiteY2" fmla="*/ 4254 h 468173"/>
                <a:gd name="connsiteX3" fmla="*/ 1820469 w 1827784"/>
                <a:gd name="connsiteY3" fmla="*/ 175565 h 468173"/>
                <a:gd name="connsiteX4" fmla="*/ 1827784 w 1827784"/>
                <a:gd name="connsiteY4" fmla="*/ 468173 h 468173"/>
                <a:gd name="connsiteX5" fmla="*/ 0 w 1827784"/>
                <a:gd name="connsiteY5" fmla="*/ 468173 h 468173"/>
                <a:gd name="connsiteX6" fmla="*/ 0 w 1827784"/>
                <a:gd name="connsiteY6" fmla="*/ 4254 h 468173"/>
                <a:gd name="connsiteX0" fmla="*/ 0 w 1827784"/>
                <a:gd name="connsiteY0" fmla="*/ 4254 h 468173"/>
                <a:gd name="connsiteX1" fmla="*/ 1622958 w 1827784"/>
                <a:gd name="connsiteY1" fmla="*/ 0 h 468173"/>
                <a:gd name="connsiteX2" fmla="*/ 1820469 w 1827784"/>
                <a:gd name="connsiteY2" fmla="*/ 175565 h 468173"/>
                <a:gd name="connsiteX3" fmla="*/ 1827784 w 1827784"/>
                <a:gd name="connsiteY3" fmla="*/ 468173 h 468173"/>
                <a:gd name="connsiteX4" fmla="*/ 0 w 1827784"/>
                <a:gd name="connsiteY4" fmla="*/ 468173 h 468173"/>
                <a:gd name="connsiteX5" fmla="*/ 0 w 1827784"/>
                <a:gd name="connsiteY5" fmla="*/ 4254 h 468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7784" h="468173">
                  <a:moveTo>
                    <a:pt x="0" y="4254"/>
                  </a:moveTo>
                  <a:lnTo>
                    <a:pt x="1622958" y="0"/>
                  </a:lnTo>
                  <a:lnTo>
                    <a:pt x="1820469" y="175565"/>
                  </a:lnTo>
                  <a:lnTo>
                    <a:pt x="1827784" y="468173"/>
                  </a:lnTo>
                  <a:lnTo>
                    <a:pt x="0" y="468173"/>
                  </a:lnTo>
                  <a:lnTo>
                    <a:pt x="0" y="4254"/>
                  </a:lnTo>
                  <a:close/>
                </a:path>
              </a:pathLst>
            </a:custGeom>
            <a:solidFill>
              <a:schemeClr val="bg1"/>
            </a:solidFill>
            <a:ln w="9525" cap="flat" cmpd="sng">
              <a:solidFill>
                <a:schemeClr val="bg2"/>
              </a:solidFill>
              <a:prstDash val="solid"/>
              <a:round/>
              <a:headEnd/>
              <a:tailEnd/>
            </a:ln>
            <a:effectLst/>
          </p:spPr>
          <p:txBody>
            <a:bodyPr lIns="91440" tIns="91440" rIns="91440" bIns="91440" anchor="ctr">
              <a:noAutofit/>
            </a:bodyPr>
            <a:lstStyle/>
            <a:p>
              <a:pPr marL="171450" indent="-171450">
                <a:buFont typeface="Arial" panose="020B0604020202020204" pitchFamily="34" charset="0"/>
                <a:buChar char="•"/>
              </a:pPr>
              <a:r>
                <a:rPr lang="en-US" sz="900" dirty="0"/>
                <a:t>Handpicked resources by process area</a:t>
              </a:r>
            </a:p>
            <a:p>
              <a:pPr marL="171450" indent="-171450">
                <a:buFont typeface="Arial" panose="020B0604020202020204" pitchFamily="34" charset="0"/>
                <a:buChar char="•"/>
              </a:pPr>
              <a:r>
                <a:rPr lang="en-US" sz="900" dirty="0"/>
                <a:t>May or may not be part of account/project team</a:t>
              </a:r>
            </a:p>
            <a:p>
              <a:pPr marL="171450" indent="-171450">
                <a:buFont typeface="Arial" panose="020B0604020202020204" pitchFamily="34" charset="0"/>
                <a:buChar char="•"/>
              </a:pPr>
              <a:r>
                <a:rPr lang="en-US" sz="900" dirty="0"/>
                <a:t>Industry/Process experts</a:t>
              </a:r>
            </a:p>
          </p:txBody>
        </p:sp>
        <p:sp>
          <p:nvSpPr>
            <p:cNvPr id="47" name="Rectangle 3"/>
            <p:cNvSpPr>
              <a:spLocks noChangeArrowheads="1"/>
            </p:cNvSpPr>
            <p:nvPr/>
          </p:nvSpPr>
          <p:spPr bwMode="gray">
            <a:xfrm>
              <a:off x="9635781" y="3662825"/>
              <a:ext cx="1980186" cy="161804"/>
            </a:xfrm>
            <a:prstGeom prst="rect">
              <a:avLst/>
            </a:prstGeom>
            <a:solidFill>
              <a:schemeClr val="accent3"/>
            </a:solidFill>
            <a:ln w="9525" algn="ctr">
              <a:noFill/>
              <a:miter lim="800000"/>
              <a:headEnd/>
              <a:tailEnd/>
            </a:ln>
            <a:effectLst/>
          </p:spPr>
          <p:txBody>
            <a:bodyPr lIns="91440" tIns="91440" rIns="91440" bIns="91440" anchor="ctr"/>
            <a:lstStyle/>
            <a:p>
              <a:pPr algn="ctr"/>
              <a:r>
                <a:rPr lang="en-US" sz="900" b="1" dirty="0">
                  <a:solidFill>
                    <a:schemeClr val="bg1"/>
                  </a:solidFill>
                </a:rPr>
                <a:t>Source</a:t>
              </a:r>
            </a:p>
          </p:txBody>
        </p:sp>
      </p:grpSp>
    </p:spTree>
    <p:extLst>
      <p:ext uri="{BB962C8B-B14F-4D97-AF65-F5344CB8AC3E}">
        <p14:creationId xmlns:p14="http://schemas.microsoft.com/office/powerpoint/2010/main" val="405785335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GB"/>
              <a:t>Appendix</a:t>
            </a:r>
            <a:endParaRPr lang="en-US" noProof="0"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4724360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
          <p:cNvSpPr txBox="1">
            <a:spLocks/>
          </p:cNvSpPr>
          <p:nvPr/>
        </p:nvSpPr>
        <p:spPr bwMode="gray">
          <a:xfrm>
            <a:off x="466850" y="2438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endParaRPr lang="en-US" b="1" dirty="0">
              <a:solidFill>
                <a:schemeClr val="accent1"/>
              </a:solidFill>
            </a:endParaRPr>
          </a:p>
        </p:txBody>
      </p:sp>
      <p:grpSp>
        <p:nvGrpSpPr>
          <p:cNvPr id="4" name="Group 3"/>
          <p:cNvGrpSpPr/>
          <p:nvPr/>
        </p:nvGrpSpPr>
        <p:grpSpPr>
          <a:xfrm>
            <a:off x="1327713" y="1018000"/>
            <a:ext cx="9418320" cy="5286233"/>
            <a:chOff x="1327713" y="1018000"/>
            <a:chExt cx="9418320" cy="5286233"/>
          </a:xfrm>
        </p:grpSpPr>
        <p:sp>
          <p:nvSpPr>
            <p:cNvPr id="105" name="AutoShape 34"/>
            <p:cNvSpPr>
              <a:spLocks noChangeArrowheads="1"/>
            </p:cNvSpPr>
            <p:nvPr/>
          </p:nvSpPr>
          <p:spPr bwMode="auto">
            <a:xfrm>
              <a:off x="1327713" y="1018000"/>
              <a:ext cx="9418320" cy="274320"/>
            </a:xfrm>
            <a:prstGeom prst="chevron">
              <a:avLst>
                <a:gd name="adj" fmla="val 29875"/>
              </a:avLst>
            </a:prstGeom>
            <a:solidFill>
              <a:schemeClr val="accent1"/>
            </a:solidFill>
            <a:ln w="9525" algn="ctr">
              <a:noFill/>
              <a:miter lim="800000"/>
              <a:headEnd/>
              <a:tailEn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Plan to Manufacture</a:t>
              </a:r>
            </a:p>
          </p:txBody>
        </p:sp>
        <p:sp>
          <p:nvSpPr>
            <p:cNvPr id="106" name="Flowchart: Process 105"/>
            <p:cNvSpPr/>
            <p:nvPr/>
          </p:nvSpPr>
          <p:spPr bwMode="gray">
            <a:xfrm>
              <a:off x="2682588" y="1371600"/>
              <a:ext cx="1222607" cy="640080"/>
            </a:xfrm>
            <a:prstGeom prst="flowChart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defTabSz="914400">
                <a:lnSpc>
                  <a:spcPct val="106000"/>
                </a:lnSpc>
                <a:buFont typeface="Wingdings 2" pitchFamily="18" charset="2"/>
                <a:buNone/>
              </a:pPr>
              <a:r>
                <a:rPr lang="en-US" sz="800" b="1" dirty="0">
                  <a:latin typeface="Verdana" panose="020B0604030504040204" pitchFamily="34" charset="0"/>
                  <a:ea typeface="Verdana" panose="020B0604030504040204" pitchFamily="34" charset="0"/>
                  <a:cs typeface="Verdana" panose="020B0604030504040204" pitchFamily="34" charset="0"/>
                </a:rPr>
                <a:t>Demand Planning</a:t>
              </a:r>
            </a:p>
          </p:txBody>
        </p:sp>
        <p:sp>
          <p:nvSpPr>
            <p:cNvPr id="107" name="Flowchart: Process 106"/>
            <p:cNvSpPr/>
            <p:nvPr/>
          </p:nvSpPr>
          <p:spPr bwMode="gray">
            <a:xfrm>
              <a:off x="4010910" y="1371600"/>
              <a:ext cx="1222607" cy="640080"/>
            </a:xfrm>
            <a:prstGeom prst="flowChart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Supply  Planning</a:t>
              </a:r>
            </a:p>
          </p:txBody>
        </p:sp>
        <p:sp>
          <p:nvSpPr>
            <p:cNvPr id="108" name="Flowchart: Process 107"/>
            <p:cNvSpPr/>
            <p:nvPr/>
          </p:nvSpPr>
          <p:spPr bwMode="gray">
            <a:xfrm>
              <a:off x="1354265" y="1371600"/>
              <a:ext cx="1222607" cy="640080"/>
            </a:xfrm>
            <a:prstGeom prst="flowChart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Mange Products</a:t>
              </a:r>
            </a:p>
          </p:txBody>
        </p:sp>
        <p:sp>
          <p:nvSpPr>
            <p:cNvPr id="109" name="Flowchart: Process 108"/>
            <p:cNvSpPr/>
            <p:nvPr/>
          </p:nvSpPr>
          <p:spPr bwMode="gray">
            <a:xfrm>
              <a:off x="2682588" y="210312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Reserve Material against demand</a:t>
              </a:r>
            </a:p>
          </p:txBody>
        </p:sp>
        <p:sp>
          <p:nvSpPr>
            <p:cNvPr id="110" name="Flowchart: Process 109"/>
            <p:cNvSpPr/>
            <p:nvPr/>
          </p:nvSpPr>
          <p:spPr bwMode="gray">
            <a:xfrm>
              <a:off x="4010910" y="210312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Define a Plan</a:t>
              </a:r>
            </a:p>
          </p:txBody>
        </p:sp>
        <p:sp>
          <p:nvSpPr>
            <p:cNvPr id="111" name="Flowchart: Process 110"/>
            <p:cNvSpPr/>
            <p:nvPr/>
          </p:nvSpPr>
          <p:spPr bwMode="gray">
            <a:xfrm>
              <a:off x="4010910" y="2103120"/>
              <a:ext cx="1222607" cy="640080"/>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Launch a Plan</a:t>
              </a:r>
            </a:p>
          </p:txBody>
        </p:sp>
        <p:sp>
          <p:nvSpPr>
            <p:cNvPr id="112" name="Flowchart: Process 111"/>
            <p:cNvSpPr/>
            <p:nvPr/>
          </p:nvSpPr>
          <p:spPr bwMode="gray">
            <a:xfrm>
              <a:off x="4010910" y="283464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Perform Data Collection</a:t>
              </a:r>
            </a:p>
          </p:txBody>
        </p:sp>
        <p:sp>
          <p:nvSpPr>
            <p:cNvPr id="113" name="Flowchart: Process 112"/>
            <p:cNvSpPr/>
            <p:nvPr/>
          </p:nvSpPr>
          <p:spPr bwMode="gray">
            <a:xfrm>
              <a:off x="4010910" y="356616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Analyze Supply Plan</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14" name="Flowchart: Process 113"/>
            <p:cNvSpPr/>
            <p:nvPr/>
          </p:nvSpPr>
          <p:spPr bwMode="gray">
            <a:xfrm>
              <a:off x="2668301" y="3566160"/>
              <a:ext cx="1222607" cy="640080"/>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800" b="1" dirty="0">
                  <a:latin typeface="Verdana" panose="020B0604030504040204" pitchFamily="34" charset="0"/>
                  <a:ea typeface="Verdana" panose="020B0604030504040204" pitchFamily="34" charset="0"/>
                  <a:cs typeface="Verdana" panose="020B0604030504040204" pitchFamily="34" charset="0"/>
                </a:rPr>
                <a:t>Analyze and Approve Demand Plan</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15" name="Flowchart: Process 114"/>
            <p:cNvSpPr/>
            <p:nvPr/>
          </p:nvSpPr>
          <p:spPr bwMode="gray">
            <a:xfrm>
              <a:off x="5339233" y="210312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Standard Production - Make to Stock</a:t>
              </a:r>
            </a:p>
          </p:txBody>
        </p:sp>
        <p:sp>
          <p:nvSpPr>
            <p:cNvPr id="116" name="Flowchart: Process 115">
              <a:extLst>
                <a:ext uri="{FF2B5EF4-FFF2-40B4-BE49-F238E27FC236}">
                  <a16:creationId xmlns:a16="http://schemas.microsoft.com/office/drawing/2014/main" id="{7B6013E5-28DA-48C6-BF44-3782C5F7020D}"/>
                </a:ext>
              </a:extLst>
            </p:cNvPr>
            <p:cNvSpPr/>
            <p:nvPr/>
          </p:nvSpPr>
          <p:spPr bwMode="gray">
            <a:xfrm>
              <a:off x="9309913" y="1371600"/>
              <a:ext cx="1388896" cy="640080"/>
            </a:xfrm>
            <a:prstGeom prst="flowChart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Cost Management</a:t>
              </a:r>
            </a:p>
          </p:txBody>
        </p:sp>
        <p:sp>
          <p:nvSpPr>
            <p:cNvPr id="128" name="Flowchart: Process 127">
              <a:extLst>
                <a:ext uri="{FF2B5EF4-FFF2-40B4-BE49-F238E27FC236}">
                  <a16:creationId xmlns:a16="http://schemas.microsoft.com/office/drawing/2014/main" id="{A186B1A9-D147-49FC-9709-61FC385C2D4B}"/>
                </a:ext>
              </a:extLst>
            </p:cNvPr>
            <p:cNvSpPr/>
            <p:nvPr/>
          </p:nvSpPr>
          <p:spPr bwMode="gray">
            <a:xfrm>
              <a:off x="7995878" y="1371600"/>
              <a:ext cx="1222607" cy="640080"/>
            </a:xfrm>
            <a:prstGeom prst="flowChart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Inventory Management</a:t>
              </a:r>
            </a:p>
          </p:txBody>
        </p:sp>
        <p:sp>
          <p:nvSpPr>
            <p:cNvPr id="129" name="Flowchart: Process 128">
              <a:extLst>
                <a:ext uri="{FF2B5EF4-FFF2-40B4-BE49-F238E27FC236}">
                  <a16:creationId xmlns:a16="http://schemas.microsoft.com/office/drawing/2014/main" id="{9B8DE294-0BA2-4757-876D-8F599C133727}"/>
                </a:ext>
              </a:extLst>
            </p:cNvPr>
            <p:cNvSpPr/>
            <p:nvPr/>
          </p:nvSpPr>
          <p:spPr bwMode="gray">
            <a:xfrm>
              <a:off x="7995878" y="210312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Sub Inventory Transfers</a:t>
              </a:r>
            </a:p>
          </p:txBody>
        </p:sp>
        <p:sp>
          <p:nvSpPr>
            <p:cNvPr id="130" name="Flowchart: Process 129">
              <a:extLst>
                <a:ext uri="{FF2B5EF4-FFF2-40B4-BE49-F238E27FC236}">
                  <a16:creationId xmlns:a16="http://schemas.microsoft.com/office/drawing/2014/main" id="{8DE38784-7063-4A20-BFE5-F25DC9624F74}"/>
                </a:ext>
              </a:extLst>
            </p:cNvPr>
            <p:cNvSpPr/>
            <p:nvPr/>
          </p:nvSpPr>
          <p:spPr bwMode="gray">
            <a:xfrm>
              <a:off x="5339233" y="1371600"/>
              <a:ext cx="2536722" cy="640080"/>
            </a:xfrm>
            <a:prstGeom prst="flowChartProcess">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Manufacturing Execution</a:t>
              </a:r>
            </a:p>
          </p:txBody>
        </p:sp>
        <p:sp>
          <p:nvSpPr>
            <p:cNvPr id="131" name="Flowchart: Process 130">
              <a:extLst>
                <a:ext uri="{FF2B5EF4-FFF2-40B4-BE49-F238E27FC236}">
                  <a16:creationId xmlns:a16="http://schemas.microsoft.com/office/drawing/2014/main" id="{C06EFA57-8726-4BD8-92AB-30EEC5772DCE}"/>
                </a:ext>
              </a:extLst>
            </p:cNvPr>
            <p:cNvSpPr/>
            <p:nvPr/>
          </p:nvSpPr>
          <p:spPr bwMode="gray">
            <a:xfrm>
              <a:off x="5339233" y="210312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Work Order Release</a:t>
              </a:r>
            </a:p>
          </p:txBody>
        </p:sp>
        <p:sp>
          <p:nvSpPr>
            <p:cNvPr id="132" name="Flowchart: Process 131"/>
            <p:cNvSpPr/>
            <p:nvPr/>
          </p:nvSpPr>
          <p:spPr bwMode="gray">
            <a:xfrm>
              <a:off x="5339233" y="2834640"/>
              <a:ext cx="1208401" cy="1060352"/>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Standard Production </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CTO,</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Make to Order,</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Make to Stock,</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Scrap/Reject</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3" name="Flowchart: Process 132">
              <a:extLst>
                <a:ext uri="{FF2B5EF4-FFF2-40B4-BE49-F238E27FC236}">
                  <a16:creationId xmlns:a16="http://schemas.microsoft.com/office/drawing/2014/main" id="{F31E5006-56A4-4A5A-9223-3B0C1D18F465}"/>
                </a:ext>
              </a:extLst>
            </p:cNvPr>
            <p:cNvSpPr/>
            <p:nvPr/>
          </p:nvSpPr>
          <p:spPr bwMode="gray">
            <a:xfrm>
              <a:off x="9309913" y="2103120"/>
              <a:ext cx="1406408" cy="640080"/>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Defining standard costs</a:t>
              </a:r>
            </a:p>
          </p:txBody>
        </p:sp>
        <p:sp>
          <p:nvSpPr>
            <p:cNvPr id="134" name="Flowchart: Process 133">
              <a:extLst>
                <a:ext uri="{FF2B5EF4-FFF2-40B4-BE49-F238E27FC236}">
                  <a16:creationId xmlns:a16="http://schemas.microsoft.com/office/drawing/2014/main" id="{F31E5006-56A4-4A5A-9223-3B0C1D18F465}"/>
                </a:ext>
              </a:extLst>
            </p:cNvPr>
            <p:cNvSpPr/>
            <p:nvPr/>
          </p:nvSpPr>
          <p:spPr bwMode="gray">
            <a:xfrm>
              <a:off x="9309913" y="2103120"/>
              <a:ext cx="1401525" cy="640080"/>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Standard Costs</a:t>
              </a:r>
            </a:p>
            <a:p>
              <a:pPr marL="61913" lvl="0"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Define Standard Costs,</a:t>
              </a:r>
            </a:p>
            <a:p>
              <a:pPr marL="61913" lvl="0"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Cost Rollup,</a:t>
              </a:r>
            </a:p>
            <a:p>
              <a:pPr marL="61913" lvl="0"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Publish Costs</a:t>
              </a:r>
            </a:p>
          </p:txBody>
        </p:sp>
        <p:sp>
          <p:nvSpPr>
            <p:cNvPr id="135" name="Flowchart: Process 134"/>
            <p:cNvSpPr/>
            <p:nvPr/>
          </p:nvSpPr>
          <p:spPr bwMode="gray">
            <a:xfrm>
              <a:off x="1354265" y="210312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Create new Item</a:t>
              </a:r>
            </a:p>
          </p:txBody>
        </p:sp>
        <p:sp>
          <p:nvSpPr>
            <p:cNvPr id="136" name="Flowchart: Process 135"/>
            <p:cNvSpPr/>
            <p:nvPr/>
          </p:nvSpPr>
          <p:spPr bwMode="gray">
            <a:xfrm>
              <a:off x="1354265" y="2103120"/>
              <a:ext cx="1222607" cy="137160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Items</a:t>
              </a:r>
            </a:p>
            <a:p>
              <a:pPr marL="61913" marR="0" lvl="0" indent="-61913"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Create Items,</a:t>
              </a:r>
            </a:p>
            <a:p>
              <a:pPr marL="61913" marR="0" lvl="0" indent="-61913"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80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Assign</a:t>
              </a:r>
              <a:r>
                <a:rPr kumimoji="0" lang="en-US" sz="800"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to Orgs,</a:t>
              </a:r>
            </a:p>
            <a:p>
              <a:pPr marL="61913" marR="0" lvl="0" indent="-61913"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80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Map Item Categories,</a:t>
              </a:r>
            </a:p>
            <a:p>
              <a:pPr marL="61913" marR="0" lvl="0" indent="-61913"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Cross-References,</a:t>
              </a:r>
            </a:p>
            <a:p>
              <a:pPr marL="61913" marR="0" lvl="0" indent="-61913"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80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Item Attachments</a:t>
              </a:r>
            </a:p>
          </p:txBody>
        </p:sp>
        <p:sp>
          <p:nvSpPr>
            <p:cNvPr id="141" name="Flowchart: Process 140">
              <a:extLst>
                <a:ext uri="{FF2B5EF4-FFF2-40B4-BE49-F238E27FC236}">
                  <a16:creationId xmlns:a16="http://schemas.microsoft.com/office/drawing/2014/main" id="{9B8DE294-0BA2-4757-876D-8F599C133727}"/>
                </a:ext>
              </a:extLst>
            </p:cNvPr>
            <p:cNvSpPr/>
            <p:nvPr/>
          </p:nvSpPr>
          <p:spPr bwMode="gray">
            <a:xfrm>
              <a:off x="7995878" y="210312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Inventory Accuracy Analysis</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Cycle Counting,</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Physical Inventory Counting</a:t>
              </a:r>
            </a:p>
          </p:txBody>
        </p:sp>
        <p:sp>
          <p:nvSpPr>
            <p:cNvPr id="142" name="Flowchart: Process 141"/>
            <p:cNvSpPr/>
            <p:nvPr/>
          </p:nvSpPr>
          <p:spPr bwMode="gray">
            <a:xfrm>
              <a:off x="1354265" y="356616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Item Structures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Structures,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Copy Structures,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Copy Structures to Orgs</a:t>
              </a:r>
            </a:p>
          </p:txBody>
        </p:sp>
        <p:sp>
          <p:nvSpPr>
            <p:cNvPr id="143" name="Flowchart: Process 142">
              <a:extLst>
                <a:ext uri="{FF2B5EF4-FFF2-40B4-BE49-F238E27FC236}">
                  <a16:creationId xmlns:a16="http://schemas.microsoft.com/office/drawing/2014/main" id="{F31E5006-56A4-4A5A-9223-3B0C1D18F465}"/>
                </a:ext>
              </a:extLst>
            </p:cNvPr>
            <p:cNvSpPr/>
            <p:nvPr/>
          </p:nvSpPr>
          <p:spPr bwMode="gray">
            <a:xfrm>
              <a:off x="9309913" y="2834640"/>
              <a:ext cx="1399821" cy="640080"/>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Manufacturing Costing</a:t>
              </a:r>
            </a:p>
          </p:txBody>
        </p:sp>
        <p:sp>
          <p:nvSpPr>
            <p:cNvPr id="144" name="Flowchart: Process 143">
              <a:extLst>
                <a:ext uri="{FF2B5EF4-FFF2-40B4-BE49-F238E27FC236}">
                  <a16:creationId xmlns:a16="http://schemas.microsoft.com/office/drawing/2014/main" id="{F31E5006-56A4-4A5A-9223-3B0C1D18F465}"/>
                </a:ext>
              </a:extLst>
            </p:cNvPr>
            <p:cNvSpPr/>
            <p:nvPr/>
          </p:nvSpPr>
          <p:spPr bwMode="gray">
            <a:xfrm>
              <a:off x="9309913" y="3566160"/>
              <a:ext cx="1401525" cy="640080"/>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Inventory Costing</a:t>
              </a:r>
            </a:p>
          </p:txBody>
        </p:sp>
        <p:sp>
          <p:nvSpPr>
            <p:cNvPr id="145" name="Flowchart: Process 144"/>
            <p:cNvSpPr/>
            <p:nvPr/>
          </p:nvSpPr>
          <p:spPr bwMode="gray">
            <a:xfrm>
              <a:off x="5339230" y="5664153"/>
              <a:ext cx="1208401"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Order less Completion / Return</a:t>
              </a:r>
            </a:p>
          </p:txBody>
        </p:sp>
        <p:sp>
          <p:nvSpPr>
            <p:cNvPr id="146" name="Flowchart: Process 145"/>
            <p:cNvSpPr/>
            <p:nvPr/>
          </p:nvSpPr>
          <p:spPr bwMode="gray">
            <a:xfrm>
              <a:off x="6667555" y="2103120"/>
              <a:ext cx="1208401" cy="137160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Planned</a:t>
              </a:r>
              <a:r>
                <a:rPr kumimoji="0" lang="en-US" sz="8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Orders</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Release Planned Orders,</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Update Quantities,</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Update Quantities via Excel,</a:t>
              </a: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8" name="Flowchart: Process 147"/>
            <p:cNvSpPr/>
            <p:nvPr/>
          </p:nvSpPr>
          <p:spPr bwMode="gray">
            <a:xfrm>
              <a:off x="6667555" y="5041360"/>
              <a:ext cx="1208401"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Contract Manufacturing</a:t>
              </a:r>
            </a:p>
          </p:txBody>
        </p:sp>
        <p:sp>
          <p:nvSpPr>
            <p:cNvPr id="174" name="Flowchart: Process 173"/>
            <p:cNvSpPr/>
            <p:nvPr/>
          </p:nvSpPr>
          <p:spPr bwMode="gray">
            <a:xfrm>
              <a:off x="5339231" y="3979249"/>
              <a:ext cx="1208401"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R="0" lvl="0" defTabSz="914400" fontAlgn="auto">
                <a:lnSpc>
                  <a:spcPct val="106000"/>
                </a:lnSpc>
                <a:spcBef>
                  <a:spcPts val="0"/>
                </a:spcBef>
                <a:spcAft>
                  <a:spcPts val="0"/>
                </a:spcAft>
                <a:buClrTx/>
                <a:buSzTx/>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Non Standard Production</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Prototype,</a:t>
              </a:r>
            </a:p>
            <a:p>
              <a:pPr marL="61913" marR="0" lvl="0" indent="-61913" defTabSz="914400" fontAlgn="auto">
                <a:lnSpc>
                  <a:spcPct val="106000"/>
                </a:lnSpc>
                <a:spcBef>
                  <a:spcPts val="0"/>
                </a:spcBef>
                <a:spcAft>
                  <a:spcPts val="0"/>
                </a:spcAft>
                <a:buClrTx/>
                <a:buSzTx/>
                <a:buFont typeface="Arial" panose="020B0604020202020204" pitchFamily="34" charset="0"/>
                <a:buChar char="•"/>
                <a:tabLst/>
                <a:defRPr/>
              </a:pPr>
              <a:r>
                <a:rPr lang="en-US" sz="800" dirty="0">
                  <a:latin typeface="Verdana" panose="020B0604030504040204" pitchFamily="34" charset="0"/>
                  <a:ea typeface="Verdana" panose="020B0604030504040204" pitchFamily="34" charset="0"/>
                  <a:cs typeface="Verdana" panose="020B0604030504040204" pitchFamily="34" charset="0"/>
                </a:rPr>
                <a:t>Repair</a:t>
              </a:r>
            </a:p>
          </p:txBody>
        </p:sp>
        <p:sp>
          <p:nvSpPr>
            <p:cNvPr id="175" name="Flowchart: Process 174"/>
            <p:cNvSpPr/>
            <p:nvPr/>
          </p:nvSpPr>
          <p:spPr bwMode="gray">
            <a:xfrm>
              <a:off x="6667555" y="4297680"/>
              <a:ext cx="1208401"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Review Exceptions</a:t>
              </a:r>
            </a:p>
          </p:txBody>
        </p:sp>
        <p:sp>
          <p:nvSpPr>
            <p:cNvPr id="176" name="Flowchart: Process 175">
              <a:extLst>
                <a:ext uri="{FF2B5EF4-FFF2-40B4-BE49-F238E27FC236}">
                  <a16:creationId xmlns:a16="http://schemas.microsoft.com/office/drawing/2014/main" id="{9B8DE294-0BA2-4757-876D-8F599C133727}"/>
                </a:ext>
              </a:extLst>
            </p:cNvPr>
            <p:cNvSpPr/>
            <p:nvPr/>
          </p:nvSpPr>
          <p:spPr bwMode="gray">
            <a:xfrm>
              <a:off x="7995877" y="283464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Define Safety Stock</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6" name="Flowchart: Process 35"/>
            <p:cNvSpPr/>
            <p:nvPr/>
          </p:nvSpPr>
          <p:spPr bwMode="gray">
            <a:xfrm>
              <a:off x="9309913" y="4297680"/>
              <a:ext cx="1399821"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Period Close</a:t>
              </a:r>
            </a:p>
          </p:txBody>
        </p:sp>
        <p:sp>
          <p:nvSpPr>
            <p:cNvPr id="37" name="Flowchart: Process 36"/>
            <p:cNvSpPr/>
            <p:nvPr/>
          </p:nvSpPr>
          <p:spPr bwMode="gray">
            <a:xfrm>
              <a:off x="2682587" y="2834640"/>
              <a:ext cx="1222607"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Upload Demand Forecast via Excel</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8" name="Flowchart: Process 37">
              <a:extLst>
                <a:ext uri="{FF2B5EF4-FFF2-40B4-BE49-F238E27FC236}">
                  <a16:creationId xmlns:a16="http://schemas.microsoft.com/office/drawing/2014/main" id="{9B8DE294-0BA2-4757-876D-8F599C133727}"/>
                </a:ext>
              </a:extLst>
            </p:cNvPr>
            <p:cNvSpPr/>
            <p:nvPr/>
          </p:nvSpPr>
          <p:spPr bwMode="gray">
            <a:xfrm>
              <a:off x="7995877" y="3554000"/>
              <a:ext cx="1222607" cy="138376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Inventory Transfers</a:t>
              </a:r>
            </a:p>
            <a:p>
              <a:pPr marL="61913" lvl="0"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Inter-Org Transfers,</a:t>
              </a:r>
            </a:p>
            <a:p>
              <a:pPr marL="61913" lvl="0"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Sub-Inventory Transfers,</a:t>
              </a:r>
            </a:p>
            <a:p>
              <a:pPr marL="61913" lvl="0"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Inventory Adjustments (Ad-hoc)</a:t>
              </a:r>
            </a:p>
          </p:txBody>
        </p:sp>
        <p:sp>
          <p:nvSpPr>
            <p:cNvPr id="39" name="Flowchart: Process 38"/>
            <p:cNvSpPr/>
            <p:nvPr/>
          </p:nvSpPr>
          <p:spPr bwMode="gray">
            <a:xfrm>
              <a:off x="4010910" y="4297680"/>
              <a:ext cx="1222607" cy="640080"/>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Perform Simulation Planning</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0" name="Flowchart: Process 39"/>
            <p:cNvSpPr/>
            <p:nvPr/>
          </p:nvSpPr>
          <p:spPr bwMode="gray">
            <a:xfrm>
              <a:off x="5339231" y="4726744"/>
              <a:ext cx="1208401" cy="829994"/>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Engineering Change Orders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Approval,</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Creating Item post approval</a:t>
              </a:r>
            </a:p>
          </p:txBody>
        </p:sp>
        <p:sp>
          <p:nvSpPr>
            <p:cNvPr id="42" name="Flowchart: Process 41"/>
            <p:cNvSpPr/>
            <p:nvPr/>
          </p:nvSpPr>
          <p:spPr bwMode="gray">
            <a:xfrm>
              <a:off x="6667555" y="3554000"/>
              <a:ext cx="1208401" cy="6400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Review Resource Requirements</a:t>
              </a:r>
            </a:p>
          </p:txBody>
        </p:sp>
      </p:grpSp>
      <p:sp>
        <p:nvSpPr>
          <p:cNvPr id="2" name="Title 1"/>
          <p:cNvSpPr>
            <a:spLocks noGrp="1"/>
          </p:cNvSpPr>
          <p:nvPr>
            <p:ph type="title"/>
          </p:nvPr>
        </p:nvSpPr>
        <p:spPr/>
        <p:txBody>
          <a:bodyPr/>
          <a:lstStyle/>
          <a:p>
            <a:r>
              <a:rPr lang="en-US" dirty="0"/>
              <a:t>Testing Automation Scenarios: Plan to Manufacture </a:t>
            </a:r>
          </a:p>
        </p:txBody>
      </p:sp>
    </p:spTree>
    <p:extLst>
      <p:ext uri="{BB962C8B-B14F-4D97-AF65-F5344CB8AC3E}">
        <p14:creationId xmlns:p14="http://schemas.microsoft.com/office/powerpoint/2010/main" val="156504756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
          <p:cNvSpPr txBox="1">
            <a:spLocks/>
          </p:cNvSpPr>
          <p:nvPr/>
        </p:nvSpPr>
        <p:spPr bwMode="gray">
          <a:xfrm>
            <a:off x="466850" y="2438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spcBef>
                <a:spcPts val="0"/>
              </a:spcBef>
            </a:pPr>
            <a:endParaRPr lang="en-US" sz="2400" b="1" dirty="0">
              <a:solidFill>
                <a:srgbClr val="86BC25"/>
              </a:solidFill>
              <a:ea typeface="+mn-ea"/>
              <a:cs typeface="+mn-cs"/>
            </a:endParaRPr>
          </a:p>
          <a:p>
            <a:endParaRPr lang="en-US" b="1" dirty="0">
              <a:solidFill>
                <a:schemeClr val="accent1"/>
              </a:solidFill>
            </a:endParaRPr>
          </a:p>
        </p:txBody>
      </p:sp>
      <p:grpSp>
        <p:nvGrpSpPr>
          <p:cNvPr id="4" name="Group 3"/>
          <p:cNvGrpSpPr/>
          <p:nvPr/>
        </p:nvGrpSpPr>
        <p:grpSpPr>
          <a:xfrm>
            <a:off x="1299028" y="1017999"/>
            <a:ext cx="9418320" cy="4676037"/>
            <a:chOff x="1299028" y="1017999"/>
            <a:chExt cx="9418320" cy="4676037"/>
          </a:xfrm>
        </p:grpSpPr>
        <p:sp>
          <p:nvSpPr>
            <p:cNvPr id="38" name="AutoShape 34"/>
            <p:cNvSpPr>
              <a:spLocks noChangeArrowheads="1"/>
            </p:cNvSpPr>
            <p:nvPr/>
          </p:nvSpPr>
          <p:spPr bwMode="auto">
            <a:xfrm>
              <a:off x="1299028" y="1017999"/>
              <a:ext cx="9418320" cy="274320"/>
            </a:xfrm>
            <a:prstGeom prst="chevron">
              <a:avLst>
                <a:gd name="adj" fmla="val 29875"/>
              </a:avLst>
            </a:prstGeom>
            <a:solidFill>
              <a:schemeClr val="accent2"/>
            </a:solidFill>
            <a:ln w="9525" algn="ctr">
              <a:noFill/>
              <a:miter lim="800000"/>
              <a:headEnd/>
              <a:tailEn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Order </a:t>
              </a:r>
              <a:r>
                <a:rPr kumimoji="0" lang="en-US"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To Deliver</a:t>
              </a:r>
            </a:p>
          </p:txBody>
        </p:sp>
        <p:sp>
          <p:nvSpPr>
            <p:cNvPr id="40" name="Flowchart: Process 39"/>
            <p:cNvSpPr/>
            <p:nvPr/>
          </p:nvSpPr>
          <p:spPr bwMode="gray">
            <a:xfrm>
              <a:off x="2903754" y="1371600"/>
              <a:ext cx="3061180" cy="664836"/>
            </a:xfrm>
            <a:prstGeom prst="flowChartProcess">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Order Management</a:t>
              </a:r>
            </a:p>
          </p:txBody>
        </p:sp>
        <p:sp>
          <p:nvSpPr>
            <p:cNvPr id="41" name="Flowchart: Process 40"/>
            <p:cNvSpPr/>
            <p:nvPr/>
          </p:nvSpPr>
          <p:spPr bwMode="gray">
            <a:xfrm>
              <a:off x="1318501" y="1371600"/>
              <a:ext cx="1459089" cy="664836"/>
            </a:xfrm>
            <a:prstGeom prst="flowChartProcess">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Customers</a:t>
              </a:r>
            </a:p>
          </p:txBody>
        </p:sp>
        <p:sp>
          <p:nvSpPr>
            <p:cNvPr id="42" name="Flowchart: Process 41"/>
            <p:cNvSpPr/>
            <p:nvPr/>
          </p:nvSpPr>
          <p:spPr bwMode="gray">
            <a:xfrm>
              <a:off x="2920592" y="2103120"/>
              <a:ext cx="1459089" cy="212787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Sales Orders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Manual Sales Order,</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Order with Standard Items,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Copy Sales Order,</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Cancel Orders,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Cancel Lines,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Quantity Change before Pick Release</a:t>
              </a:r>
            </a:p>
          </p:txBody>
        </p:sp>
        <p:sp>
          <p:nvSpPr>
            <p:cNvPr id="43" name="Flowchart: Process 42"/>
            <p:cNvSpPr/>
            <p:nvPr/>
          </p:nvSpPr>
          <p:spPr bwMode="gray">
            <a:xfrm>
              <a:off x="2917818" y="5029200"/>
              <a:ext cx="1459089" cy="66483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Back to Back Scenario</a:t>
              </a:r>
            </a:p>
          </p:txBody>
        </p:sp>
        <p:sp>
          <p:nvSpPr>
            <p:cNvPr id="45" name="Flowchart: Process 44"/>
            <p:cNvSpPr/>
            <p:nvPr/>
          </p:nvSpPr>
          <p:spPr bwMode="gray">
            <a:xfrm>
              <a:off x="2917818" y="4297680"/>
              <a:ext cx="1459089" cy="664836"/>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Drop Ship Orders</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6" name="Flowchart: Process 45"/>
            <p:cNvSpPr/>
            <p:nvPr/>
          </p:nvSpPr>
          <p:spPr bwMode="gray">
            <a:xfrm>
              <a:off x="4505842" y="2100630"/>
              <a:ext cx="1459089" cy="644621"/>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Create Bill only Sales Order</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7" name="Flowchart: Process 46"/>
            <p:cNvSpPr/>
            <p:nvPr/>
          </p:nvSpPr>
          <p:spPr bwMode="gray">
            <a:xfrm>
              <a:off x="4505844" y="4297680"/>
              <a:ext cx="1459089" cy="65294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Holds</a:t>
              </a:r>
            </a:p>
          </p:txBody>
        </p:sp>
        <p:sp>
          <p:nvSpPr>
            <p:cNvPr id="48" name="Flowchart: Process 47"/>
            <p:cNvSpPr/>
            <p:nvPr/>
          </p:nvSpPr>
          <p:spPr bwMode="gray">
            <a:xfrm>
              <a:off x="4505844" y="5029200"/>
              <a:ext cx="1459089" cy="644621"/>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Order Invoicing</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9" name="Flowchart: Process 48"/>
            <p:cNvSpPr/>
            <p:nvPr/>
          </p:nvSpPr>
          <p:spPr bwMode="gray">
            <a:xfrm>
              <a:off x="7676349" y="2103120"/>
              <a:ext cx="1459089" cy="66483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Create &amp; Manage Return</a:t>
              </a:r>
              <a:r>
                <a:rPr kumimoji="0" lang="en-US" sz="8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Orders</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1" name="Flowchart: Process 50"/>
            <p:cNvSpPr/>
            <p:nvPr/>
          </p:nvSpPr>
          <p:spPr bwMode="gray">
            <a:xfrm>
              <a:off x="6091097" y="2834640"/>
              <a:ext cx="1459089" cy="66483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Auto Pick Release</a:t>
              </a:r>
            </a:p>
          </p:txBody>
        </p:sp>
        <p:sp>
          <p:nvSpPr>
            <p:cNvPr id="52" name="Flowchart: Process 51">
              <a:extLst>
                <a:ext uri="{FF2B5EF4-FFF2-40B4-BE49-F238E27FC236}">
                  <a16:creationId xmlns:a16="http://schemas.microsoft.com/office/drawing/2014/main" id="{7B6013E5-28DA-48C6-BF44-3782C5F7020D}"/>
                </a:ext>
              </a:extLst>
            </p:cNvPr>
            <p:cNvSpPr/>
            <p:nvPr/>
          </p:nvSpPr>
          <p:spPr bwMode="gray">
            <a:xfrm>
              <a:off x="9228974" y="1371600"/>
              <a:ext cx="1459089" cy="664836"/>
            </a:xfrm>
            <a:prstGeom prst="flowChartProcess">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Global Order Promising</a:t>
              </a:r>
            </a:p>
          </p:txBody>
        </p:sp>
        <p:sp>
          <p:nvSpPr>
            <p:cNvPr id="53" name="Flowchart: Process 52">
              <a:extLst>
                <a:ext uri="{FF2B5EF4-FFF2-40B4-BE49-F238E27FC236}">
                  <a16:creationId xmlns:a16="http://schemas.microsoft.com/office/drawing/2014/main" id="{A186B1A9-D147-49FC-9709-61FC385C2D4B}"/>
                </a:ext>
              </a:extLst>
            </p:cNvPr>
            <p:cNvSpPr/>
            <p:nvPr/>
          </p:nvSpPr>
          <p:spPr bwMode="gray">
            <a:xfrm>
              <a:off x="7676349" y="1371600"/>
              <a:ext cx="1459089" cy="664836"/>
            </a:xfrm>
            <a:prstGeom prst="flowChartProcess">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Returns</a:t>
              </a:r>
            </a:p>
          </p:txBody>
        </p:sp>
        <p:sp>
          <p:nvSpPr>
            <p:cNvPr id="54" name="Flowchart: Process 53">
              <a:extLst>
                <a:ext uri="{FF2B5EF4-FFF2-40B4-BE49-F238E27FC236}">
                  <a16:creationId xmlns:a16="http://schemas.microsoft.com/office/drawing/2014/main" id="{9B8DE294-0BA2-4757-876D-8F599C133727}"/>
                </a:ext>
              </a:extLst>
            </p:cNvPr>
            <p:cNvSpPr/>
            <p:nvPr/>
          </p:nvSpPr>
          <p:spPr bwMode="gray">
            <a:xfrm>
              <a:off x="6074144" y="4297680"/>
              <a:ext cx="1476041" cy="66483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Shipping</a:t>
              </a:r>
            </a:p>
          </p:txBody>
        </p:sp>
        <p:sp>
          <p:nvSpPr>
            <p:cNvPr id="55" name="Flowchart: Process 54">
              <a:extLst>
                <a:ext uri="{FF2B5EF4-FFF2-40B4-BE49-F238E27FC236}">
                  <a16:creationId xmlns:a16="http://schemas.microsoft.com/office/drawing/2014/main" id="{F31E5006-56A4-4A5A-9223-3B0C1D18F465}"/>
                </a:ext>
              </a:extLst>
            </p:cNvPr>
            <p:cNvSpPr/>
            <p:nvPr/>
          </p:nvSpPr>
          <p:spPr bwMode="gray">
            <a:xfrm>
              <a:off x="4505843" y="2834640"/>
              <a:ext cx="1459089" cy="664836"/>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Price List</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Price List,</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Add Items to Price List,</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Update Prices</a:t>
              </a:r>
            </a:p>
          </p:txBody>
        </p:sp>
        <p:sp>
          <p:nvSpPr>
            <p:cNvPr id="56" name="Flowchart: Process 55">
              <a:extLst>
                <a:ext uri="{FF2B5EF4-FFF2-40B4-BE49-F238E27FC236}">
                  <a16:creationId xmlns:a16="http://schemas.microsoft.com/office/drawing/2014/main" id="{8DE38784-7063-4A20-BFE5-F25DC9624F74}"/>
                </a:ext>
              </a:extLst>
            </p:cNvPr>
            <p:cNvSpPr/>
            <p:nvPr/>
          </p:nvSpPr>
          <p:spPr bwMode="gray">
            <a:xfrm>
              <a:off x="6091097" y="1371600"/>
              <a:ext cx="1459089" cy="664836"/>
            </a:xfrm>
            <a:prstGeom prst="flowChartProcess">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Order Picking and Shipping</a:t>
              </a:r>
            </a:p>
          </p:txBody>
        </p:sp>
        <p:sp>
          <p:nvSpPr>
            <p:cNvPr id="57" name="Flowchart: Process 56">
              <a:extLst>
                <a:ext uri="{FF2B5EF4-FFF2-40B4-BE49-F238E27FC236}">
                  <a16:creationId xmlns:a16="http://schemas.microsoft.com/office/drawing/2014/main" id="{C06EFA57-8726-4BD8-92AB-30EEC5772DCE}"/>
                </a:ext>
              </a:extLst>
            </p:cNvPr>
            <p:cNvSpPr/>
            <p:nvPr/>
          </p:nvSpPr>
          <p:spPr bwMode="gray">
            <a:xfrm>
              <a:off x="6091097" y="2103120"/>
              <a:ext cx="1459089" cy="66483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Pick Release</a:t>
              </a:r>
            </a:p>
          </p:txBody>
        </p:sp>
        <p:sp>
          <p:nvSpPr>
            <p:cNvPr id="58" name="Flowchart: Process 57"/>
            <p:cNvSpPr/>
            <p:nvPr/>
          </p:nvSpPr>
          <p:spPr bwMode="gray">
            <a:xfrm>
              <a:off x="6091096" y="3566160"/>
              <a:ext cx="1459089" cy="66483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Partial Picking</a:t>
              </a:r>
            </a:p>
          </p:txBody>
        </p:sp>
        <p:sp>
          <p:nvSpPr>
            <p:cNvPr id="59" name="Flowchart: Process 58">
              <a:extLst>
                <a:ext uri="{FF2B5EF4-FFF2-40B4-BE49-F238E27FC236}">
                  <a16:creationId xmlns:a16="http://schemas.microsoft.com/office/drawing/2014/main" id="{F31E5006-56A4-4A5A-9223-3B0C1D18F465}"/>
                </a:ext>
              </a:extLst>
            </p:cNvPr>
            <p:cNvSpPr/>
            <p:nvPr/>
          </p:nvSpPr>
          <p:spPr bwMode="gray">
            <a:xfrm>
              <a:off x="9228974" y="2103120"/>
              <a:ext cx="1474814" cy="664836"/>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Pick To Order</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Fulfillment,</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Shipping</a:t>
              </a:r>
            </a:p>
          </p:txBody>
        </p:sp>
        <p:sp>
          <p:nvSpPr>
            <p:cNvPr id="60" name="Flowchart: Process 59">
              <a:extLst>
                <a:ext uri="{FF2B5EF4-FFF2-40B4-BE49-F238E27FC236}">
                  <a16:creationId xmlns:a16="http://schemas.microsoft.com/office/drawing/2014/main" id="{F31E5006-56A4-4A5A-9223-3B0C1D18F465}"/>
                </a:ext>
              </a:extLst>
            </p:cNvPr>
            <p:cNvSpPr/>
            <p:nvPr/>
          </p:nvSpPr>
          <p:spPr bwMode="gray">
            <a:xfrm>
              <a:off x="9228974" y="2834640"/>
              <a:ext cx="1474814" cy="664836"/>
            </a:xfrm>
            <a:prstGeom prst="flowChartProcess">
              <a:avLst/>
            </a:prstGeom>
            <a:solidFill>
              <a:schemeClr val="accent6">
                <a:lumMod val="20000"/>
                <a:lumOff val="80000"/>
              </a:schemeClr>
            </a:solidFill>
            <a:ln w="9525"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Configure to Order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Fulfillment,</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Shipping</a:t>
              </a:r>
            </a:p>
          </p:txBody>
        </p:sp>
        <p:sp>
          <p:nvSpPr>
            <p:cNvPr id="62" name="Flowchart: Process 61"/>
            <p:cNvSpPr/>
            <p:nvPr/>
          </p:nvSpPr>
          <p:spPr bwMode="gray">
            <a:xfrm>
              <a:off x="1318501" y="2103120"/>
              <a:ext cx="1459089" cy="66483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Customer</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Creation</a:t>
              </a:r>
            </a:p>
          </p:txBody>
        </p:sp>
        <p:sp>
          <p:nvSpPr>
            <p:cNvPr id="63" name="Flowchart: Process 62"/>
            <p:cNvSpPr/>
            <p:nvPr/>
          </p:nvSpPr>
          <p:spPr bwMode="gray">
            <a:xfrm>
              <a:off x="1318501" y="2834640"/>
              <a:ext cx="1459089" cy="66483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Customer Sites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New Sites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Update </a:t>
              </a:r>
              <a:r>
                <a:rPr kumimoji="0" lang="en-US" sz="800" i="0" u="none" strike="noStrike" kern="1200" cap="none" spc="0" normalizeH="0" baseline="0" dirty="0">
                  <a:ln>
                    <a:noFill/>
                  </a:ln>
                  <a:effectLst/>
                  <a:uLnTx/>
                  <a:uFillTx/>
                  <a:latin typeface="Verdana" panose="020B0604030504040204" pitchFamily="34" charset="0"/>
                  <a:ea typeface="Verdana" panose="020B0604030504040204" pitchFamily="34" charset="0"/>
                  <a:cs typeface="Verdana" panose="020B0604030504040204" pitchFamily="34" charset="0"/>
                </a:rPr>
                <a:t>Site</a:t>
              </a:r>
              <a:r>
                <a:rPr kumimoji="0" lang="en-US" sz="800" i="0" u="none" strike="noStrike" kern="1200" cap="none" spc="0" normalizeH="0" dirty="0">
                  <a:ln>
                    <a:noFill/>
                  </a:ln>
                  <a:effectLst/>
                  <a:uLnTx/>
                  <a:uFillTx/>
                  <a:latin typeface="Verdana" panose="020B0604030504040204" pitchFamily="34" charset="0"/>
                  <a:ea typeface="Verdana" panose="020B0604030504040204" pitchFamily="34" charset="0"/>
                  <a:cs typeface="Verdana" panose="020B0604030504040204" pitchFamily="34" charset="0"/>
                </a:rPr>
                <a:t> Addresses</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9" name="Flowchart: Process 28"/>
            <p:cNvSpPr/>
            <p:nvPr/>
          </p:nvSpPr>
          <p:spPr bwMode="gray">
            <a:xfrm>
              <a:off x="4505841" y="3572103"/>
              <a:ext cx="1459089" cy="65294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Create Work orders</a:t>
              </a:r>
            </a:p>
          </p:txBody>
        </p:sp>
      </p:grpSp>
      <p:sp>
        <p:nvSpPr>
          <p:cNvPr id="2" name="Title 1"/>
          <p:cNvSpPr>
            <a:spLocks noGrp="1"/>
          </p:cNvSpPr>
          <p:nvPr>
            <p:ph type="title"/>
          </p:nvPr>
        </p:nvSpPr>
        <p:spPr/>
        <p:txBody>
          <a:bodyPr/>
          <a:lstStyle/>
          <a:p>
            <a:r>
              <a:rPr lang="en-US" dirty="0"/>
              <a:t>Testing Automation Scenarios: Order to Deliver </a:t>
            </a:r>
          </a:p>
        </p:txBody>
      </p:sp>
    </p:spTree>
    <p:extLst>
      <p:ext uri="{BB962C8B-B14F-4D97-AF65-F5344CB8AC3E}">
        <p14:creationId xmlns:p14="http://schemas.microsoft.com/office/powerpoint/2010/main" val="241136605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
          <p:cNvSpPr txBox="1">
            <a:spLocks/>
          </p:cNvSpPr>
          <p:nvPr/>
        </p:nvSpPr>
        <p:spPr bwMode="gray">
          <a:xfrm>
            <a:off x="466850" y="2438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spcBef>
                <a:spcPts val="0"/>
              </a:spcBef>
            </a:pPr>
            <a:endParaRPr lang="en-US" sz="2400" b="1" dirty="0">
              <a:solidFill>
                <a:srgbClr val="86BC25"/>
              </a:solidFill>
              <a:ea typeface="+mn-ea"/>
              <a:cs typeface="+mn-cs"/>
            </a:endParaRPr>
          </a:p>
          <a:p>
            <a:endParaRPr lang="en-US" b="1" dirty="0">
              <a:solidFill>
                <a:schemeClr val="accent1"/>
              </a:solidFill>
            </a:endParaRPr>
          </a:p>
        </p:txBody>
      </p:sp>
      <p:grpSp>
        <p:nvGrpSpPr>
          <p:cNvPr id="4" name="Group 3"/>
          <p:cNvGrpSpPr/>
          <p:nvPr/>
        </p:nvGrpSpPr>
        <p:grpSpPr>
          <a:xfrm>
            <a:off x="1598742" y="1028472"/>
            <a:ext cx="8794937" cy="3483755"/>
            <a:chOff x="1598742" y="1028472"/>
            <a:chExt cx="8794937" cy="3483755"/>
          </a:xfrm>
        </p:grpSpPr>
        <p:sp>
          <p:nvSpPr>
            <p:cNvPr id="29" name="AutoShape 34"/>
            <p:cNvSpPr>
              <a:spLocks noChangeArrowheads="1"/>
            </p:cNvSpPr>
            <p:nvPr/>
          </p:nvSpPr>
          <p:spPr bwMode="auto">
            <a:xfrm>
              <a:off x="1598742" y="1028472"/>
              <a:ext cx="8794937" cy="274320"/>
            </a:xfrm>
            <a:prstGeom prst="chevron">
              <a:avLst>
                <a:gd name="adj" fmla="val 29875"/>
              </a:avLst>
            </a:prstGeom>
            <a:solidFill>
              <a:schemeClr val="accent3"/>
            </a:solidFill>
            <a:ln w="19050" algn="ctr">
              <a:noFill/>
              <a:miter lim="800000"/>
              <a:headEnd/>
              <a:tailEn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Procure</a:t>
              </a:r>
              <a:r>
                <a:rPr kumimoji="0" lang="en-US"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to</a:t>
              </a:r>
              <a:r>
                <a:rPr kumimoji="0" lang="en-US"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Pay</a:t>
              </a:r>
            </a:p>
          </p:txBody>
        </p:sp>
        <p:sp>
          <p:nvSpPr>
            <p:cNvPr id="30" name="Flowchart: Process 29"/>
            <p:cNvSpPr/>
            <p:nvPr/>
          </p:nvSpPr>
          <p:spPr bwMode="gray">
            <a:xfrm>
              <a:off x="3358295" y="1371600"/>
              <a:ext cx="3410625" cy="580307"/>
            </a:xfrm>
            <a:prstGeom prst="flowChartProcess">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Requisitions, Purchase</a:t>
              </a:r>
              <a:r>
                <a:rPr kumimoji="0" lang="en-US" sz="8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Orders, Receiving</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1" name="Flowchart: Process 30"/>
            <p:cNvSpPr/>
            <p:nvPr/>
          </p:nvSpPr>
          <p:spPr bwMode="gray">
            <a:xfrm>
              <a:off x="6965382" y="1371600"/>
              <a:ext cx="3410625" cy="580307"/>
            </a:xfrm>
            <a:prstGeom prst="flowChartProcess">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a:t>
              </a:r>
              <a:r>
                <a:rPr kumimoji="0" lang="en-US" sz="8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Suppliers</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2" name="Flowchart: Process 31"/>
            <p:cNvSpPr/>
            <p:nvPr/>
          </p:nvSpPr>
          <p:spPr bwMode="gray">
            <a:xfrm>
              <a:off x="1598743" y="1371600"/>
              <a:ext cx="1615560" cy="580307"/>
            </a:xfrm>
            <a:prstGeom prst="flowChartProcess">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Self- Service Procurement</a:t>
              </a:r>
            </a:p>
          </p:txBody>
        </p:sp>
        <p:sp>
          <p:nvSpPr>
            <p:cNvPr id="33" name="Flowchart: Process 32"/>
            <p:cNvSpPr/>
            <p:nvPr/>
          </p:nvSpPr>
          <p:spPr bwMode="gray">
            <a:xfrm>
              <a:off x="5138730" y="2636985"/>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Transfer stock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From Consigned to Owned,</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From Owned to Consigned</a:t>
              </a:r>
            </a:p>
          </p:txBody>
        </p:sp>
        <p:sp>
          <p:nvSpPr>
            <p:cNvPr id="34" name="Flowchart: Process 33"/>
            <p:cNvSpPr/>
            <p:nvPr/>
          </p:nvSpPr>
          <p:spPr bwMode="gray">
            <a:xfrm>
              <a:off x="8760448" y="265176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Invoice Creation</a:t>
              </a:r>
            </a:p>
          </p:txBody>
        </p:sp>
        <p:sp>
          <p:nvSpPr>
            <p:cNvPr id="35" name="Flowchart: Process 34"/>
            <p:cNvSpPr/>
            <p:nvPr/>
          </p:nvSpPr>
          <p:spPr bwMode="gray">
            <a:xfrm>
              <a:off x="1598743" y="201168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800" b="1" dirty="0">
                  <a:latin typeface="Verdana" panose="020B0604030504040204" pitchFamily="34" charset="0"/>
                  <a:ea typeface="Verdana" panose="020B0604030504040204" pitchFamily="34" charset="0"/>
                  <a:cs typeface="Verdana" panose="020B0604030504040204" pitchFamily="34" charset="0"/>
                </a:rPr>
                <a:t>Contracts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Review,</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Approve</a:t>
              </a:r>
            </a:p>
          </p:txBody>
        </p:sp>
        <p:sp>
          <p:nvSpPr>
            <p:cNvPr id="36" name="Flowchart: Process 35"/>
            <p:cNvSpPr/>
            <p:nvPr/>
          </p:nvSpPr>
          <p:spPr bwMode="gray">
            <a:xfrm>
              <a:off x="1598743" y="265176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Purchase Order</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Review PO,</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Request Change</a:t>
              </a:r>
            </a:p>
          </p:txBody>
        </p:sp>
        <p:sp>
          <p:nvSpPr>
            <p:cNvPr id="39" name="Flowchart: Process 38"/>
            <p:cNvSpPr/>
            <p:nvPr/>
          </p:nvSpPr>
          <p:spPr bwMode="gray">
            <a:xfrm>
              <a:off x="6965382" y="2011680"/>
              <a:ext cx="1615560" cy="1205612"/>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Supplier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Registration,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Review Information,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Supplier User Administration</a:t>
              </a:r>
            </a:p>
          </p:txBody>
        </p:sp>
        <p:sp>
          <p:nvSpPr>
            <p:cNvPr id="65" name="Flowchart: Process 64"/>
            <p:cNvSpPr/>
            <p:nvPr/>
          </p:nvSpPr>
          <p:spPr bwMode="gray">
            <a:xfrm>
              <a:off x="3366608" y="393192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Purchase Order</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Manual PO,</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PO from Requisition</a:t>
              </a:r>
            </a:p>
          </p:txBody>
        </p:sp>
        <p:sp>
          <p:nvSpPr>
            <p:cNvPr id="67" name="Flowchart: Process 66"/>
            <p:cNvSpPr/>
            <p:nvPr/>
          </p:nvSpPr>
          <p:spPr bwMode="gray">
            <a:xfrm>
              <a:off x="3366608" y="265176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Agreements</a:t>
              </a:r>
            </a:p>
          </p:txBody>
        </p:sp>
        <p:sp>
          <p:nvSpPr>
            <p:cNvPr id="69" name="Flowchart: Process 68"/>
            <p:cNvSpPr/>
            <p:nvPr/>
          </p:nvSpPr>
          <p:spPr bwMode="gray">
            <a:xfrm>
              <a:off x="3368736" y="329184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Requisition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Approve</a:t>
              </a:r>
            </a:p>
          </p:txBody>
        </p:sp>
        <p:sp>
          <p:nvSpPr>
            <p:cNvPr id="70" name="Flowchart: Process 69"/>
            <p:cNvSpPr/>
            <p:nvPr/>
          </p:nvSpPr>
          <p:spPr bwMode="gray">
            <a:xfrm>
              <a:off x="5138729" y="201168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Receive Goods &amp; Services</a:t>
              </a:r>
            </a:p>
          </p:txBody>
        </p:sp>
        <p:sp>
          <p:nvSpPr>
            <p:cNvPr id="73" name="Flowchart: Process 72"/>
            <p:cNvSpPr/>
            <p:nvPr/>
          </p:nvSpPr>
          <p:spPr bwMode="gray">
            <a:xfrm>
              <a:off x="1598743" y="329184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Review &amp; Correct Item Receipts</a:t>
              </a:r>
            </a:p>
          </p:txBody>
        </p:sp>
        <p:sp>
          <p:nvSpPr>
            <p:cNvPr id="75" name="Flowchart: Process 74"/>
            <p:cNvSpPr/>
            <p:nvPr/>
          </p:nvSpPr>
          <p:spPr bwMode="gray">
            <a:xfrm>
              <a:off x="8760448" y="201168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Change Orders </a:t>
              </a:r>
              <a:r>
                <a:rPr lang="en-US" sz="800" dirty="0">
                  <a:latin typeface="Verdana" panose="020B0604030504040204" pitchFamily="34" charset="0"/>
                  <a:ea typeface="Verdana" panose="020B0604030504040204" pitchFamily="34" charset="0"/>
                  <a:cs typeface="Verdana" panose="020B0604030504040204" pitchFamily="34" charset="0"/>
                </a:rPr>
                <a:t>(includes Manage Orders)</a:t>
              </a:r>
              <a:endPar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7" name="Flowchart: Process 26"/>
            <p:cNvSpPr/>
            <p:nvPr/>
          </p:nvSpPr>
          <p:spPr bwMode="gray">
            <a:xfrm>
              <a:off x="3368736" y="201168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Blanket</a:t>
              </a:r>
              <a:r>
                <a:rPr kumimoji="0" lang="en-US" sz="8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Purchase Agreements</a:t>
              </a:r>
            </a:p>
            <a:p>
              <a:pPr marL="61913" indent="-61913" defTabSz="914400">
                <a:lnSpc>
                  <a:spcPct val="106000"/>
                </a:lnSpc>
                <a:buFont typeface="Arial" panose="020B0604020202020204" pitchFamily="34" charset="0"/>
                <a:buChar char="•"/>
                <a:defRPr/>
              </a:pPr>
              <a:r>
                <a:rPr lang="en-US" sz="800" baseline="0" dirty="0">
                  <a:latin typeface="Verdana" panose="020B0604030504040204" pitchFamily="34" charset="0"/>
                  <a:ea typeface="Verdana" panose="020B0604030504040204" pitchFamily="34" charset="0"/>
                  <a:cs typeface="Verdana" panose="020B0604030504040204" pitchFamily="34" charset="0"/>
                </a:rPr>
                <a:t>Create</a:t>
              </a:r>
              <a:r>
                <a:rPr lang="en-US" sz="800" dirty="0">
                  <a:latin typeface="Verdana" panose="020B0604030504040204" pitchFamily="34" charset="0"/>
                  <a:ea typeface="Verdana" panose="020B0604030504040204" pitchFamily="34" charset="0"/>
                  <a:cs typeface="Verdana" panose="020B0604030504040204" pitchFamily="34" charset="0"/>
                </a:rPr>
                <a:t> BPA,</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Using Clauses</a:t>
              </a:r>
            </a:p>
          </p:txBody>
        </p:sp>
        <p:sp>
          <p:nvSpPr>
            <p:cNvPr id="28" name="Flowchart: Process 27"/>
            <p:cNvSpPr/>
            <p:nvPr/>
          </p:nvSpPr>
          <p:spPr bwMode="gray">
            <a:xfrm>
              <a:off x="1598742" y="3931920"/>
              <a:ext cx="1615560" cy="580307"/>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800" b="1" dirty="0">
                  <a:latin typeface="Verdana" panose="020B0604030504040204" pitchFamily="34" charset="0"/>
                  <a:ea typeface="Verdana" panose="020B0604030504040204" pitchFamily="34" charset="0"/>
                  <a:cs typeface="Verdana" panose="020B0604030504040204" pitchFamily="34" charset="0"/>
                </a:rPr>
                <a:t>Sourcing Event</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Approve,</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Publish</a:t>
              </a:r>
            </a:p>
          </p:txBody>
        </p:sp>
      </p:grpSp>
      <p:sp>
        <p:nvSpPr>
          <p:cNvPr id="2" name="Title 1"/>
          <p:cNvSpPr>
            <a:spLocks noGrp="1"/>
          </p:cNvSpPr>
          <p:nvPr>
            <p:ph type="title"/>
          </p:nvPr>
        </p:nvSpPr>
        <p:spPr/>
        <p:txBody>
          <a:bodyPr/>
          <a:lstStyle/>
          <a:p>
            <a:r>
              <a:rPr lang="en-US" dirty="0"/>
              <a:t>Testing Automation Scenarios: Procure to Pay </a:t>
            </a:r>
          </a:p>
        </p:txBody>
      </p:sp>
    </p:spTree>
    <p:extLst>
      <p:ext uri="{BB962C8B-B14F-4D97-AF65-F5344CB8AC3E}">
        <p14:creationId xmlns:p14="http://schemas.microsoft.com/office/powerpoint/2010/main" val="152492269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
          <p:cNvSpPr txBox="1">
            <a:spLocks/>
          </p:cNvSpPr>
          <p:nvPr/>
        </p:nvSpPr>
        <p:spPr bwMode="gray">
          <a:xfrm>
            <a:off x="466850" y="2438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spcBef>
                <a:spcPts val="0"/>
              </a:spcBef>
            </a:pPr>
            <a:endParaRPr lang="en-US" b="1" dirty="0">
              <a:solidFill>
                <a:schemeClr val="accent1"/>
              </a:solidFill>
            </a:endParaRPr>
          </a:p>
        </p:txBody>
      </p:sp>
      <p:grpSp>
        <p:nvGrpSpPr>
          <p:cNvPr id="4" name="Group 3"/>
          <p:cNvGrpSpPr/>
          <p:nvPr/>
        </p:nvGrpSpPr>
        <p:grpSpPr>
          <a:xfrm>
            <a:off x="1448377" y="1017588"/>
            <a:ext cx="9332485" cy="5293396"/>
            <a:chOff x="1448377" y="1017588"/>
            <a:chExt cx="9332485" cy="5293396"/>
          </a:xfrm>
        </p:grpSpPr>
        <p:sp>
          <p:nvSpPr>
            <p:cNvPr id="27" name="AutoShape 34"/>
            <p:cNvSpPr>
              <a:spLocks noChangeArrowheads="1"/>
            </p:cNvSpPr>
            <p:nvPr/>
          </p:nvSpPr>
          <p:spPr bwMode="auto">
            <a:xfrm>
              <a:off x="1448377" y="1017588"/>
              <a:ext cx="9332483" cy="274320"/>
            </a:xfrm>
            <a:prstGeom prst="chevron">
              <a:avLst>
                <a:gd name="adj" fmla="val 29875"/>
              </a:avLst>
            </a:prstGeom>
            <a:solidFill>
              <a:schemeClr val="accent4"/>
            </a:solidFill>
            <a:ln w="19050" algn="ctr">
              <a:noFill/>
              <a:miter lim="800000"/>
              <a:headEnd/>
              <a:tailEn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Account</a:t>
              </a:r>
              <a:r>
                <a:rPr kumimoji="0" lang="en-US" sz="1400" b="1" i="0" u="none" strike="noStrike" kern="1200" cap="none" spc="0" normalizeH="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to Report</a:t>
              </a:r>
              <a:endParaRPr kumimoji="0" lang="en-US" sz="14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8" name="Flowchart: Process 27"/>
            <p:cNvSpPr/>
            <p:nvPr/>
          </p:nvSpPr>
          <p:spPr bwMode="gray">
            <a:xfrm>
              <a:off x="4126604" y="1368456"/>
              <a:ext cx="1222606" cy="613480"/>
            </a:xfrm>
            <a:prstGeom prst="flowChartProcess">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Accounts Payables</a:t>
              </a:r>
            </a:p>
          </p:txBody>
        </p:sp>
        <p:sp>
          <p:nvSpPr>
            <p:cNvPr id="38" name="Flowchart: Process 37"/>
            <p:cNvSpPr/>
            <p:nvPr/>
          </p:nvSpPr>
          <p:spPr bwMode="gray">
            <a:xfrm>
              <a:off x="5487387" y="1374195"/>
              <a:ext cx="2571906" cy="605400"/>
            </a:xfrm>
            <a:prstGeom prst="flowChartProcess">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Accounts Receivables</a:t>
              </a:r>
            </a:p>
          </p:txBody>
        </p:sp>
        <p:sp>
          <p:nvSpPr>
            <p:cNvPr id="40" name="Flowchart: Process 39"/>
            <p:cNvSpPr/>
            <p:nvPr/>
          </p:nvSpPr>
          <p:spPr bwMode="gray">
            <a:xfrm>
              <a:off x="1451936" y="1371600"/>
              <a:ext cx="2536491" cy="613480"/>
            </a:xfrm>
            <a:prstGeom prst="flowChartProcess">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General Ledger</a:t>
              </a:r>
            </a:p>
          </p:txBody>
        </p:sp>
        <p:sp>
          <p:nvSpPr>
            <p:cNvPr id="41" name="Flowchart: Process 40"/>
            <p:cNvSpPr/>
            <p:nvPr/>
          </p:nvSpPr>
          <p:spPr bwMode="gray">
            <a:xfrm>
              <a:off x="4126604" y="2103119"/>
              <a:ext cx="1222607" cy="134018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Invoice</a:t>
              </a:r>
              <a:r>
                <a:rPr lang="en-US" sz="800" dirty="0">
                  <a:latin typeface="Verdana" panose="020B0604030504040204" pitchFamily="34" charset="0"/>
                  <a:ea typeface="Verdana" panose="020B0604030504040204" pitchFamily="34" charset="0"/>
                  <a:cs typeface="Verdana" panose="020B0604030504040204" pitchFamily="34" charset="0"/>
                </a:rPr>
                <a:t>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Correction,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Approval,</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Matching,</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Tieback Invoice from Receivables </a:t>
              </a:r>
            </a:p>
          </p:txBody>
        </p:sp>
        <p:sp>
          <p:nvSpPr>
            <p:cNvPr id="42" name="Flowchart: Process 41"/>
            <p:cNvSpPr/>
            <p:nvPr/>
          </p:nvSpPr>
          <p:spPr bwMode="gray">
            <a:xfrm>
              <a:off x="5481646" y="3539585"/>
              <a:ext cx="1222607" cy="609882"/>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Credit Memo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Apply</a:t>
              </a:r>
            </a:p>
          </p:txBody>
        </p:sp>
        <p:sp>
          <p:nvSpPr>
            <p:cNvPr id="43" name="Flowchart: Process 42">
              <a:extLst>
                <a:ext uri="{FF2B5EF4-FFF2-40B4-BE49-F238E27FC236}">
                  <a16:creationId xmlns:a16="http://schemas.microsoft.com/office/drawing/2014/main" id="{A186B1A9-D147-49FC-9709-61FC385C2D4B}"/>
                </a:ext>
              </a:extLst>
            </p:cNvPr>
            <p:cNvSpPr/>
            <p:nvPr/>
          </p:nvSpPr>
          <p:spPr bwMode="gray">
            <a:xfrm>
              <a:off x="9558254" y="1371600"/>
              <a:ext cx="1222607" cy="613480"/>
            </a:xfrm>
            <a:prstGeom prst="flowChartProcess">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Cash Management</a:t>
              </a:r>
            </a:p>
          </p:txBody>
        </p:sp>
        <p:sp>
          <p:nvSpPr>
            <p:cNvPr id="44" name="Flowchart: Process 43">
              <a:extLst>
                <a:ext uri="{FF2B5EF4-FFF2-40B4-BE49-F238E27FC236}">
                  <a16:creationId xmlns:a16="http://schemas.microsoft.com/office/drawing/2014/main" id="{9B8DE294-0BA2-4757-876D-8F599C133727}"/>
                </a:ext>
              </a:extLst>
            </p:cNvPr>
            <p:cNvSpPr/>
            <p:nvPr/>
          </p:nvSpPr>
          <p:spPr bwMode="gray">
            <a:xfrm>
              <a:off x="9553452" y="2103120"/>
              <a:ext cx="1227410"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Create Bank, Branch &amp; Accounts</a:t>
              </a:r>
            </a:p>
          </p:txBody>
        </p:sp>
        <p:sp>
          <p:nvSpPr>
            <p:cNvPr id="45" name="Flowchart: Process 44">
              <a:extLst>
                <a:ext uri="{FF2B5EF4-FFF2-40B4-BE49-F238E27FC236}">
                  <a16:creationId xmlns:a16="http://schemas.microsoft.com/office/drawing/2014/main" id="{8DE38784-7063-4A20-BFE5-F25DC9624F74}"/>
                </a:ext>
              </a:extLst>
            </p:cNvPr>
            <p:cNvSpPr/>
            <p:nvPr/>
          </p:nvSpPr>
          <p:spPr bwMode="gray">
            <a:xfrm>
              <a:off x="8197470" y="1371600"/>
              <a:ext cx="1222607" cy="607995"/>
            </a:xfrm>
            <a:prstGeom prst="flowChartProcess">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Manage Fixed Asset Accounting</a:t>
              </a:r>
            </a:p>
          </p:txBody>
        </p:sp>
        <p:sp>
          <p:nvSpPr>
            <p:cNvPr id="46" name="Flowchart: Process 45">
              <a:extLst>
                <a:ext uri="{FF2B5EF4-FFF2-40B4-BE49-F238E27FC236}">
                  <a16:creationId xmlns:a16="http://schemas.microsoft.com/office/drawing/2014/main" id="{C06EFA57-8726-4BD8-92AB-30EEC5772DCE}"/>
                </a:ext>
              </a:extLst>
            </p:cNvPr>
            <p:cNvSpPr/>
            <p:nvPr/>
          </p:nvSpPr>
          <p:spPr bwMode="gray">
            <a:xfrm>
              <a:off x="8197470" y="2103120"/>
              <a:ext cx="1222607" cy="1340188"/>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Assets</a:t>
              </a:r>
              <a:r>
                <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Addition,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Mass Additions,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Transfer,</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Retirement</a:t>
              </a:r>
            </a:p>
          </p:txBody>
        </p:sp>
        <p:sp>
          <p:nvSpPr>
            <p:cNvPr id="47" name="Flowchart: Process 46"/>
            <p:cNvSpPr/>
            <p:nvPr/>
          </p:nvSpPr>
          <p:spPr bwMode="gray">
            <a:xfrm>
              <a:off x="1451936" y="2103120"/>
              <a:ext cx="1219049"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Journal Batch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Copy,</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Reverse</a:t>
              </a:r>
              <a:endPar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48" name="Flowchart: Process 47"/>
            <p:cNvSpPr/>
            <p:nvPr/>
          </p:nvSpPr>
          <p:spPr bwMode="gray">
            <a:xfrm>
              <a:off x="5481646" y="4261014"/>
              <a:ext cx="1222607" cy="61347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Receipt</a:t>
              </a:r>
              <a:r>
                <a:rPr lang="en-US" sz="800" dirty="0">
                  <a:latin typeface="Verdana" panose="020B0604030504040204" pitchFamily="34" charset="0"/>
                  <a:ea typeface="Verdana" panose="020B0604030504040204" pitchFamily="34" charset="0"/>
                  <a:cs typeface="Verdana" panose="020B0604030504040204" pitchFamily="34" charset="0"/>
                </a:rPr>
                <a:t>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Manual,</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Process Via Lockbox</a:t>
              </a:r>
            </a:p>
          </p:txBody>
        </p:sp>
        <p:sp>
          <p:nvSpPr>
            <p:cNvPr id="49" name="Flowchart: Process 48"/>
            <p:cNvSpPr/>
            <p:nvPr/>
          </p:nvSpPr>
          <p:spPr bwMode="gray">
            <a:xfrm>
              <a:off x="5481645" y="4986039"/>
              <a:ext cx="1222607" cy="595965"/>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Receipts</a:t>
              </a:r>
              <a:r>
                <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Apply,</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Reverse</a:t>
              </a:r>
            </a:p>
          </p:txBody>
        </p:sp>
        <p:sp>
          <p:nvSpPr>
            <p:cNvPr id="51" name="Flowchart: Process 50"/>
            <p:cNvSpPr/>
            <p:nvPr/>
          </p:nvSpPr>
          <p:spPr bwMode="gray">
            <a:xfrm>
              <a:off x="5481646" y="2100904"/>
              <a:ext cx="1222607" cy="1342404"/>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Invoice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 Manual Invoice,</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Through Digital Imaging</a:t>
              </a:r>
            </a:p>
          </p:txBody>
        </p:sp>
        <p:sp>
          <p:nvSpPr>
            <p:cNvPr id="52" name="Flowchart: Process 51"/>
            <p:cNvSpPr/>
            <p:nvPr/>
          </p:nvSpPr>
          <p:spPr bwMode="gray">
            <a:xfrm>
              <a:off x="2765820" y="2103120"/>
              <a:ext cx="1222607"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Delete Unposted Journal</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3" name="Flowchart: Process 52"/>
            <p:cNvSpPr/>
            <p:nvPr/>
          </p:nvSpPr>
          <p:spPr bwMode="gray">
            <a:xfrm>
              <a:off x="1451936" y="2834639"/>
              <a:ext cx="1219049" cy="1320133"/>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defTabSz="914400">
                <a:lnSpc>
                  <a:spcPct val="106000"/>
                </a:lnSpc>
                <a:defRPr/>
              </a:pPr>
              <a:r>
                <a:rPr lang="fr-FR" sz="800" b="1" dirty="0">
                  <a:latin typeface="Verdana" panose="020B0604030504040204" pitchFamily="34" charset="0"/>
                  <a:ea typeface="Verdana" panose="020B0604030504040204" pitchFamily="34" charset="0"/>
                  <a:cs typeface="Verdana" panose="020B0604030504040204" pitchFamily="34" charset="0"/>
                </a:rPr>
                <a:t>Journal Entries</a:t>
              </a:r>
            </a:p>
            <a:p>
              <a:pPr marL="61913" indent="-61913" defTabSz="914400">
                <a:lnSpc>
                  <a:spcPct val="106000"/>
                </a:lnSpc>
                <a:buFont typeface="Arial" panose="020B0604020202020204" pitchFamily="34" charset="0"/>
                <a:buChar char="•"/>
                <a:defRPr/>
              </a:pPr>
              <a:r>
                <a:rPr lang="fr-FR" sz="800" dirty="0" err="1">
                  <a:latin typeface="Verdana" panose="020B0604030504040204" pitchFamily="34" charset="0"/>
                  <a:ea typeface="Verdana" panose="020B0604030504040204" pitchFamily="34" charset="0"/>
                  <a:cs typeface="Verdana" panose="020B0604030504040204" pitchFamily="34" charset="0"/>
                </a:rPr>
                <a:t>Create</a:t>
              </a:r>
              <a:r>
                <a:rPr lang="fr-FR" sz="800" dirty="0">
                  <a:latin typeface="Verdana" panose="020B0604030504040204" pitchFamily="34" charset="0"/>
                  <a:ea typeface="Verdana" panose="020B0604030504040204" pitchFamily="34" charset="0"/>
                  <a:cs typeface="Verdana" panose="020B0604030504040204" pitchFamily="34" charset="0"/>
                </a:rPr>
                <a:t> </a:t>
              </a:r>
              <a:r>
                <a:rPr lang="fr-FR" sz="800" dirty="0" err="1">
                  <a:latin typeface="Verdana" panose="020B0604030504040204" pitchFamily="34" charset="0"/>
                  <a:ea typeface="Verdana" panose="020B0604030504040204" pitchFamily="34" charset="0"/>
                  <a:cs typeface="Verdana" panose="020B0604030504040204" pitchFamily="34" charset="0"/>
                </a:rPr>
                <a:t>Manual</a:t>
              </a:r>
              <a:r>
                <a:rPr lang="fr-FR" sz="800" dirty="0">
                  <a:latin typeface="Verdana" panose="020B0604030504040204" pitchFamily="34" charset="0"/>
                  <a:ea typeface="Verdana" panose="020B0604030504040204" pitchFamily="34" charset="0"/>
                  <a:cs typeface="Verdana" panose="020B0604030504040204" pitchFamily="34" charset="0"/>
                </a:rPr>
                <a:t> Entries,</a:t>
              </a:r>
            </a:p>
            <a:p>
              <a:pPr marL="61913" indent="-61913" defTabSz="914400">
                <a:lnSpc>
                  <a:spcPct val="106000"/>
                </a:lnSpc>
                <a:buFont typeface="Arial" panose="020B0604020202020204" pitchFamily="34" charset="0"/>
                <a:buChar char="•"/>
                <a:defRPr/>
              </a:pPr>
              <a:r>
                <a:rPr lang="fr-FR" sz="800" dirty="0">
                  <a:latin typeface="Verdana" panose="020B0604030504040204" pitchFamily="34" charset="0"/>
                  <a:ea typeface="Verdana" panose="020B0604030504040204" pitchFamily="34" charset="0"/>
                  <a:cs typeface="Verdana" panose="020B0604030504040204" pitchFamily="34" charset="0"/>
                </a:rPr>
                <a:t>Import Entries, Reverse Entries,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Approve Entries</a:t>
              </a:r>
            </a:p>
          </p:txBody>
        </p:sp>
        <p:sp>
          <p:nvSpPr>
            <p:cNvPr id="54" name="Flowchart: Process 53"/>
            <p:cNvSpPr/>
            <p:nvPr/>
          </p:nvSpPr>
          <p:spPr bwMode="gray">
            <a:xfrm>
              <a:off x="2765820" y="2834640"/>
              <a:ext cx="1222607"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Intercompany Reconciliation</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7" name="Flowchart: Process 56"/>
            <p:cNvSpPr/>
            <p:nvPr/>
          </p:nvSpPr>
          <p:spPr bwMode="gray">
            <a:xfrm>
              <a:off x="2765820" y="3554361"/>
              <a:ext cx="1222607"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Perform Revaluation</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8" name="Flowchart: Process 57"/>
            <p:cNvSpPr/>
            <p:nvPr/>
          </p:nvSpPr>
          <p:spPr bwMode="gray">
            <a:xfrm>
              <a:off x="2765820" y="4266878"/>
              <a:ext cx="1222607" cy="60761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Perform Translation</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59" name="Flowchart: Process 58"/>
            <p:cNvSpPr/>
            <p:nvPr/>
          </p:nvSpPr>
          <p:spPr bwMode="gray">
            <a:xfrm>
              <a:off x="1448378" y="4261014"/>
              <a:ext cx="1219049"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Approve Intercompany Journals</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1" name="Flowchart: Process 60"/>
            <p:cNvSpPr/>
            <p:nvPr/>
          </p:nvSpPr>
          <p:spPr bwMode="gray">
            <a:xfrm>
              <a:off x="4126603" y="3541292"/>
              <a:ext cx="1222607"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Manage Holds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Manual Holds,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System Holds</a:t>
              </a:r>
              <a:endParaRPr kumimoji="0" lang="en-US" sz="8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2" name="Flowchart: Process 61"/>
            <p:cNvSpPr/>
            <p:nvPr/>
          </p:nvSpPr>
          <p:spPr bwMode="gray">
            <a:xfrm>
              <a:off x="4126603" y="4261014"/>
              <a:ext cx="1222607"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Prepayments</a:t>
              </a:r>
              <a:r>
                <a:rPr lang="en-US" sz="800" dirty="0">
                  <a:latin typeface="Verdana" panose="020B0604030504040204" pitchFamily="34" charset="0"/>
                  <a:ea typeface="Verdana" panose="020B0604030504040204" pitchFamily="34" charset="0"/>
                  <a:cs typeface="Verdana" panose="020B0604030504040204" pitchFamily="34" charset="0"/>
                </a:rPr>
                <a:t> </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Create,</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Apply</a:t>
              </a:r>
            </a:p>
          </p:txBody>
        </p:sp>
        <p:sp>
          <p:nvSpPr>
            <p:cNvPr id="78" name="Flowchart: Process 77">
              <a:extLst>
                <a:ext uri="{FF2B5EF4-FFF2-40B4-BE49-F238E27FC236}">
                  <a16:creationId xmlns:a16="http://schemas.microsoft.com/office/drawing/2014/main" id="{9B8DE294-0BA2-4757-876D-8F599C133727}"/>
                </a:ext>
              </a:extLst>
            </p:cNvPr>
            <p:cNvSpPr/>
            <p:nvPr/>
          </p:nvSpPr>
          <p:spPr bwMode="gray">
            <a:xfrm>
              <a:off x="9553452" y="2834640"/>
              <a:ext cx="1227410"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Enter Bank Statement</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9" name="Flowchart: Process 78">
              <a:extLst>
                <a:ext uri="{FF2B5EF4-FFF2-40B4-BE49-F238E27FC236}">
                  <a16:creationId xmlns:a16="http://schemas.microsoft.com/office/drawing/2014/main" id="{9B8DE294-0BA2-4757-876D-8F599C133727}"/>
                </a:ext>
              </a:extLst>
            </p:cNvPr>
            <p:cNvSpPr/>
            <p:nvPr/>
          </p:nvSpPr>
          <p:spPr bwMode="gray">
            <a:xfrm>
              <a:off x="9553452" y="3554361"/>
              <a:ext cx="1227410"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Bank Account Transfer</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4" name="Flowchart: Process 33"/>
            <p:cNvSpPr/>
            <p:nvPr/>
          </p:nvSpPr>
          <p:spPr bwMode="gray">
            <a:xfrm>
              <a:off x="4126603" y="4986040"/>
              <a:ext cx="1222607" cy="595964"/>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Create Payment Batch</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5" name="Flowchart: Process 34"/>
            <p:cNvSpPr/>
            <p:nvPr/>
          </p:nvSpPr>
          <p:spPr bwMode="gray">
            <a:xfrm>
              <a:off x="4126604" y="5697504"/>
              <a:ext cx="1222607"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Period Close</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6" name="Flowchart: Process 35">
              <a:extLst>
                <a:ext uri="{FF2B5EF4-FFF2-40B4-BE49-F238E27FC236}">
                  <a16:creationId xmlns:a16="http://schemas.microsoft.com/office/drawing/2014/main" id="{9B8DE294-0BA2-4757-876D-8F599C133727}"/>
                </a:ext>
              </a:extLst>
            </p:cNvPr>
            <p:cNvSpPr/>
            <p:nvPr/>
          </p:nvSpPr>
          <p:spPr bwMode="gray">
            <a:xfrm>
              <a:off x="9553452" y="4274082"/>
              <a:ext cx="1227410"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Bank Reconciliation</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Manual,</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Auto</a:t>
              </a:r>
            </a:p>
          </p:txBody>
        </p:sp>
        <p:sp>
          <p:nvSpPr>
            <p:cNvPr id="37" name="Flowchart: Process 36">
              <a:extLst>
                <a:ext uri="{FF2B5EF4-FFF2-40B4-BE49-F238E27FC236}">
                  <a16:creationId xmlns:a16="http://schemas.microsoft.com/office/drawing/2014/main" id="{C06EFA57-8726-4BD8-92AB-30EEC5772DCE}"/>
                </a:ext>
              </a:extLst>
            </p:cNvPr>
            <p:cNvSpPr/>
            <p:nvPr/>
          </p:nvSpPr>
          <p:spPr bwMode="gray">
            <a:xfrm>
              <a:off x="8197470" y="3566159"/>
              <a:ext cx="1222607" cy="588614"/>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Capitalize CIP Asset</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9" name="Flowchart: Process 38">
              <a:extLst>
                <a:ext uri="{FF2B5EF4-FFF2-40B4-BE49-F238E27FC236}">
                  <a16:creationId xmlns:a16="http://schemas.microsoft.com/office/drawing/2014/main" id="{C06EFA57-8726-4BD8-92AB-30EEC5772DCE}"/>
                </a:ext>
              </a:extLst>
            </p:cNvPr>
            <p:cNvSpPr/>
            <p:nvPr/>
          </p:nvSpPr>
          <p:spPr bwMode="gray">
            <a:xfrm>
              <a:off x="8197470" y="4274081"/>
              <a:ext cx="1222607" cy="600413"/>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Record Asset Impairment</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5" name="Flowchart: Process 64">
              <a:extLst>
                <a:ext uri="{FF2B5EF4-FFF2-40B4-BE49-F238E27FC236}">
                  <a16:creationId xmlns:a16="http://schemas.microsoft.com/office/drawing/2014/main" id="{C06EFA57-8726-4BD8-92AB-30EEC5772DCE}"/>
                </a:ext>
              </a:extLst>
            </p:cNvPr>
            <p:cNvSpPr/>
            <p:nvPr/>
          </p:nvSpPr>
          <p:spPr bwMode="gray">
            <a:xfrm>
              <a:off x="8197470" y="4990851"/>
              <a:ext cx="1222607" cy="591153"/>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Period Close</a:t>
              </a:r>
            </a:p>
          </p:txBody>
        </p:sp>
        <p:sp>
          <p:nvSpPr>
            <p:cNvPr id="66" name="Flowchart: Process 65"/>
            <p:cNvSpPr/>
            <p:nvPr/>
          </p:nvSpPr>
          <p:spPr bwMode="gray">
            <a:xfrm>
              <a:off x="6843369" y="2092590"/>
              <a:ext cx="1215924" cy="280195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fr-FR" sz="800" b="1" dirty="0">
                  <a:latin typeface="Verdana" panose="020B0604030504040204" pitchFamily="34" charset="0"/>
                  <a:ea typeface="Verdana" panose="020B0604030504040204" pitchFamily="34" charset="0"/>
                  <a:cs typeface="Verdana" panose="020B0604030504040204" pitchFamily="34" charset="0"/>
                </a:rPr>
                <a:t>Collections</a:t>
              </a:r>
            </a:p>
            <a:p>
              <a:pPr marL="61913" indent="-61913" defTabSz="914400">
                <a:lnSpc>
                  <a:spcPct val="106000"/>
                </a:lnSpc>
                <a:buFont typeface="Arial" panose="020B0604020202020204" pitchFamily="34" charset="0"/>
                <a:buChar char="•"/>
                <a:defRPr/>
              </a:pPr>
              <a:r>
                <a:rPr lang="fr-FR" sz="800" dirty="0" err="1">
                  <a:latin typeface="Verdana" panose="020B0604030504040204" pitchFamily="34" charset="0"/>
                  <a:ea typeface="Verdana" panose="020B0604030504040204" pitchFamily="34" charset="0"/>
                  <a:cs typeface="Verdana" panose="020B0604030504040204" pitchFamily="34" charset="0"/>
                </a:rPr>
                <a:t>Define</a:t>
              </a:r>
              <a:r>
                <a:rPr lang="fr-FR" sz="800" dirty="0">
                  <a:latin typeface="Verdana" panose="020B0604030504040204" pitchFamily="34" charset="0"/>
                  <a:ea typeface="Verdana" panose="020B0604030504040204" pitchFamily="34" charset="0"/>
                  <a:cs typeface="Verdana" panose="020B0604030504040204" pitchFamily="34" charset="0"/>
                </a:rPr>
                <a:t> Collection </a:t>
              </a:r>
              <a:r>
                <a:rPr lang="fr-FR" sz="800" dirty="0" err="1">
                  <a:latin typeface="Verdana" panose="020B0604030504040204" pitchFamily="34" charset="0"/>
                  <a:ea typeface="Verdana" panose="020B0604030504040204" pitchFamily="34" charset="0"/>
                  <a:cs typeface="Verdana" panose="020B0604030504040204" pitchFamily="34" charset="0"/>
                </a:rPr>
                <a:t>Strategies</a:t>
              </a:r>
              <a:r>
                <a:rPr lang="fr-FR" sz="800" dirty="0">
                  <a:latin typeface="Verdana" panose="020B0604030504040204" pitchFamily="34" charset="0"/>
                  <a:ea typeface="Verdana" panose="020B0604030504040204" pitchFamily="34" charset="0"/>
                  <a:cs typeface="Verdana" panose="020B0604030504040204" pitchFamily="34" charset="0"/>
                </a:rPr>
                <a:t>,</a:t>
              </a:r>
            </a:p>
            <a:p>
              <a:pPr marL="61913" indent="-61913" defTabSz="914400">
                <a:lnSpc>
                  <a:spcPct val="106000"/>
                </a:lnSpc>
                <a:buFont typeface="Arial" panose="020B0604020202020204" pitchFamily="34" charset="0"/>
                <a:buChar char="•"/>
                <a:defRPr/>
              </a:pPr>
              <a:r>
                <a:rPr lang="fr-FR" sz="800" dirty="0" err="1">
                  <a:latin typeface="Verdana" panose="020B0604030504040204" pitchFamily="34" charset="0"/>
                  <a:ea typeface="Verdana" panose="020B0604030504040204" pitchFamily="34" charset="0"/>
                  <a:cs typeface="Verdana" panose="020B0604030504040204" pitchFamily="34" charset="0"/>
                </a:rPr>
                <a:t>Generate</a:t>
              </a:r>
              <a:r>
                <a:rPr lang="fr-FR" sz="800" dirty="0">
                  <a:latin typeface="Verdana" panose="020B0604030504040204" pitchFamily="34" charset="0"/>
                  <a:ea typeface="Verdana" panose="020B0604030504040204" pitchFamily="34" charset="0"/>
                  <a:cs typeface="Verdana" panose="020B0604030504040204" pitchFamily="34" charset="0"/>
                </a:rPr>
                <a:t> Customer  </a:t>
              </a:r>
              <a:r>
                <a:rPr lang="fr-FR" sz="800" dirty="0" err="1">
                  <a:latin typeface="Verdana" panose="020B0604030504040204" pitchFamily="34" charset="0"/>
                  <a:ea typeface="Verdana" panose="020B0604030504040204" pitchFamily="34" charset="0"/>
                  <a:cs typeface="Verdana" panose="020B0604030504040204" pitchFamily="34" charset="0"/>
                </a:rPr>
                <a:t>Statements</a:t>
              </a:r>
              <a:r>
                <a:rPr lang="fr-FR" sz="800" dirty="0">
                  <a:latin typeface="Verdana" panose="020B0604030504040204" pitchFamily="34" charset="0"/>
                  <a:ea typeface="Verdana" panose="020B0604030504040204" pitchFamily="34" charset="0"/>
                  <a:cs typeface="Verdana" panose="020B0604030504040204" pitchFamily="34" charset="0"/>
                </a:rPr>
                <a:t>,</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Send Dunning communications,</a:t>
              </a:r>
              <a:r>
                <a:rPr lang="fr-FR" sz="800" dirty="0">
                  <a:latin typeface="Verdana" panose="020B0604030504040204" pitchFamily="34" charset="0"/>
                  <a:ea typeface="Verdana" panose="020B0604030504040204" pitchFamily="34" charset="0"/>
                  <a:cs typeface="Verdana" panose="020B0604030504040204" pitchFamily="34" charset="0"/>
                </a:rPr>
                <a:t> </a:t>
              </a:r>
              <a:r>
                <a:rPr lang="fr-FR" sz="800" dirty="0" err="1">
                  <a:latin typeface="Verdana" panose="020B0604030504040204" pitchFamily="34" charset="0"/>
                  <a:ea typeface="Verdana" panose="020B0604030504040204" pitchFamily="34" charset="0"/>
                  <a:cs typeface="Verdana" panose="020B0604030504040204" pitchFamily="34" charset="0"/>
                </a:rPr>
                <a:t>Process</a:t>
              </a:r>
              <a:r>
                <a:rPr lang="fr-FR" sz="800" dirty="0">
                  <a:latin typeface="Verdana" panose="020B0604030504040204" pitchFamily="34" charset="0"/>
                  <a:ea typeface="Verdana" panose="020B0604030504040204" pitchFamily="34" charset="0"/>
                  <a:cs typeface="Verdana" panose="020B0604030504040204" pitchFamily="34" charset="0"/>
                </a:rPr>
                <a:t> </a:t>
              </a:r>
              <a:r>
                <a:rPr lang="fr-FR" sz="800" dirty="0" err="1">
                  <a:latin typeface="Verdana" panose="020B0604030504040204" pitchFamily="34" charset="0"/>
                  <a:ea typeface="Verdana" panose="020B0604030504040204" pitchFamily="34" charset="0"/>
                  <a:cs typeface="Verdana" panose="020B0604030504040204" pitchFamily="34" charset="0"/>
                </a:rPr>
                <a:t>payments</a:t>
              </a:r>
              <a:r>
                <a:rPr lang="fr-FR" sz="800" dirty="0">
                  <a:latin typeface="Verdana" panose="020B0604030504040204" pitchFamily="34" charset="0"/>
                  <a:ea typeface="Verdana" panose="020B0604030504040204" pitchFamily="34" charset="0"/>
                  <a:cs typeface="Verdana" panose="020B0604030504040204" pitchFamily="34" charset="0"/>
                </a:rPr>
                <a:t>, </a:t>
              </a:r>
              <a:r>
                <a:rPr lang="en-US" sz="800" dirty="0">
                  <a:latin typeface="Verdana" panose="020B0604030504040204" pitchFamily="34" charset="0"/>
                  <a:ea typeface="Verdana" panose="020B0604030504040204" pitchFamily="34" charset="0"/>
                  <a:cs typeface="Verdana" panose="020B0604030504040204" pitchFamily="34" charset="0"/>
                </a:rPr>
                <a:t>Process Customer Disputes,</a:t>
              </a:r>
            </a:p>
            <a:p>
              <a:pPr marL="61913" indent="-61913" defTabSz="914400">
                <a:lnSpc>
                  <a:spcPct val="106000"/>
                </a:lnSpc>
                <a:buFont typeface="Arial" panose="020B0604020202020204" pitchFamily="34" charset="0"/>
                <a:buChar char="•"/>
                <a:defRPr/>
              </a:pPr>
              <a:r>
                <a:rPr lang="en-US" sz="800" dirty="0">
                  <a:latin typeface="Verdana" panose="020B0604030504040204" pitchFamily="34" charset="0"/>
                  <a:ea typeface="Verdana" panose="020B0604030504040204" pitchFamily="34" charset="0"/>
                  <a:cs typeface="Verdana" panose="020B0604030504040204" pitchFamily="34" charset="0"/>
                </a:rPr>
                <a:t>Process Late Charges</a:t>
              </a:r>
            </a:p>
          </p:txBody>
        </p:sp>
        <p:sp>
          <p:nvSpPr>
            <p:cNvPr id="71" name="Flowchart: Process 70"/>
            <p:cNvSpPr/>
            <p:nvPr/>
          </p:nvSpPr>
          <p:spPr bwMode="gray">
            <a:xfrm>
              <a:off x="5481646" y="5705558"/>
              <a:ext cx="1222607" cy="60542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Update customer contacts</a:t>
              </a:r>
            </a:p>
          </p:txBody>
        </p:sp>
        <p:sp>
          <p:nvSpPr>
            <p:cNvPr id="72" name="Flowchart: Process 71"/>
            <p:cNvSpPr/>
            <p:nvPr/>
          </p:nvSpPr>
          <p:spPr bwMode="gray">
            <a:xfrm>
              <a:off x="6843369" y="4986039"/>
              <a:ext cx="1222607" cy="613480"/>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lvl="0" algn="ctr" defTabSz="914400">
                <a:lnSpc>
                  <a:spcPct val="106000"/>
                </a:lnSpc>
                <a:defRPr/>
              </a:pPr>
              <a:r>
                <a:rPr lang="en-US" sz="800" b="1" dirty="0">
                  <a:latin typeface="Verdana" panose="020B0604030504040204" pitchFamily="34" charset="0"/>
                  <a:ea typeface="Verdana" panose="020B0604030504040204" pitchFamily="34" charset="0"/>
                  <a:cs typeface="Verdana" panose="020B0604030504040204" pitchFamily="34" charset="0"/>
                </a:rPr>
                <a:t>Period Close</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grpSp>
      <p:sp>
        <p:nvSpPr>
          <p:cNvPr id="2" name="Title 1"/>
          <p:cNvSpPr>
            <a:spLocks noGrp="1"/>
          </p:cNvSpPr>
          <p:nvPr>
            <p:ph type="title"/>
          </p:nvPr>
        </p:nvSpPr>
        <p:spPr/>
        <p:txBody>
          <a:bodyPr/>
          <a:lstStyle/>
          <a:p>
            <a:r>
              <a:rPr lang="en-US" dirty="0"/>
              <a:t>Testing Automation Scenarios: Account to Report</a:t>
            </a:r>
          </a:p>
        </p:txBody>
      </p:sp>
    </p:spTree>
    <p:extLst>
      <p:ext uri="{BB962C8B-B14F-4D97-AF65-F5344CB8AC3E}">
        <p14:creationId xmlns:p14="http://schemas.microsoft.com/office/powerpoint/2010/main" val="191188377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
          <p:cNvSpPr txBox="1">
            <a:spLocks/>
          </p:cNvSpPr>
          <p:nvPr/>
        </p:nvSpPr>
        <p:spPr bwMode="gray">
          <a:xfrm>
            <a:off x="466850" y="2438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spcBef>
                <a:spcPts val="0"/>
              </a:spcBef>
            </a:pPr>
            <a:endParaRPr lang="en-US" sz="2400" b="1" dirty="0">
              <a:solidFill>
                <a:srgbClr val="86BC25"/>
              </a:solidFill>
              <a:ea typeface="+mn-ea"/>
              <a:cs typeface="+mn-cs"/>
            </a:endParaRPr>
          </a:p>
          <a:p>
            <a:endParaRPr lang="en-US" b="1" dirty="0">
              <a:solidFill>
                <a:schemeClr val="accent1"/>
              </a:solidFill>
            </a:endParaRPr>
          </a:p>
        </p:txBody>
      </p:sp>
      <p:grpSp>
        <p:nvGrpSpPr>
          <p:cNvPr id="4" name="Group 3"/>
          <p:cNvGrpSpPr/>
          <p:nvPr/>
        </p:nvGrpSpPr>
        <p:grpSpPr>
          <a:xfrm>
            <a:off x="2286000" y="1035295"/>
            <a:ext cx="7547428" cy="4554932"/>
            <a:chOff x="2286000" y="1035295"/>
            <a:chExt cx="7547428" cy="4554932"/>
          </a:xfrm>
        </p:grpSpPr>
        <p:sp>
          <p:nvSpPr>
            <p:cNvPr id="18" name="Flowchart: Process 17">
              <a:extLst>
                <a:ext uri="{FF2B5EF4-FFF2-40B4-BE49-F238E27FC236}">
                  <a16:creationId xmlns:a16="http://schemas.microsoft.com/office/drawing/2014/main" id="{0FB5B29E-BA39-4C4A-9ECD-A42D291821F6}"/>
                </a:ext>
              </a:extLst>
            </p:cNvPr>
            <p:cNvSpPr/>
            <p:nvPr/>
          </p:nvSpPr>
          <p:spPr bwMode="gray">
            <a:xfrm>
              <a:off x="6106743" y="4969848"/>
              <a:ext cx="1704755" cy="62037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lvl="1" algn="ctr" defTabSz="732526">
                <a:lnSpc>
                  <a:spcPct val="90000"/>
                </a:lnSpc>
                <a:spcAft>
                  <a:spcPts val="100"/>
                </a:spcAft>
                <a:defRPr/>
              </a:pPr>
              <a:r>
                <a:rPr lang="en-US" sz="800" b="1" dirty="0">
                  <a:latin typeface="Verdana" panose="020B0604030504040204" pitchFamily="34" charset="0"/>
                  <a:ea typeface="Verdana" panose="020B0604030504040204" pitchFamily="34" charset="0"/>
                  <a:cs typeface="Verdana" panose="020B0604030504040204" pitchFamily="34" charset="0"/>
                </a:rPr>
                <a:t>Revenue adjustments</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34" name="AutoShape 34"/>
            <p:cNvSpPr>
              <a:spLocks noChangeArrowheads="1"/>
            </p:cNvSpPr>
            <p:nvPr/>
          </p:nvSpPr>
          <p:spPr bwMode="auto">
            <a:xfrm>
              <a:off x="2286000" y="1035295"/>
              <a:ext cx="7547428" cy="274320"/>
            </a:xfrm>
            <a:prstGeom prst="chevron">
              <a:avLst>
                <a:gd name="adj" fmla="val 29875"/>
              </a:avLst>
            </a:prstGeom>
            <a:solidFill>
              <a:schemeClr val="accent5"/>
            </a:solidFill>
            <a:ln w="9525" algn="ctr">
              <a:noFill/>
              <a:miter lim="800000"/>
              <a:headEnd/>
              <a:tailEn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Project to Close</a:t>
              </a:r>
            </a:p>
          </p:txBody>
        </p:sp>
        <p:sp>
          <p:nvSpPr>
            <p:cNvPr id="35" name="Flowchart: Process 34">
              <a:extLst>
                <a:ext uri="{FF2B5EF4-FFF2-40B4-BE49-F238E27FC236}">
                  <a16:creationId xmlns:a16="http://schemas.microsoft.com/office/drawing/2014/main" id="{62BC7A7E-C485-4636-8FE5-F566B4F9BB7F}"/>
                </a:ext>
              </a:extLst>
            </p:cNvPr>
            <p:cNvSpPr/>
            <p:nvPr/>
          </p:nvSpPr>
          <p:spPr bwMode="gray">
            <a:xfrm>
              <a:off x="2305207" y="2163766"/>
              <a:ext cx="1665887" cy="604285"/>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1" indent="0" algn="ctr" defTabSz="732526" rtl="0" eaLnBrk="1" fontAlgn="auto" latinLnBrk="0" hangingPunct="1">
                <a:lnSpc>
                  <a:spcPct val="90000"/>
                </a:lnSpc>
                <a:spcBef>
                  <a:spcPts val="0"/>
                </a:spcBef>
                <a:spcAft>
                  <a:spcPts val="10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Create Project From Project Template (Contract)</a:t>
              </a:r>
            </a:p>
          </p:txBody>
        </p:sp>
        <p:sp>
          <p:nvSpPr>
            <p:cNvPr id="36" name="Flowchart: Process 35">
              <a:extLst>
                <a:ext uri="{FF2B5EF4-FFF2-40B4-BE49-F238E27FC236}">
                  <a16:creationId xmlns:a16="http://schemas.microsoft.com/office/drawing/2014/main" id="{C3A2BC80-D578-4A28-8E0E-DB6A2CC2F8C8}"/>
                </a:ext>
              </a:extLst>
            </p:cNvPr>
            <p:cNvSpPr/>
            <p:nvPr/>
          </p:nvSpPr>
          <p:spPr bwMode="gray">
            <a:xfrm>
              <a:off x="2305207" y="2847503"/>
              <a:ext cx="1665887" cy="613461"/>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1" indent="0" algn="ctr" defTabSz="732526" rtl="0" eaLnBrk="1" fontAlgn="auto" latinLnBrk="0" hangingPunct="1">
                <a:lnSpc>
                  <a:spcPct val="90000"/>
                </a:lnSpc>
                <a:spcBef>
                  <a:spcPts val="0"/>
                </a:spcBef>
                <a:spcAft>
                  <a:spcPts val="10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Create Contract</a:t>
              </a:r>
            </a:p>
          </p:txBody>
        </p:sp>
        <p:sp>
          <p:nvSpPr>
            <p:cNvPr id="65" name="Flowchart: Process 64">
              <a:extLst>
                <a:ext uri="{FF2B5EF4-FFF2-40B4-BE49-F238E27FC236}">
                  <a16:creationId xmlns:a16="http://schemas.microsoft.com/office/drawing/2014/main" id="{38B70549-D55D-4CFB-B26C-9AEE9E07628D}"/>
                </a:ext>
              </a:extLst>
            </p:cNvPr>
            <p:cNvSpPr/>
            <p:nvPr/>
          </p:nvSpPr>
          <p:spPr bwMode="gray">
            <a:xfrm>
              <a:off x="8035396" y="2163766"/>
              <a:ext cx="1704754" cy="604285"/>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1" indent="0" algn="ctr" defTabSz="732526" rtl="0" eaLnBrk="1" fontAlgn="auto" latinLnBrk="0" hangingPunct="1">
                <a:lnSpc>
                  <a:spcPct val="90000"/>
                </a:lnSpc>
                <a:spcBef>
                  <a:spcPts val="0"/>
                </a:spcBef>
                <a:spcAft>
                  <a:spcPts val="10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Run Accounting Period Close Exceptions Report</a:t>
              </a:r>
            </a:p>
          </p:txBody>
        </p:sp>
        <p:sp>
          <p:nvSpPr>
            <p:cNvPr id="67" name="Flowchart: Process 66">
              <a:extLst>
                <a:ext uri="{FF2B5EF4-FFF2-40B4-BE49-F238E27FC236}">
                  <a16:creationId xmlns:a16="http://schemas.microsoft.com/office/drawing/2014/main" id="{0FB5B29E-BA39-4C4A-9ECD-A42D291821F6}"/>
                </a:ext>
              </a:extLst>
            </p:cNvPr>
            <p:cNvSpPr/>
            <p:nvPr/>
          </p:nvSpPr>
          <p:spPr bwMode="gray">
            <a:xfrm>
              <a:off x="6106743" y="2157267"/>
              <a:ext cx="1704755" cy="602363"/>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1" indent="0" algn="ctr" defTabSz="732526" rtl="0" eaLnBrk="1" fontAlgn="auto" latinLnBrk="0" hangingPunct="1">
                <a:lnSpc>
                  <a:spcPct val="90000"/>
                </a:lnSpc>
                <a:spcBef>
                  <a:spcPts val="0"/>
                </a:spcBef>
                <a:spcAft>
                  <a:spcPts val="10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Interface &amp;</a:t>
              </a:r>
              <a:r>
                <a:rPr kumimoji="0" lang="en-US" sz="8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Print Invoice</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8" name="Flowchart: Process 67">
              <a:extLst>
                <a:ext uri="{FF2B5EF4-FFF2-40B4-BE49-F238E27FC236}">
                  <a16:creationId xmlns:a16="http://schemas.microsoft.com/office/drawing/2014/main" id="{0FB5B29E-BA39-4C4A-9ECD-A42D291821F6}"/>
                </a:ext>
              </a:extLst>
            </p:cNvPr>
            <p:cNvSpPr/>
            <p:nvPr/>
          </p:nvSpPr>
          <p:spPr bwMode="gray">
            <a:xfrm>
              <a:off x="6106743" y="4259179"/>
              <a:ext cx="1704754" cy="62037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lvl="1" algn="ctr" defTabSz="732526">
                <a:lnSpc>
                  <a:spcPct val="90000"/>
                </a:lnSpc>
                <a:spcAft>
                  <a:spcPts val="100"/>
                </a:spcAft>
                <a:defRPr/>
              </a:pPr>
              <a:r>
                <a:rPr lang="en-US" sz="800" b="1" dirty="0">
                  <a:latin typeface="Verdana" panose="020B0604030504040204" pitchFamily="34" charset="0"/>
                  <a:ea typeface="Verdana" panose="020B0604030504040204" pitchFamily="34" charset="0"/>
                  <a:cs typeface="Verdana" panose="020B0604030504040204" pitchFamily="34" charset="0"/>
                </a:rPr>
                <a:t>Generate Revenue</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69" name="Flowchart: Process 68">
              <a:extLst>
                <a:ext uri="{FF2B5EF4-FFF2-40B4-BE49-F238E27FC236}">
                  <a16:creationId xmlns:a16="http://schemas.microsoft.com/office/drawing/2014/main" id="{C3A2BC80-D578-4A28-8E0E-DB6A2CC2F8C8}"/>
                </a:ext>
              </a:extLst>
            </p:cNvPr>
            <p:cNvSpPr/>
            <p:nvPr/>
          </p:nvSpPr>
          <p:spPr bwMode="gray">
            <a:xfrm>
              <a:off x="2305207" y="3548510"/>
              <a:ext cx="1665887" cy="62037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1" indent="0" algn="ctr" defTabSz="732526" rtl="0" eaLnBrk="1" fontAlgn="auto" latinLnBrk="0" hangingPunct="1">
                <a:lnSpc>
                  <a:spcPct val="90000"/>
                </a:lnSpc>
                <a:spcBef>
                  <a:spcPts val="0"/>
                </a:spcBef>
                <a:spcAft>
                  <a:spcPts val="10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Create Project Task</a:t>
              </a:r>
            </a:p>
          </p:txBody>
        </p:sp>
        <p:sp>
          <p:nvSpPr>
            <p:cNvPr id="70" name="Flowchart: Process 69">
              <a:extLst>
                <a:ext uri="{FF2B5EF4-FFF2-40B4-BE49-F238E27FC236}">
                  <a16:creationId xmlns:a16="http://schemas.microsoft.com/office/drawing/2014/main" id="{38B70549-D55D-4CFB-B26C-9AEE9E07628D}"/>
                </a:ext>
              </a:extLst>
            </p:cNvPr>
            <p:cNvSpPr/>
            <p:nvPr/>
          </p:nvSpPr>
          <p:spPr bwMode="gray">
            <a:xfrm>
              <a:off x="6106743" y="3548510"/>
              <a:ext cx="1704754" cy="620379"/>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lvl="1" algn="ctr" defTabSz="732526">
                <a:lnSpc>
                  <a:spcPct val="90000"/>
                </a:lnSpc>
                <a:spcAft>
                  <a:spcPts val="100"/>
                </a:spcAft>
                <a:defRPr/>
              </a:pPr>
              <a:r>
                <a:rPr lang="en-US" sz="800" b="1" dirty="0">
                  <a:latin typeface="Verdana" panose="020B0604030504040204" pitchFamily="34" charset="0"/>
                  <a:ea typeface="Verdana" panose="020B0604030504040204" pitchFamily="34" charset="0"/>
                  <a:cs typeface="Verdana" panose="020B0604030504040204" pitchFamily="34" charset="0"/>
                </a:rPr>
                <a:t>Bill Projects</a:t>
              </a:r>
            </a:p>
          </p:txBody>
        </p:sp>
        <p:sp>
          <p:nvSpPr>
            <p:cNvPr id="72" name="Flowchart: Process 71"/>
            <p:cNvSpPr/>
            <p:nvPr/>
          </p:nvSpPr>
          <p:spPr bwMode="gray">
            <a:xfrm>
              <a:off x="4178091" y="1430581"/>
              <a:ext cx="1704754" cy="653731"/>
            </a:xfrm>
            <a:prstGeom prst="flowChartProcess">
              <a:avLst/>
            </a:prstGeom>
            <a:solidFill>
              <a:schemeClr val="accent5">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Project Costing</a:t>
              </a:r>
            </a:p>
          </p:txBody>
        </p:sp>
        <p:sp>
          <p:nvSpPr>
            <p:cNvPr id="73" name="Flowchart: Process 72"/>
            <p:cNvSpPr/>
            <p:nvPr/>
          </p:nvSpPr>
          <p:spPr bwMode="gray">
            <a:xfrm>
              <a:off x="6106743" y="1441246"/>
              <a:ext cx="1704754" cy="634619"/>
            </a:xfrm>
            <a:prstGeom prst="flowChartProcess">
              <a:avLst/>
            </a:prstGeom>
            <a:solidFill>
              <a:schemeClr val="accent5">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Project Billing &amp; Revenue Recognition</a:t>
              </a:r>
            </a:p>
          </p:txBody>
        </p:sp>
        <p:sp>
          <p:nvSpPr>
            <p:cNvPr id="74" name="Flowchart: Process 73"/>
            <p:cNvSpPr/>
            <p:nvPr/>
          </p:nvSpPr>
          <p:spPr bwMode="gray">
            <a:xfrm>
              <a:off x="2305207" y="1441246"/>
              <a:ext cx="1665887" cy="643067"/>
            </a:xfrm>
            <a:prstGeom prst="flowChartProcess">
              <a:avLst/>
            </a:prstGeom>
            <a:solidFill>
              <a:schemeClr val="accent5">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Project Initiation</a:t>
              </a:r>
              <a:r>
                <a:rPr kumimoji="0" lang="en-US" sz="8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and Planning</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6" name="Flowchart: Process 75">
              <a:extLst>
                <a:ext uri="{FF2B5EF4-FFF2-40B4-BE49-F238E27FC236}">
                  <a16:creationId xmlns:a16="http://schemas.microsoft.com/office/drawing/2014/main" id="{8DE38784-7063-4A20-BFE5-F25DC9624F74}"/>
                </a:ext>
              </a:extLst>
            </p:cNvPr>
            <p:cNvSpPr/>
            <p:nvPr/>
          </p:nvSpPr>
          <p:spPr bwMode="gray">
            <a:xfrm>
              <a:off x="8035396" y="1441246"/>
              <a:ext cx="1704754" cy="634619"/>
            </a:xfrm>
            <a:prstGeom prst="flowChartProcess">
              <a:avLst/>
            </a:prstGeom>
            <a:solidFill>
              <a:schemeClr val="accent5">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Project</a:t>
              </a:r>
              <a:r>
                <a:rPr kumimoji="0" lang="en-US" sz="800" b="1" i="0" u="none" strike="noStrike" kern="1200" cap="none" spc="0" normalizeH="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 Closure</a:t>
              </a:r>
              <a:endPar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2" name="Flowchart: Process 21">
              <a:extLst>
                <a:ext uri="{FF2B5EF4-FFF2-40B4-BE49-F238E27FC236}">
                  <a16:creationId xmlns:a16="http://schemas.microsoft.com/office/drawing/2014/main" id="{D1EFDD53-9B46-4F61-9384-88044F50A5B8}"/>
                </a:ext>
              </a:extLst>
            </p:cNvPr>
            <p:cNvSpPr/>
            <p:nvPr/>
          </p:nvSpPr>
          <p:spPr bwMode="gray">
            <a:xfrm>
              <a:off x="4178091" y="2159945"/>
              <a:ext cx="1704754" cy="608106"/>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1" indent="0" algn="ctr" defTabSz="732526" rtl="0" eaLnBrk="1" fontAlgn="auto" latinLnBrk="0" hangingPunct="1">
                <a:lnSpc>
                  <a:spcPct val="90000"/>
                </a:lnSpc>
                <a:spcBef>
                  <a:spcPts val="0"/>
                </a:spcBef>
                <a:spcAft>
                  <a:spcPts val="10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Import &amp; Process Cost Transactions</a:t>
              </a:r>
            </a:p>
          </p:txBody>
        </p:sp>
        <p:sp>
          <p:nvSpPr>
            <p:cNvPr id="23" name="Flowchart: Process 22">
              <a:extLst>
                <a:ext uri="{FF2B5EF4-FFF2-40B4-BE49-F238E27FC236}">
                  <a16:creationId xmlns:a16="http://schemas.microsoft.com/office/drawing/2014/main" id="{0FB5B29E-BA39-4C4A-9ECD-A42D291821F6}"/>
                </a:ext>
              </a:extLst>
            </p:cNvPr>
            <p:cNvSpPr/>
            <p:nvPr/>
          </p:nvSpPr>
          <p:spPr bwMode="gray">
            <a:xfrm>
              <a:off x="6106743" y="2855857"/>
              <a:ext cx="1704755" cy="602363"/>
            </a:xfrm>
            <a:prstGeom prst="flowChartProcess">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1" indent="0" algn="ctr" defTabSz="732526" rtl="0" eaLnBrk="1" fontAlgn="auto" latinLnBrk="0" hangingPunct="1">
                <a:lnSpc>
                  <a:spcPct val="90000"/>
                </a:lnSpc>
                <a:spcBef>
                  <a:spcPts val="0"/>
                </a:spcBef>
                <a:spcAft>
                  <a:spcPts val="100"/>
                </a:spcAft>
                <a:buClrTx/>
                <a:buSzTx/>
                <a:buFontTx/>
                <a:buNone/>
                <a:tabLst/>
                <a:defRPr/>
              </a:pPr>
              <a:r>
                <a:rPr kumimoji="0" lang="en-US" sz="8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Create a Billing Event</a:t>
              </a:r>
            </a:p>
          </p:txBody>
        </p:sp>
      </p:grpSp>
      <p:sp>
        <p:nvSpPr>
          <p:cNvPr id="2" name="Title 1"/>
          <p:cNvSpPr>
            <a:spLocks noGrp="1"/>
          </p:cNvSpPr>
          <p:nvPr>
            <p:ph type="title"/>
          </p:nvPr>
        </p:nvSpPr>
        <p:spPr/>
        <p:txBody>
          <a:bodyPr/>
          <a:lstStyle/>
          <a:p>
            <a:r>
              <a:rPr lang="en-US" dirty="0"/>
              <a:t>Testing Automation Scenarios: Project to Close </a:t>
            </a:r>
          </a:p>
        </p:txBody>
      </p:sp>
    </p:spTree>
    <p:extLst>
      <p:ext uri="{BB962C8B-B14F-4D97-AF65-F5344CB8AC3E}">
        <p14:creationId xmlns:p14="http://schemas.microsoft.com/office/powerpoint/2010/main" val="220262750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69899" y="1115315"/>
            <a:ext cx="11029375" cy="1073703"/>
          </a:xfrm>
        </p:spPr>
        <p:txBody>
          <a:bodyPr/>
          <a:lstStyle/>
          <a:p>
            <a:pPr>
              <a:spcAft>
                <a:spcPts val="0"/>
              </a:spcAft>
            </a:pPr>
            <a:r>
              <a:rPr lang="en-US" sz="1000"/>
              <a:t>For all Fusion Cloud change management activities listed below:</a:t>
            </a:r>
          </a:p>
          <a:p>
            <a:pPr>
              <a:spcAft>
                <a:spcPts val="600"/>
              </a:spcAft>
            </a:pPr>
            <a:r>
              <a:rPr lang="en-US" sz="1000" b="1"/>
              <a:t>Start Times are typically based on the Customers’ Data Center location</a:t>
            </a:r>
            <a:r>
              <a:rPr lang="en-US" sz="1000"/>
              <a:t>.</a:t>
            </a:r>
          </a:p>
          <a:p>
            <a:pPr marL="341313" indent="-227013">
              <a:spcAft>
                <a:spcPts val="600"/>
              </a:spcAft>
              <a:buFont typeface="Arial" panose="020B0604020202020204" pitchFamily="34" charset="0"/>
              <a:buChar char="•"/>
            </a:pPr>
            <a:r>
              <a:rPr lang="en-US" sz="1000"/>
              <a:t>All Data Centers: Estimated start time - </a:t>
            </a:r>
            <a:r>
              <a:rPr lang="en-US" sz="1000" b="1"/>
              <a:t>Friday 21:00 Local Data Center Time</a:t>
            </a:r>
          </a:p>
          <a:p>
            <a:pPr marL="341313" indent="-227013">
              <a:spcAft>
                <a:spcPts val="600"/>
              </a:spcAft>
              <a:buFont typeface="Arial" panose="020B0604020202020204" pitchFamily="34" charset="0"/>
              <a:buChar char="•"/>
            </a:pPr>
            <a:r>
              <a:rPr lang="en-US" sz="1000"/>
              <a:t>Sydney: Friday 23:00 Local Data Center Time (AEST)</a:t>
            </a:r>
          </a:p>
          <a:p>
            <a:pPr marL="341313" indent="-227013">
              <a:spcAft>
                <a:spcPts val="600"/>
              </a:spcAft>
              <a:buFont typeface="Arial" panose="020B0604020202020204" pitchFamily="34" charset="0"/>
              <a:buChar char="•"/>
            </a:pPr>
            <a:r>
              <a:rPr lang="en-US" sz="1000"/>
              <a:t>Middle East Customer Environments: Thursday 10:00 US Pacific Time</a:t>
            </a:r>
            <a:endParaRPr lang="en-US" sz="1000" dirty="0"/>
          </a:p>
        </p:txBody>
      </p:sp>
      <p:sp>
        <p:nvSpPr>
          <p:cNvPr id="3" name="Text Placeholder 2"/>
          <p:cNvSpPr>
            <a:spLocks noGrp="1"/>
          </p:cNvSpPr>
          <p:nvPr>
            <p:ph type="body" sz="quarter" idx="13"/>
          </p:nvPr>
        </p:nvSpPr>
        <p:spPr/>
        <p:txBody>
          <a:bodyPr/>
          <a:lstStyle/>
          <a:p>
            <a:r>
              <a:rPr lang="en-US"/>
              <a:t>Oracle Fusion Cloud Services*</a:t>
            </a:r>
            <a:endParaRPr lang="en-US" dirty="0"/>
          </a:p>
        </p:txBody>
      </p:sp>
      <p:sp>
        <p:nvSpPr>
          <p:cNvPr id="4" name="Title 3"/>
          <p:cNvSpPr>
            <a:spLocks noGrp="1"/>
          </p:cNvSpPr>
          <p:nvPr>
            <p:ph type="title"/>
          </p:nvPr>
        </p:nvSpPr>
        <p:spPr/>
        <p:txBody>
          <a:bodyPr/>
          <a:lstStyle/>
          <a:p>
            <a:r>
              <a:rPr lang="fr-FR"/>
              <a:t>Oracle Cloud Change Management Information</a:t>
            </a:r>
            <a:endParaRPr lang="en-US" dirty="0"/>
          </a:p>
        </p:txBody>
      </p:sp>
      <p:sp>
        <p:nvSpPr>
          <p:cNvPr id="6" name="Rectangle 5"/>
          <p:cNvSpPr/>
          <p:nvPr/>
        </p:nvSpPr>
        <p:spPr>
          <a:xfrm>
            <a:off x="10396096" y="6627168"/>
            <a:ext cx="1326004" cy="230832"/>
          </a:xfrm>
          <a:prstGeom prst="rect">
            <a:avLst/>
          </a:prstGeom>
        </p:spPr>
        <p:txBody>
          <a:bodyPr wrap="none">
            <a:spAutoFit/>
          </a:bodyPr>
          <a:lstStyle/>
          <a:p>
            <a:r>
              <a:rPr lang="en-US" sz="900" dirty="0"/>
              <a:t>*Doc ID 1681146.2</a:t>
            </a:r>
          </a:p>
        </p:txBody>
      </p:sp>
      <p:graphicFrame>
        <p:nvGraphicFramePr>
          <p:cNvPr id="7" name="Table 6"/>
          <p:cNvGraphicFramePr>
            <a:graphicFrameLocks noGrp="1"/>
          </p:cNvGraphicFramePr>
          <p:nvPr>
            <p:extLst>
              <p:ext uri="{D42A27DB-BD31-4B8C-83A1-F6EECF244321}">
                <p14:modId xmlns:p14="http://schemas.microsoft.com/office/powerpoint/2010/main" val="2946808539"/>
              </p:ext>
            </p:extLst>
          </p:nvPr>
        </p:nvGraphicFramePr>
        <p:xfrm>
          <a:off x="469900" y="2189018"/>
          <a:ext cx="11029374" cy="4404533"/>
        </p:xfrm>
        <a:graphic>
          <a:graphicData uri="http://schemas.openxmlformats.org/drawingml/2006/table">
            <a:tbl>
              <a:tblPr>
                <a:tableStyleId>{5C22544A-7EE6-4342-B048-85BDC9FD1C3A}</a:tableStyleId>
              </a:tblPr>
              <a:tblGrid>
                <a:gridCol w="3032301">
                  <a:extLst>
                    <a:ext uri="{9D8B030D-6E8A-4147-A177-3AD203B41FA5}">
                      <a16:colId xmlns:a16="http://schemas.microsoft.com/office/drawing/2014/main" val="20000"/>
                    </a:ext>
                  </a:extLst>
                </a:gridCol>
                <a:gridCol w="7997073">
                  <a:extLst>
                    <a:ext uri="{9D8B030D-6E8A-4147-A177-3AD203B41FA5}">
                      <a16:colId xmlns:a16="http://schemas.microsoft.com/office/drawing/2014/main" val="20001"/>
                    </a:ext>
                  </a:extLst>
                </a:gridCol>
              </a:tblGrid>
              <a:tr h="922085">
                <a:tc>
                  <a:txBody>
                    <a:bodyPr/>
                    <a:lstStyle/>
                    <a:p>
                      <a:pPr algn="l" fontAlgn="ctr"/>
                      <a:r>
                        <a:rPr lang="en-US" sz="900" b="1" u="none" strike="noStrike" dirty="0">
                          <a:effectLst/>
                        </a:rPr>
                        <a:t>Quarterly Update</a:t>
                      </a:r>
                      <a:endParaRPr lang="en-US" sz="900" b="1" i="0" u="none" strike="noStrike" dirty="0">
                        <a:solidFill>
                          <a:srgbClr val="000000"/>
                        </a:solidFill>
                        <a:effectLst/>
                        <a:latin typeface="Tahoma" panose="020B0604030504040204" pitchFamily="34" charset="0"/>
                      </a:endParaRPr>
                    </a:p>
                  </a:txBody>
                  <a:tcPr marR="5742" marT="5742" marB="0" anchor="ctr"/>
                </a:tc>
                <a:tc>
                  <a:txBody>
                    <a:bodyPr/>
                    <a:lstStyle/>
                    <a:p>
                      <a:pPr marL="171450" indent="-171450" algn="l" fontAlgn="ctr">
                        <a:spcAft>
                          <a:spcPts val="600"/>
                        </a:spcAft>
                        <a:buFont typeface="Arial" panose="020B0604020202020204" pitchFamily="34" charset="0"/>
                        <a:buChar char="•"/>
                      </a:pPr>
                      <a:r>
                        <a:rPr lang="en-US" sz="900" b="1" u="none" strike="noStrike" dirty="0">
                          <a:effectLst/>
                          <a:latin typeface="+mn-lt"/>
                        </a:rPr>
                        <a:t>Quarterly Update windows are generally scheduled as follows:</a:t>
                      </a:r>
                      <a:endParaRPr lang="en-US" sz="900" b="1"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Once per quarter in February, May, August, November.</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Non-Production update the 1st calendar weekend and Production update on the 3rd calendar weekend of the month.</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Duration is typically 14 – 28 hours.</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Customer notifications including estimated duration are sent 1 week in advance</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endParaRPr lang="en-US" sz="900" b="0" i="0" u="none" strike="noStrike" dirty="0">
                        <a:solidFill>
                          <a:srgbClr val="000000"/>
                        </a:solidFill>
                        <a:effectLst/>
                        <a:latin typeface="+mn-lt"/>
                      </a:endParaRPr>
                    </a:p>
                  </a:txBody>
                  <a:tcPr marR="5742" marT="5742" marB="0" anchor="ctr"/>
                </a:tc>
                <a:extLst>
                  <a:ext uri="{0D108BD9-81ED-4DB2-BD59-A6C34878D82A}">
                    <a16:rowId xmlns:a16="http://schemas.microsoft.com/office/drawing/2014/main" val="10000"/>
                  </a:ext>
                </a:extLst>
              </a:tr>
              <a:tr h="845216">
                <a:tc>
                  <a:txBody>
                    <a:bodyPr/>
                    <a:lstStyle/>
                    <a:p>
                      <a:pPr algn="l" fontAlgn="ctr"/>
                      <a:r>
                        <a:rPr lang="en-US" sz="900" b="1" u="none" strike="noStrike" dirty="0">
                          <a:effectLst/>
                        </a:rPr>
                        <a:t>Bundle Pack Update (Annual)</a:t>
                      </a:r>
                      <a:endParaRPr lang="en-US" sz="900" b="1" i="0" u="none" strike="noStrike" dirty="0">
                        <a:solidFill>
                          <a:srgbClr val="000000"/>
                        </a:solidFill>
                        <a:effectLst/>
                        <a:latin typeface="Tahoma" panose="020B0604030504040204" pitchFamily="34" charset="0"/>
                      </a:endParaRPr>
                    </a:p>
                  </a:txBody>
                  <a:tcPr marR="5742" marT="5742" marB="0" anchor="ctr"/>
                </a:tc>
                <a:tc>
                  <a:txBody>
                    <a:bodyPr/>
                    <a:lstStyle/>
                    <a:p>
                      <a:pPr marL="171450" indent="-171450" algn="l" fontAlgn="ctr">
                        <a:spcAft>
                          <a:spcPts val="600"/>
                        </a:spcAft>
                        <a:buFont typeface="Arial" panose="020B0604020202020204" pitchFamily="34" charset="0"/>
                        <a:buChar char="•"/>
                      </a:pPr>
                      <a:r>
                        <a:rPr lang="en-US" sz="900" b="1" u="none" strike="noStrike" dirty="0">
                          <a:effectLst/>
                          <a:latin typeface="+mn-lt"/>
                        </a:rPr>
                        <a:t>Bundle Pack Update Windows (DB Rack Cluster, DB Upgrades and OS patching) </a:t>
                      </a:r>
                      <a:endParaRPr lang="en-US" sz="900" b="1"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Once per year.</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Start time depends on the region of customer</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Duration is typically 8 hours.</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Customer notifications are sent up to 4 weeks in advance.</a:t>
                      </a:r>
                    </a:p>
                    <a:p>
                      <a:pPr marL="781035" lvl="1" indent="-171450" algn="l" fontAlgn="ctr">
                        <a:buFont typeface="Courier New" panose="02070309020205020404" pitchFamily="49" charset="0"/>
                        <a:buChar char="o"/>
                      </a:pPr>
                      <a:endParaRPr lang="en-US" sz="900" b="0" i="0" u="none" strike="noStrike" dirty="0">
                        <a:solidFill>
                          <a:srgbClr val="000000"/>
                        </a:solidFill>
                        <a:effectLst/>
                        <a:latin typeface="+mn-lt"/>
                      </a:endParaRPr>
                    </a:p>
                  </a:txBody>
                  <a:tcPr marR="5742" marT="5742" marB="0" anchor="ctr"/>
                </a:tc>
                <a:extLst>
                  <a:ext uri="{0D108BD9-81ED-4DB2-BD59-A6C34878D82A}">
                    <a16:rowId xmlns:a16="http://schemas.microsoft.com/office/drawing/2014/main" val="10001"/>
                  </a:ext>
                </a:extLst>
              </a:tr>
              <a:tr h="1101443">
                <a:tc>
                  <a:txBody>
                    <a:bodyPr/>
                    <a:lstStyle/>
                    <a:p>
                      <a:pPr algn="l" fontAlgn="ctr"/>
                      <a:r>
                        <a:rPr lang="en-US" sz="900" b="1" u="none" strike="noStrike" dirty="0">
                          <a:effectLst/>
                        </a:rPr>
                        <a:t>Upgrade Windows (Semi-Annual)</a:t>
                      </a:r>
                      <a:endParaRPr lang="en-US" sz="900" b="1" i="0" u="none" strike="noStrike" dirty="0">
                        <a:solidFill>
                          <a:srgbClr val="000000"/>
                        </a:solidFill>
                        <a:effectLst/>
                        <a:latin typeface="Tahoma" panose="020B0604030504040204" pitchFamily="34" charset="0"/>
                      </a:endParaRPr>
                    </a:p>
                  </a:txBody>
                  <a:tcPr marR="5742" marT="5742" marB="0" anchor="ctr"/>
                </a:tc>
                <a:tc>
                  <a:txBody>
                    <a:bodyPr/>
                    <a:lstStyle/>
                    <a:p>
                      <a:pPr marL="171450" indent="-171450" algn="l" fontAlgn="ctr">
                        <a:spcAft>
                          <a:spcPts val="600"/>
                        </a:spcAft>
                        <a:buFont typeface="Arial" panose="020B0604020202020204" pitchFamily="34" charset="0"/>
                        <a:buChar char="•"/>
                      </a:pPr>
                      <a:r>
                        <a:rPr lang="en-US" sz="900" b="1" u="none" strike="noStrike" dirty="0">
                          <a:effectLst/>
                          <a:latin typeface="+mn-lt"/>
                        </a:rPr>
                        <a:t>Upgrade Windows (Performed on semi-annual basis)</a:t>
                      </a:r>
                      <a:endParaRPr lang="en-US" sz="900" b="1"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2 upgrades a year, on average.</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Non-Production environments are upgraded on Tuesday at 09:00 (US Pacific Time.</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Production environment is upgraded over the weekend approximately 3.5 weeks after the customer’s non-production environment has been upgraded. Start time depends on the region of the customer.</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Customer notifications are sent several weeks in advance of scheduled upgrade. Refer to Oracle Applications Cloud Service Entitlements (Doc ID 2004494.1) for additional information.</a:t>
                      </a:r>
                      <a:endParaRPr lang="en-US" sz="900" b="0" i="0" u="none" strike="noStrike" dirty="0">
                        <a:solidFill>
                          <a:srgbClr val="000000"/>
                        </a:solidFill>
                        <a:effectLst/>
                        <a:latin typeface="+mn-lt"/>
                      </a:endParaRPr>
                    </a:p>
                    <a:p>
                      <a:pPr algn="l" fontAlgn="ctr"/>
                      <a:r>
                        <a:rPr lang="en-US" sz="900" u="none" strike="noStrike" dirty="0">
                          <a:effectLst/>
                          <a:latin typeface="+mn-lt"/>
                        </a:rPr>
                        <a:t> </a:t>
                      </a:r>
                      <a:endParaRPr lang="en-US" sz="900" b="0" i="0" u="none" strike="noStrike" dirty="0">
                        <a:solidFill>
                          <a:srgbClr val="000000"/>
                        </a:solidFill>
                        <a:effectLst/>
                        <a:latin typeface="+mn-lt"/>
                      </a:endParaRPr>
                    </a:p>
                  </a:txBody>
                  <a:tcPr marR="5742" marT="5742" marB="0" anchor="ctr"/>
                </a:tc>
                <a:extLst>
                  <a:ext uri="{0D108BD9-81ED-4DB2-BD59-A6C34878D82A}">
                    <a16:rowId xmlns:a16="http://schemas.microsoft.com/office/drawing/2014/main" val="10002"/>
                  </a:ext>
                </a:extLst>
              </a:tr>
              <a:tr h="717103">
                <a:tc>
                  <a:txBody>
                    <a:bodyPr/>
                    <a:lstStyle/>
                    <a:p>
                      <a:pPr algn="l" fontAlgn="ctr"/>
                      <a:r>
                        <a:rPr lang="en-US" sz="900" b="1" u="none" strike="noStrike" dirty="0">
                          <a:effectLst/>
                        </a:rPr>
                        <a:t>Infrastructure Maintenance Windows (2</a:t>
                      </a:r>
                      <a:r>
                        <a:rPr lang="en-US" sz="900" b="1" u="none" strike="noStrike" baseline="30000" dirty="0">
                          <a:effectLst/>
                        </a:rPr>
                        <a:t>nd</a:t>
                      </a:r>
                      <a:r>
                        <a:rPr lang="en-US" sz="900" b="1" u="none" strike="noStrike" dirty="0">
                          <a:effectLst/>
                        </a:rPr>
                        <a:t>, 4</a:t>
                      </a:r>
                      <a:r>
                        <a:rPr lang="en-US" sz="900" b="1" u="none" strike="noStrike" baseline="30000" dirty="0">
                          <a:effectLst/>
                        </a:rPr>
                        <a:t>th</a:t>
                      </a:r>
                      <a:r>
                        <a:rPr lang="en-US" sz="900" b="1" u="none" strike="noStrike" dirty="0">
                          <a:effectLst/>
                        </a:rPr>
                        <a:t>, and 5</a:t>
                      </a:r>
                      <a:r>
                        <a:rPr lang="en-US" sz="900" b="1" u="none" strike="noStrike" baseline="30000" dirty="0">
                          <a:effectLst/>
                        </a:rPr>
                        <a:t>th</a:t>
                      </a:r>
                      <a:r>
                        <a:rPr lang="en-US" sz="900" b="1" u="none" strike="noStrike" dirty="0">
                          <a:effectLst/>
                        </a:rPr>
                        <a:t> weekend of the month)</a:t>
                      </a:r>
                      <a:endParaRPr lang="en-US" sz="900" b="1" i="0" u="none" strike="noStrike" dirty="0">
                        <a:solidFill>
                          <a:srgbClr val="000000"/>
                        </a:solidFill>
                        <a:effectLst/>
                        <a:latin typeface="Tahoma" panose="020B0604030504040204" pitchFamily="34" charset="0"/>
                      </a:endParaRPr>
                    </a:p>
                  </a:txBody>
                  <a:tcPr marR="5742" marT="5742" marB="0" anchor="ctr"/>
                </a:tc>
                <a:tc>
                  <a:txBody>
                    <a:bodyPr/>
                    <a:lstStyle/>
                    <a:p>
                      <a:pPr marL="171450" indent="-171450" algn="l" fontAlgn="ctr">
                        <a:spcAft>
                          <a:spcPts val="600"/>
                        </a:spcAft>
                        <a:buFont typeface="Arial" panose="020B0604020202020204" pitchFamily="34" charset="0"/>
                        <a:buChar char="•"/>
                      </a:pPr>
                      <a:r>
                        <a:rPr lang="en-US" sz="900" b="1" u="none" strike="noStrike" dirty="0">
                          <a:effectLst/>
                          <a:latin typeface="+mn-lt"/>
                        </a:rPr>
                        <a:t>Infrastructure Maintenance Windows (Exadata, </a:t>
                      </a:r>
                      <a:r>
                        <a:rPr lang="en-US" sz="900" b="1" u="none" strike="noStrike" dirty="0" err="1">
                          <a:effectLst/>
                          <a:latin typeface="+mn-lt"/>
                        </a:rPr>
                        <a:t>Exalogic</a:t>
                      </a:r>
                      <a:r>
                        <a:rPr lang="en-US" sz="900" b="1" u="none" strike="noStrike" dirty="0">
                          <a:effectLst/>
                          <a:latin typeface="+mn-lt"/>
                        </a:rPr>
                        <a:t> hardware (DIMM/RAM) replacement)</a:t>
                      </a:r>
                      <a:endParaRPr lang="en-US" sz="900" b="1"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Scheduled on the 2nd, 4th, and 5th weekends of the month. Start time depends on the region of customer.</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Duration is typically 2 to 4 hours (may not result in an outage).</a:t>
                      </a:r>
                      <a:endParaRPr lang="en-US" sz="900" b="0"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Customer notifications are sent 1 week in advance.</a:t>
                      </a:r>
                    </a:p>
                    <a:p>
                      <a:pPr marL="781035" lvl="1" indent="-171450" algn="l" fontAlgn="ctr">
                        <a:buFont typeface="Courier New" panose="02070309020205020404" pitchFamily="49" charset="0"/>
                        <a:buChar char="o"/>
                      </a:pPr>
                      <a:endParaRPr lang="en-US" sz="900" b="0" i="0" u="none" strike="noStrike" dirty="0">
                        <a:solidFill>
                          <a:srgbClr val="000000"/>
                        </a:solidFill>
                        <a:effectLst/>
                        <a:latin typeface="+mn-lt"/>
                      </a:endParaRPr>
                    </a:p>
                  </a:txBody>
                  <a:tcPr marR="5742" marT="5742" marB="0" anchor="ctr"/>
                </a:tc>
                <a:extLst>
                  <a:ext uri="{0D108BD9-81ED-4DB2-BD59-A6C34878D82A}">
                    <a16:rowId xmlns:a16="http://schemas.microsoft.com/office/drawing/2014/main" val="10003"/>
                  </a:ext>
                </a:extLst>
              </a:tr>
              <a:tr h="588990">
                <a:tc>
                  <a:txBody>
                    <a:bodyPr/>
                    <a:lstStyle/>
                    <a:p>
                      <a:pPr algn="l" fontAlgn="ctr"/>
                      <a:r>
                        <a:rPr lang="en-US" sz="900" b="1" u="none" strike="noStrike" dirty="0">
                          <a:effectLst/>
                        </a:rPr>
                        <a:t>Customer Initiated, Exception Updates</a:t>
                      </a:r>
                      <a:endParaRPr lang="en-US" sz="900" b="1" i="0" u="none" strike="noStrike" dirty="0">
                        <a:solidFill>
                          <a:srgbClr val="000000"/>
                        </a:solidFill>
                        <a:effectLst/>
                        <a:latin typeface="Tahoma" panose="020B0604030504040204" pitchFamily="34" charset="0"/>
                      </a:endParaRPr>
                    </a:p>
                  </a:txBody>
                  <a:tcPr marR="5742" marT="5742" marB="0" anchor="ctr"/>
                </a:tc>
                <a:tc>
                  <a:txBody>
                    <a:bodyPr/>
                    <a:lstStyle/>
                    <a:p>
                      <a:pPr marL="169863" indent="-169863" algn="l" fontAlgn="ctr">
                        <a:spcAft>
                          <a:spcPts val="600"/>
                        </a:spcAft>
                        <a:buFont typeface="Arial" panose="020B0604020202020204" pitchFamily="34" charset="0"/>
                        <a:buChar char="•"/>
                      </a:pPr>
                      <a:r>
                        <a:rPr lang="en-US" sz="900" b="1" u="none" strike="noStrike" dirty="0">
                          <a:effectLst/>
                          <a:latin typeface="+mn-lt"/>
                        </a:rPr>
                        <a:t>Customer Initiated, Exception Updates</a:t>
                      </a:r>
                      <a:endParaRPr lang="en-US" sz="900" b="1" i="0" u="none" strike="noStrike" dirty="0">
                        <a:solidFill>
                          <a:srgbClr val="000000"/>
                        </a:solidFill>
                        <a:effectLst/>
                        <a:latin typeface="+mn-lt"/>
                      </a:endParaRPr>
                    </a:p>
                    <a:p>
                      <a:pPr marL="781035" lvl="1" indent="-171450" algn="l" fontAlgn="ctr">
                        <a:buFont typeface="Courier New" panose="02070309020205020404" pitchFamily="49" charset="0"/>
                        <a:buChar char="o"/>
                      </a:pPr>
                      <a:r>
                        <a:rPr lang="en-US" sz="900" u="none" strike="noStrike" dirty="0">
                          <a:effectLst/>
                          <a:latin typeface="+mn-lt"/>
                        </a:rPr>
                        <a:t>Approved as an exception where update is deemed critical. Refer to Oracle Applications Cloud Service Entitlements (Doc ID 2004494.1) for additional information.</a:t>
                      </a:r>
                      <a:endParaRPr lang="en-US" sz="900" b="0" i="0" u="none" strike="noStrike" dirty="0">
                        <a:solidFill>
                          <a:srgbClr val="000000"/>
                        </a:solidFill>
                        <a:effectLst/>
                        <a:latin typeface="+mn-lt"/>
                      </a:endParaRPr>
                    </a:p>
                    <a:p>
                      <a:pPr algn="l" fontAlgn="ctr"/>
                      <a:r>
                        <a:rPr lang="en-US" sz="900" u="none" strike="noStrike" dirty="0">
                          <a:effectLst/>
                          <a:latin typeface="+mn-lt"/>
                        </a:rPr>
                        <a:t> </a:t>
                      </a:r>
                      <a:endParaRPr lang="en-US" sz="900" b="0" i="0" u="none" strike="noStrike" dirty="0">
                        <a:solidFill>
                          <a:srgbClr val="000000"/>
                        </a:solidFill>
                        <a:effectLst/>
                        <a:latin typeface="+mn-lt"/>
                      </a:endParaRPr>
                    </a:p>
                  </a:txBody>
                  <a:tcPr marR="5742" marT="5742"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0539704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69900" y="1493943"/>
            <a:ext cx="11252200" cy="4633910"/>
          </a:xfrm>
        </p:spPr>
        <p:txBody>
          <a:bodyPr/>
          <a:lstStyle/>
          <a:p>
            <a:pPr marL="171450" indent="-171450">
              <a:buFont typeface="Arial" panose="020B0604020202020204" pitchFamily="34" charset="0"/>
              <a:buChar char="•"/>
            </a:pPr>
            <a:r>
              <a:rPr lang="en-US"/>
              <a:t>What's New documents included in Release Readiness content for each service (</a:t>
            </a:r>
            <a:r>
              <a:rPr lang="en-US">
                <a:hlinkClick r:id="rId2"/>
              </a:rPr>
              <a:t>https://cloud.oracle.com/en_US/readiness</a:t>
            </a:r>
            <a:r>
              <a:rPr lang="en-US"/>
              <a:t>) </a:t>
            </a:r>
          </a:p>
          <a:p>
            <a:pPr marL="171450" indent="-171450">
              <a:buFont typeface="Arial" panose="020B0604020202020204" pitchFamily="34" charset="0"/>
              <a:buChar char="•"/>
            </a:pPr>
            <a:r>
              <a:rPr lang="en-US"/>
              <a:t>Oracle Fusion Applications Known Issues and Update article on My Oracle Support (Doc ID </a:t>
            </a:r>
            <a:r>
              <a:rPr lang="en-US">
                <a:hlinkClick r:id="rId3"/>
              </a:rPr>
              <a:t>1603154.1</a:t>
            </a:r>
            <a:r>
              <a:rPr lang="en-US"/>
              <a:t>) </a:t>
            </a:r>
          </a:p>
          <a:p>
            <a:pPr marL="171450" indent="-171450">
              <a:buFont typeface="Arial" panose="020B0604020202020204" pitchFamily="34" charset="0"/>
              <a:buChar char="•"/>
            </a:pPr>
            <a:r>
              <a:rPr lang="en-US"/>
              <a:t>Functional Readmes for Fusion Transactional Business Intelligence (OTBI) Updates article on My Oracle Support (Doc ID </a:t>
            </a:r>
            <a:r>
              <a:rPr lang="en-US">
                <a:hlinkClick r:id="rId4"/>
              </a:rPr>
              <a:t>1573674.1</a:t>
            </a:r>
            <a:r>
              <a:rPr lang="en-US"/>
              <a:t>)</a:t>
            </a:r>
          </a:p>
          <a:p>
            <a:pPr marL="171450" indent="-171450">
              <a:buFont typeface="Arial" panose="020B0604020202020204" pitchFamily="34" charset="0"/>
              <a:buChar char="•"/>
            </a:pPr>
            <a:r>
              <a:rPr lang="en-US"/>
              <a:t>Readiness Material and Documentation:</a:t>
            </a:r>
          </a:p>
          <a:p>
            <a:pPr marL="152400" lvl="2" indent="0">
              <a:buNone/>
            </a:pPr>
            <a:r>
              <a:rPr lang="en-US"/>
              <a:t>You'll receive advance notice of </a:t>
            </a:r>
            <a:r>
              <a:rPr lang="en-US" b="1"/>
              <a:t>Readiness material</a:t>
            </a:r>
            <a:r>
              <a:rPr lang="en-US"/>
              <a:t>, which describes new features/functions in upcoming updates. This </a:t>
            </a:r>
            <a:r>
              <a:rPr lang="en-US" b="1"/>
              <a:t>material is published on cloud.oracle.com at least 30 days prior to update availability</a:t>
            </a:r>
            <a:r>
              <a:rPr lang="en-US"/>
              <a:t>. This Readiness material along with documentation will help you prepare for the features/functions introduced with each Quarterly Update.</a:t>
            </a:r>
          </a:p>
          <a:p>
            <a:pPr marL="152400" lvl="2" indent="0">
              <a:buNone/>
            </a:pPr>
            <a:r>
              <a:rPr lang="en-US"/>
              <a:t>For more information on the details of known and resolved issues in the Quarterly Update, review the specific Cloud Applications Functional Update papers linked from My Oracle Support article (Doc ID </a:t>
            </a:r>
            <a:r>
              <a:rPr lang="en-US">
                <a:hlinkClick r:id="rId3"/>
              </a:rPr>
              <a:t>1603154.1</a:t>
            </a:r>
            <a:r>
              <a:rPr lang="en-US"/>
              <a:t>) </a:t>
            </a:r>
          </a:p>
          <a:p>
            <a:endParaRPr lang="en-US" dirty="0"/>
          </a:p>
        </p:txBody>
      </p:sp>
      <p:sp>
        <p:nvSpPr>
          <p:cNvPr id="3" name="Text Placeholder 2"/>
          <p:cNvSpPr>
            <a:spLocks noGrp="1"/>
          </p:cNvSpPr>
          <p:nvPr>
            <p:ph type="body" sz="quarter" idx="13"/>
          </p:nvPr>
        </p:nvSpPr>
        <p:spPr/>
        <p:txBody>
          <a:bodyPr/>
          <a:lstStyle/>
          <a:p>
            <a:r>
              <a:rPr lang="en-US"/>
              <a:t>Quarterly Updates content</a:t>
            </a:r>
            <a:endParaRPr lang="en-US" dirty="0"/>
          </a:p>
        </p:txBody>
      </p:sp>
      <p:sp>
        <p:nvSpPr>
          <p:cNvPr id="4" name="Title 3"/>
          <p:cNvSpPr>
            <a:spLocks noGrp="1"/>
          </p:cNvSpPr>
          <p:nvPr>
            <p:ph type="title"/>
          </p:nvPr>
        </p:nvSpPr>
        <p:spPr/>
        <p:txBody>
          <a:bodyPr/>
          <a:lstStyle/>
          <a:p>
            <a:r>
              <a:rPr lang="fr-FR"/>
              <a:t>Oracle Cloud Change Management Information</a:t>
            </a:r>
            <a:endParaRPr lang="en-US" dirty="0"/>
          </a:p>
        </p:txBody>
      </p:sp>
    </p:spTree>
    <p:extLst>
      <p:ext uri="{BB962C8B-B14F-4D97-AF65-F5344CB8AC3E}">
        <p14:creationId xmlns:p14="http://schemas.microsoft.com/office/powerpoint/2010/main" val="137743466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Comparison of Bots</a:t>
            </a:r>
          </a:p>
        </p:txBody>
      </p:sp>
      <p:graphicFrame>
        <p:nvGraphicFramePr>
          <p:cNvPr id="6" name="Content Placeholder 6"/>
          <p:cNvGraphicFramePr>
            <a:graphicFrameLocks/>
          </p:cNvGraphicFramePr>
          <p:nvPr>
            <p:extLst>
              <p:ext uri="{D42A27DB-BD31-4B8C-83A1-F6EECF244321}">
                <p14:modId xmlns:p14="http://schemas.microsoft.com/office/powerpoint/2010/main" val="3266776135"/>
              </p:ext>
            </p:extLst>
          </p:nvPr>
        </p:nvGraphicFramePr>
        <p:xfrm>
          <a:off x="469898" y="1656166"/>
          <a:ext cx="11252202" cy="1934707"/>
        </p:xfrm>
        <a:graphic>
          <a:graphicData uri="http://schemas.openxmlformats.org/drawingml/2006/table">
            <a:tbl>
              <a:tblPr firstRow="1" bandRow="1">
                <a:tableStyleId>{5C22544A-7EE6-4342-B048-85BDC9FD1C3A}</a:tableStyleId>
              </a:tblPr>
              <a:tblGrid>
                <a:gridCol w="5626101">
                  <a:extLst>
                    <a:ext uri="{9D8B030D-6E8A-4147-A177-3AD203B41FA5}">
                      <a16:colId xmlns:a16="http://schemas.microsoft.com/office/drawing/2014/main" val="20000"/>
                    </a:ext>
                  </a:extLst>
                </a:gridCol>
                <a:gridCol w="5626101">
                  <a:extLst>
                    <a:ext uri="{9D8B030D-6E8A-4147-A177-3AD203B41FA5}">
                      <a16:colId xmlns:a16="http://schemas.microsoft.com/office/drawing/2014/main" val="20001"/>
                    </a:ext>
                  </a:extLst>
                </a:gridCol>
              </a:tblGrid>
              <a:tr h="646122">
                <a:tc>
                  <a:txBody>
                    <a:bodyPr/>
                    <a:lstStyle/>
                    <a:p>
                      <a:r>
                        <a:rPr lang="en-GB" sz="1200" b="0" dirty="0">
                          <a:solidFill>
                            <a:schemeClr val="accent1"/>
                          </a:solidFill>
                        </a:rPr>
                        <a:t>Attended Bots</a:t>
                      </a:r>
                    </a:p>
                  </a:txBody>
                  <a:tcPr marL="91632" marR="91632" anchor="ctr">
                    <a:lnL w="12700" cmpd="sng">
                      <a:noFill/>
                    </a:lnL>
                    <a:lnR w="12700" cmpd="sng">
                      <a:noFill/>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b="0" dirty="0">
                          <a:solidFill>
                            <a:schemeClr val="accent1"/>
                          </a:solidFill>
                        </a:rPr>
                        <a:t>Unattended Bots</a:t>
                      </a:r>
                    </a:p>
                  </a:txBody>
                  <a:tcPr marL="91632" marR="91632" anchor="ctr">
                    <a:lnL w="12700" cmpd="sng">
                      <a:noFill/>
                    </a:lnL>
                    <a:lnR w="12700" cmpd="sng">
                      <a:noFill/>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288585">
                <a:tc>
                  <a:txBody>
                    <a:bodyPr/>
                    <a:lstStyle/>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GB" sz="1000" dirty="0">
                          <a:solidFill>
                            <a:schemeClr val="tx1"/>
                          </a:solidFill>
                        </a:rPr>
                        <a:t>Works with employees to</a:t>
                      </a:r>
                      <a:r>
                        <a:rPr lang="en-GB" sz="1000" baseline="0" dirty="0">
                          <a:solidFill>
                            <a:schemeClr val="tx1"/>
                          </a:solidFill>
                        </a:rPr>
                        <a:t> cater activities where human intervention is required.</a:t>
                      </a:r>
                    </a:p>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000" dirty="0">
                          <a:solidFill>
                            <a:schemeClr val="tx1"/>
                          </a:solidFill>
                        </a:rPr>
                        <a:t>Resides on the employee's workstation.</a:t>
                      </a:r>
                    </a:p>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000" dirty="0">
                          <a:solidFill>
                            <a:schemeClr val="tx1"/>
                          </a:solidFill>
                        </a:rPr>
                        <a:t>Is triggered when needed by direct command. </a:t>
                      </a:r>
                    </a:p>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000" dirty="0">
                          <a:solidFill>
                            <a:schemeClr val="tx1"/>
                          </a:solidFill>
                        </a:rPr>
                        <a:t>Acts in the background while the staff continues with uninterrupted work</a:t>
                      </a:r>
                    </a:p>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000" dirty="0">
                          <a:solidFill>
                            <a:schemeClr val="tx1"/>
                          </a:solidFill>
                        </a:rPr>
                        <a:t>Use</a:t>
                      </a:r>
                      <a:r>
                        <a:rPr lang="en-US" sz="1000" baseline="0" dirty="0">
                          <a:solidFill>
                            <a:schemeClr val="tx1"/>
                          </a:solidFill>
                        </a:rPr>
                        <a:t> Cases: (s</a:t>
                      </a:r>
                      <a:r>
                        <a:rPr lang="en-US" sz="1000" dirty="0">
                          <a:solidFill>
                            <a:schemeClr val="tx1"/>
                          </a:solidFill>
                        </a:rPr>
                        <a:t>ervice desk, helpdesk, and call center activities).</a:t>
                      </a:r>
                      <a:endParaRPr lang="en-GB" sz="1000" dirty="0">
                        <a:solidFill>
                          <a:schemeClr val="tx1"/>
                        </a:solidFill>
                      </a:endParaRPr>
                    </a:p>
                  </a:txBody>
                  <a:tcPr marL="91632" marR="91632" anchor="ctr">
                    <a:lnL w="12700" cmpd="sng">
                      <a:noFill/>
                    </a:lnL>
                    <a:lnR w="12700" cmpd="sng">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000" dirty="0">
                          <a:solidFill>
                            <a:schemeClr val="tx1"/>
                          </a:solidFill>
                        </a:rPr>
                        <a:t>Operates without human touch</a:t>
                      </a:r>
                    </a:p>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000" dirty="0">
                          <a:solidFill>
                            <a:schemeClr val="tx1"/>
                          </a:solidFill>
                        </a:rPr>
                        <a:t>Maximize cost and performance benefits for back-office activities. </a:t>
                      </a:r>
                    </a:p>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000" dirty="0">
                          <a:solidFill>
                            <a:schemeClr val="tx1"/>
                          </a:solidFill>
                        </a:rPr>
                        <a:t>Can be scheduled to self-start and run efficiently in batch mode. </a:t>
                      </a:r>
                    </a:p>
                    <a:p>
                      <a:pPr marL="171450" marR="0" lvl="0" indent="-171450" algn="l" defTabSz="957263"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000" dirty="0">
                          <a:solidFill>
                            <a:schemeClr val="tx1"/>
                          </a:solidFill>
                        </a:rPr>
                        <a:t>Remotely accessible, with scheduling, workload management, reporting, auditing and monitoring all securely centralized.</a:t>
                      </a:r>
                      <a:endParaRPr lang="en-GB" sz="1000" dirty="0">
                        <a:solidFill>
                          <a:schemeClr val="tx1"/>
                        </a:solidFill>
                      </a:endParaRPr>
                    </a:p>
                  </a:txBody>
                  <a:tcPr marL="91632" marR="91632" anchor="ctr">
                    <a:lnL w="12700" cmpd="sng">
                      <a:noFill/>
                    </a:lnL>
                    <a:lnR w="12700" cmpd="sng">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2058088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US.potx" id="{0EE9D2B3-061D-4481-B583-397E8A57E8A2}" vid="{027ADE79-AE14-4360-9116-256000D5D1A0}"/>
    </a:ext>
  </a:extLst>
</a:theme>
</file>

<file path=ppt/theme/theme2.xml><?xml version="1.0" encoding="utf-8"?>
<a:theme xmlns:a="http://schemas.openxmlformats.org/drawingml/2006/main" name="1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US.potx" id="{0EE9D2B3-061D-4481-B583-397E8A57E8A2}" vid="{027ADE79-AE14-4360-9116-256000D5D1A0}"/>
    </a:ext>
  </a:extLst>
</a:theme>
</file>

<file path=ppt/theme/theme3.xml><?xml version="1.0" encoding="utf-8"?>
<a:theme xmlns:a="http://schemas.openxmlformats.org/drawingml/2006/main" name="2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US.potx" id="{0EE9D2B3-061D-4481-B583-397E8A57E8A2}" vid="{027ADE79-AE14-4360-9116-256000D5D1A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Deloitte_16_9_Onscreen_US</Template>
  <TotalTime>12689</TotalTime>
  <Words>3930</Words>
  <Application>Microsoft Office PowerPoint</Application>
  <PresentationFormat>Widescreen</PresentationFormat>
  <Paragraphs>778</Paragraphs>
  <Slides>24</Slides>
  <Notes>17</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24</vt:i4>
      </vt:variant>
    </vt:vector>
  </HeadingPairs>
  <TitlesOfParts>
    <vt:vector size="39" baseType="lpstr">
      <vt:lpstr>ＭＳ Ｐゴシック</vt:lpstr>
      <vt:lpstr>Arial</vt:lpstr>
      <vt:lpstr>Courier New</vt:lpstr>
      <vt:lpstr>Knockout-HTF29-JuniorLiteweight</vt:lpstr>
      <vt:lpstr>Open Sans</vt:lpstr>
      <vt:lpstr>Tahoma</vt:lpstr>
      <vt:lpstr>Times</vt:lpstr>
      <vt:lpstr>Times New Roman</vt:lpstr>
      <vt:lpstr>Verdana</vt:lpstr>
      <vt:lpstr>Wingdings</vt:lpstr>
      <vt:lpstr>Wingdings 2</vt:lpstr>
      <vt:lpstr>Deloitte_US_Onscreen</vt:lpstr>
      <vt:lpstr>1_Deloitte_US_Onscreen</vt:lpstr>
      <vt:lpstr>2_Deloitte_US_Onscreen</vt:lpstr>
      <vt:lpstr>think-cell Slide</vt:lpstr>
      <vt:lpstr>PowerPoint Presentation</vt:lpstr>
      <vt:lpstr>Problem Statement</vt:lpstr>
      <vt:lpstr>Release Management: Oracle’s Patch and Environment Strategy</vt:lpstr>
      <vt:lpstr>Release Management using Testing Automation</vt:lpstr>
      <vt:lpstr>Benefits: Testing Automation  </vt:lpstr>
      <vt:lpstr>Deloitte RPA Solution for Cloud ERP Functional Test Automation </vt:lpstr>
      <vt:lpstr>Testing Automation Scenarios: Process Summary </vt:lpstr>
      <vt:lpstr>Testing Automation Approach: Upgrades and Patching</vt:lpstr>
      <vt:lpstr>Testing Automation</vt:lpstr>
      <vt:lpstr>Resource &amp; Budget : Estimation Model</vt:lpstr>
      <vt:lpstr>Testing Automation : Proposed Timeline</vt:lpstr>
      <vt:lpstr>Illustrative Cost &amp; Estimation : Program Cost</vt:lpstr>
      <vt:lpstr>Continuous Deployment</vt:lpstr>
      <vt:lpstr>Continuous Support : Year-round support &amp; regular patch deployment</vt:lpstr>
      <vt:lpstr>Continuous Support : Resource deployment strategy </vt:lpstr>
      <vt:lpstr>Appendix</vt:lpstr>
      <vt:lpstr>Testing Automation Scenarios: Plan to Manufacture </vt:lpstr>
      <vt:lpstr>Testing Automation Scenarios: Order to Deliver </vt:lpstr>
      <vt:lpstr>Testing Automation Scenarios: Procure to Pay </vt:lpstr>
      <vt:lpstr>Testing Automation Scenarios: Account to Report</vt:lpstr>
      <vt:lpstr>Testing Automation Scenarios: Project to Close </vt:lpstr>
      <vt:lpstr>Oracle Cloud Change Management Information</vt:lpstr>
      <vt:lpstr>Oracle Cloud Change Management Information</vt:lpstr>
      <vt:lpstr>Comparison of Bots</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Rastogi, Nishant;Siddiquee, Naveed;Bhaumik, Pooja</dc:creator>
  <cp:lastModifiedBy>Pandey, Ashutosh (US - Mumbai)</cp:lastModifiedBy>
  <cp:revision>1072</cp:revision>
  <cp:lastPrinted>2014-06-25T02:16:22Z</cp:lastPrinted>
  <dcterms:created xsi:type="dcterms:W3CDTF">2017-11-27T05:29:10Z</dcterms:created>
  <dcterms:modified xsi:type="dcterms:W3CDTF">2018-10-03T12:36:12Z</dcterms:modified>
</cp:coreProperties>
</file>